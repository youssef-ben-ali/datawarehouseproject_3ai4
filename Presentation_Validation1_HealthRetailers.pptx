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172A"/>
                </a:solidFill>
                <a:latin typeface="Calibri"/>
              </a:rPr>
              <a:t>CA HT mensuel — réel (oct. 2024 – avr. 2025) puis synthétique (mai 2025 – sept. 2026)</a:t>
            </a:r>
          </a:p>
        </c:rich>
      </c:tx>
      <c:layout/>
      <c:overlay val="0"/>
    </c:title>
    <c:autoTitleDeleted val="0"/>
    <c:plotArea>
      <c:barChart>
        <c:barDir val="col"/>
        <c:grouping val="clustered"/>
        <c:ser>
          <c:idx val="0"/>
          <c:order val="0"/>
          <c:tx>
            <c:strRef>
              <c:f>Sheet1!$B$1</c:f>
              <c:strCache>
                <c:ptCount val="1"/>
                <c:pt idx="0">
                  <c:v>CA HT</c:v>
                </c:pt>
              </c:strCache>
            </c:strRef>
          </c:tx>
          <c:spPr>
            <a:solidFill>
              <a:srgbClr val="1E3A8A"/>
            </a:solidFill>
          </c:spPr>
          <c:dPt>
            <c:idx val="7"/>
            <c:spPr>
              <a:solidFill>
                <a:srgbClr val="A5B4FC"/>
              </a:solidFill>
            </c:spPr>
          </c:dPt>
          <c:dPt>
            <c:idx val="8"/>
            <c:spPr>
              <a:solidFill>
                <a:srgbClr val="A5B4FC"/>
              </a:solidFill>
            </c:spPr>
          </c:dPt>
          <c:dPt>
            <c:idx val="9"/>
            <c:spPr>
              <a:solidFill>
                <a:srgbClr val="A5B4FC"/>
              </a:solidFill>
            </c:spPr>
          </c:dPt>
          <c:dPt>
            <c:idx val="10"/>
            <c:spPr>
              <a:solidFill>
                <a:srgbClr val="A5B4FC"/>
              </a:solidFill>
            </c:spPr>
          </c:dPt>
          <c:dPt>
            <c:idx val="11"/>
            <c:spPr>
              <a:solidFill>
                <a:srgbClr val="A5B4FC"/>
              </a:solidFill>
            </c:spPr>
          </c:dPt>
          <c:dPt>
            <c:idx val="12"/>
            <c:spPr>
              <a:solidFill>
                <a:srgbClr val="A5B4FC"/>
              </a:solidFill>
            </c:spPr>
          </c:dPt>
          <c:dPt>
            <c:idx val="13"/>
            <c:spPr>
              <a:solidFill>
                <a:srgbClr val="A5B4FC"/>
              </a:solidFill>
            </c:spPr>
          </c:dPt>
          <c:dPt>
            <c:idx val="14"/>
            <c:spPr>
              <a:solidFill>
                <a:srgbClr val="A5B4FC"/>
              </a:solidFill>
            </c:spPr>
          </c:dPt>
          <c:dPt>
            <c:idx val="15"/>
            <c:spPr>
              <a:solidFill>
                <a:srgbClr val="A5B4FC"/>
              </a:solidFill>
            </c:spPr>
          </c:dPt>
          <c:dPt>
            <c:idx val="16"/>
            <c:spPr>
              <a:solidFill>
                <a:srgbClr val="A5B4FC"/>
              </a:solidFill>
            </c:spPr>
          </c:dPt>
          <c:dPt>
            <c:idx val="17"/>
            <c:spPr>
              <a:solidFill>
                <a:srgbClr val="A5B4FC"/>
              </a:solidFill>
            </c:spPr>
          </c:dPt>
          <c:dPt>
            <c:idx val="18"/>
            <c:spPr>
              <a:solidFill>
                <a:srgbClr val="A5B4FC"/>
              </a:solidFill>
            </c:spPr>
          </c:dPt>
          <c:dPt>
            <c:idx val="19"/>
            <c:spPr>
              <a:solidFill>
                <a:srgbClr val="A5B4FC"/>
              </a:solidFill>
            </c:spPr>
          </c:dPt>
          <c:dPt>
            <c:idx val="20"/>
            <c:spPr>
              <a:solidFill>
                <a:srgbClr val="A5B4FC"/>
              </a:solidFill>
            </c:spPr>
          </c:dPt>
          <c:dPt>
            <c:idx val="21"/>
            <c:spPr>
              <a:solidFill>
                <a:srgbClr val="A5B4FC"/>
              </a:solidFill>
            </c:spPr>
          </c:dPt>
          <c:dPt>
            <c:idx val="22"/>
            <c:spPr>
              <a:solidFill>
                <a:srgbClr val="A5B4FC"/>
              </a:solidFill>
            </c:spPr>
          </c:dPt>
          <c:dPt>
            <c:idx val="23"/>
            <c:spPr>
              <a:solidFill>
                <a:srgbClr val="A5B4FC"/>
              </a:solidFill>
            </c:spPr>
          </c:dPt>
          <c:dLbls>
            <c:dLbl>
              <c:idx val="1"/>
              <c:tx>
                <c:rich>
                  <a:bodyPr/>
                  <a:lstStyle/>
                  <a:p>
                    <a:r>
                      <a:rPr sz="1200" b="1">
                        <a:solidFill>
                          <a:srgbClr val="0F172A"/>
                        </a:solidFill>
                        <a:latin typeface="Calibri"/>
                      </a:rPr>
                      <a:t>165 k</a:t>
                    </a:r>
                  </a:p>
                </c:rich>
              </c:tx>
              <c:dLblPos val="outEnd"/>
              <c:showLegendKey val="0"/>
              <c:showVal val="1"/>
              <c:showCatName val="0"/>
              <c:showSerName val="0"/>
              <c:showPercent val="0"/>
              <c:showBubbleSize val="0"/>
            </c:dLbl>
            <c:dLbl>
              <c:idx val="5"/>
              <c:tx>
                <c:rich>
                  <a:bodyPr/>
                  <a:lstStyle/>
                  <a:p>
                    <a:r>
                      <a:rPr sz="1200" b="1">
                        <a:solidFill>
                          <a:srgbClr val="0F172A"/>
                        </a:solidFill>
                        <a:latin typeface="Calibri"/>
                      </a:rPr>
                      <a:t>112 k</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Sheet1!$A$2:$A$25</c:f>
              <c:strCache>
                <c:ptCount val="24"/>
                <c:pt idx="0">
                  <c:v>oct. 24</c:v>
                </c:pt>
                <c:pt idx="1">
                  <c:v>nov. 24</c:v>
                </c:pt>
                <c:pt idx="2">
                  <c:v>déc. 24</c:v>
                </c:pt>
                <c:pt idx="3">
                  <c:v>janv. 25</c:v>
                </c:pt>
                <c:pt idx="4">
                  <c:v>févr. 25</c:v>
                </c:pt>
                <c:pt idx="5">
                  <c:v>mars 25</c:v>
                </c:pt>
                <c:pt idx="6">
                  <c:v>avr. 25</c:v>
                </c:pt>
                <c:pt idx="7">
                  <c:v>mai 25</c:v>
                </c:pt>
                <c:pt idx="8">
                  <c:v>juin 25</c:v>
                </c:pt>
                <c:pt idx="9">
                  <c:v>juil. 25</c:v>
                </c:pt>
                <c:pt idx="10">
                  <c:v>août 25</c:v>
                </c:pt>
                <c:pt idx="11">
                  <c:v>sept. 25</c:v>
                </c:pt>
                <c:pt idx="12">
                  <c:v>oct. 25</c:v>
                </c:pt>
                <c:pt idx="13">
                  <c:v>nov. 25</c:v>
                </c:pt>
                <c:pt idx="14">
                  <c:v>déc. 25</c:v>
                </c:pt>
                <c:pt idx="15">
                  <c:v>janv. 26</c:v>
                </c:pt>
                <c:pt idx="16">
                  <c:v>févr. 26</c:v>
                </c:pt>
                <c:pt idx="17">
                  <c:v>mars 26</c:v>
                </c:pt>
                <c:pt idx="18">
                  <c:v>avr. 26</c:v>
                </c:pt>
                <c:pt idx="19">
                  <c:v>mai 26</c:v>
                </c:pt>
                <c:pt idx="20">
                  <c:v>juin 26</c:v>
                </c:pt>
                <c:pt idx="21">
                  <c:v>juil. 26</c:v>
                </c:pt>
                <c:pt idx="22">
                  <c:v>août 26</c:v>
                </c:pt>
                <c:pt idx="23">
                  <c:v>sept. 26</c:v>
                </c:pt>
              </c:strCache>
            </c:strRef>
          </c:cat>
          <c:val>
            <c:numRef>
              <c:f>Sheet1!$B$2:$B$25</c:f>
              <c:numCache>
                <c:formatCode>General</c:formatCode>
                <c:ptCount val="24"/>
                <c:pt idx="0">
                  <c:v>150417</c:v>
                </c:pt>
                <c:pt idx="1">
                  <c:v>165020</c:v>
                </c:pt>
                <c:pt idx="2">
                  <c:v>129410</c:v>
                </c:pt>
                <c:pt idx="3">
                  <c:v>154498</c:v>
                </c:pt>
                <c:pt idx="4">
                  <c:v>139119</c:v>
                </c:pt>
                <c:pt idx="5">
                  <c:v>112020</c:v>
                </c:pt>
                <c:pt idx="6">
                  <c:v>163752</c:v>
                </c:pt>
                <c:pt idx="7">
                  <c:v>142015</c:v>
                </c:pt>
                <c:pt idx="8">
                  <c:v>165525</c:v>
                </c:pt>
                <c:pt idx="9">
                  <c:v>188170</c:v>
                </c:pt>
                <c:pt idx="10">
                  <c:v>153467</c:v>
                </c:pt>
                <c:pt idx="11">
                  <c:v>157576</c:v>
                </c:pt>
                <c:pt idx="12">
                  <c:v>148886</c:v>
                </c:pt>
                <c:pt idx="13">
                  <c:v>149159</c:v>
                </c:pt>
                <c:pt idx="14">
                  <c:v>136150</c:v>
                </c:pt>
                <c:pt idx="15">
                  <c:v>168117</c:v>
                </c:pt>
                <c:pt idx="16">
                  <c:v>146876</c:v>
                </c:pt>
                <c:pt idx="17">
                  <c:v>169207</c:v>
                </c:pt>
                <c:pt idx="18">
                  <c:v>191807</c:v>
                </c:pt>
                <c:pt idx="19">
                  <c:v>150049</c:v>
                </c:pt>
                <c:pt idx="20">
                  <c:v>197799</c:v>
                </c:pt>
                <c:pt idx="21">
                  <c:v>213178</c:v>
                </c:pt>
                <c:pt idx="22">
                  <c:v>148946</c:v>
                </c:pt>
                <c:pt idx="23">
                  <c:v>185207</c:v>
                </c:pt>
              </c:numCache>
            </c:numRef>
          </c:val>
        </c:ser>
        <c:gapWidth val="7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200">
                <a:solidFill>
                  <a:srgbClr val="0F172A"/>
                </a:solidFil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 sourceLinked="0"/>
        <c:majorTickMark val="out"/>
        <c:minorTickMark val="none"/>
        <c:tickLblPos val="nextTo"/>
        <c:spPr>
          <a:ln>
            <a:noFill/>
          </a:ln>
        </c:spPr>
        <c:txPr>
          <a:bodyPr/>
          <a:lstStyle/>
          <a:p>
            <a:pPr>
              <a:defRPr sz="1100">
                <a:solidFill>
                  <a:srgbClr val="47556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l'équipe et le sujet : le projet Health Retailers consiste à construire une plateforme décisionnelle (Data Warehouse, BI et Machine Learning) à partir des données transactionnelles réelles d'un drugstore. Annoncer le plan en 4 points demandés pour cette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Suivre exactement les 4 points demandés, puis conclure sur les limites identifiées et les prochaines étapes. Durée visée : 15 à 18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Contexte : transformation digitale du secteur santé &amp; bien-être. Le drugstore enregistre chaque jour ses ventes, achats, stocks et paiements dans un logiciel de gestion. Nous disposons d'un export de 29 fichiers CSV (~370 256 enregistrements) couvrant 7 mois, que nous avons prolongé à 2 ans par des données synthétiques documentées. Ces données ne sont aujourd'hui pas exploitées pour piloter l'activité.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Premier regard sur l'activité, calculé à partir de notre Data Warehouse. En bleu foncé les 7 mois réels, en clair la prolongation synthétique. Le CA mensuel réel est assez stable avec un creux en mars. La vente comptoir domine et la grande majorité des transactions concernent un client anonyme : cela limite l'analyse client, ce qui a guidé nos choix d'objectifs.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profilage des 29 fichiers a révélé quatre familles de problèmes. Insister sur le double comptage factures / bons de livraison : sans traitement, le CA serait surestimé. Conclure par la question à laquelle le projet répond.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Démarche du cahier de spécification : partir des décideurs et de leurs questions, pas des tables. Chaque question sera reliée à un KPI, une formule et une source de données.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de haut en bas : un objectif global, décliné en cinq sous-objectifs métier, chacun relié à un objectif technique de visualisation (BI, en vert) et, quand c'est pertinent, de Machine Learning (en violet). La performance commerciale est entièrement couverte par la BI.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chaque sous-objectif : les KPI du tableau de bord et le cas ML avec son type de problème et sa cible. Les formules des KPI viennent du cahier de spécification (§6 et §12).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cahier de spécification a fixé les besoins. Nous avons profilé chaque fichier, puis nettoyé les données avec un script Python reproductible, construit le Data Warehouse et les jeux de données ML. Principe directeur : une donnée n'est intégrée que si elle répond à une question métier.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Exemples concrets du nettoyage. Le point clé pour la BI : les 24 factures qui refacturent des bons de livraison sont exclues, sinon le CA est compté deux fois. Toutes les règles sont documentées dans un rapport de nettoyage et un fichier de contrôles qualité.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Démarche Kimball : on part du besoin du décideur, on définit le KPI et sa formule, puis la granularité, les dimensions et les faits. L'ETL est en Python, le chargement dans PostgreSQL (script SQL généré), la restitution dans Power BI avec cinq tableaux de bord.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Démarche commune : préparation d'un jeu de données dédié (variables X_ séparées de la cible Y_), modèle de référence simple, puis modèles plus avancés, évaluation adaptée au type de problème. Premier signal, mesuré sur la seule période réelle comme l'exige le cahier : les ventes de compléments alimentaires sont corrélées à la température et à la grippe. À confirmer par la comparaison du modèle avec et sans ces variables.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tables de faits (ventes, stock actuel, paiements) partagent quatre dimensions conformes (temps, produit, client, paiement) : une constellation réduite au strict besoin du cahier. Chaque trait relie une clé étrangère (N) à la clé primaire d'une dimension (1). Toutes les clés étrangères ont été vérifiées : 100 % retrouvent leur dimension.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table de faits des ventes et ses trois dimensions. Le grain est une ligne de produit vendue dans un document à une date. Les mesures sont additives et signées. Les clés étrangères pointent chacune vers la clé primaire d'une dimension (relation N vers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table centrale est fait_ventes, au grain d'une ligne de produit vendue dans un document à une date (granularité recommandée par le cahier). Les mesures sont signées : les retours et avoirs viennent en négatif, ce qui permet de simplement additionner. Les indicateurs dérivés (marge, rupture, stock faible, montant encaissé) sont des mesures Power BI, pas des colonnes.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dimension a une clé primaire simple et seulement les attributs exigés par le cahier. Le calendrier français est calculé ; la météo et les épidémies restent hors du Data Warehouse (jeu ML de prévision). Des membres -1 « non renseigné » garantissent que chaque clé étrangère retrouve sa dimension.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décisions de modélisation à défendre devant le jury, et comment nous avons vérifié le modèle.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Être transparents sur les limites : historique court, localisation du magasin à confirmer, et deux chiffres du cahier que les données ne confirment pas. Puis présenter le plan pour la suite du projet.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Remercier le jury et ouvrir les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70916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371600"/>
            <a:ext cx="10515600" cy="457200"/>
          </a:xfrm>
          <a:prstGeom prst="rect">
            <a:avLst/>
          </a:prstGeom>
          <a:noFill/>
        </p:spPr>
        <p:txBody>
          <a:bodyPr wrap="square" anchor="t" lIns="45720" rIns="45720">
            <a:spAutoFit/>
          </a:bodyPr>
          <a:lstStyle/>
          <a:p>
            <a:pPr algn="l">
              <a:spcAft>
                <a:spcPts val="600"/>
              </a:spcAft>
            </a:pPr>
            <a:r>
              <a:rPr sz="1600" b="1">
                <a:solidFill>
                  <a:srgbClr val="99F6E4"/>
                </a:solidFill>
                <a:latin typeface="Calibri"/>
              </a:rPr>
              <a:t>PROJET DATA ENGINEERING · CLASSE 3IA</a:t>
            </a:r>
          </a:p>
        </p:txBody>
      </p:sp>
      <p:sp>
        <p:nvSpPr>
          <p:cNvPr id="5" name="TextBox 4"/>
          <p:cNvSpPr txBox="1"/>
          <p:nvPr/>
        </p:nvSpPr>
        <p:spPr>
          <a:xfrm>
            <a:off x="822960" y="1874519"/>
            <a:ext cx="10515600" cy="1097280"/>
          </a:xfrm>
          <a:prstGeom prst="rect">
            <a:avLst/>
          </a:prstGeom>
          <a:noFill/>
        </p:spPr>
        <p:txBody>
          <a:bodyPr wrap="square" anchor="t" lIns="45720" rIns="45720">
            <a:spAutoFit/>
          </a:bodyPr>
          <a:lstStyle/>
          <a:p>
            <a:pPr algn="l">
              <a:spcAft>
                <a:spcPts val="600"/>
              </a:spcAft>
            </a:pPr>
            <a:r>
              <a:rPr sz="6000" b="1">
                <a:solidFill>
                  <a:srgbClr val="FFFFFF"/>
                </a:solidFill>
                <a:latin typeface="Calibri"/>
              </a:rPr>
              <a:t>Health Retailers</a:t>
            </a:r>
          </a:p>
        </p:txBody>
      </p:sp>
      <p:sp>
        <p:nvSpPr>
          <p:cNvPr id="6" name="TextBox 5"/>
          <p:cNvSpPr txBox="1"/>
          <p:nvPr/>
        </p:nvSpPr>
        <p:spPr>
          <a:xfrm>
            <a:off x="822960" y="3017520"/>
            <a:ext cx="10515600" cy="914400"/>
          </a:xfrm>
          <a:prstGeom prst="rect">
            <a:avLst/>
          </a:prstGeom>
          <a:noFill/>
        </p:spPr>
        <p:txBody>
          <a:bodyPr wrap="square" anchor="t" lIns="45720" rIns="45720">
            <a:spAutoFit/>
          </a:bodyPr>
          <a:lstStyle/>
          <a:p>
            <a:pPr algn="l">
              <a:spcAft>
                <a:spcPts val="600"/>
              </a:spcAft>
            </a:pPr>
            <a:r>
              <a:rPr sz="2600" b="0">
                <a:solidFill>
                  <a:srgbClr val="E0E7FF"/>
                </a:solidFill>
                <a:latin typeface="Calibri"/>
              </a:rPr>
              <a:t>Plateforme décisionnelle BI &amp; Machine Learning pour un drugstore</a:t>
            </a:r>
          </a:p>
        </p:txBody>
      </p:sp>
      <p:sp>
        <p:nvSpPr>
          <p:cNvPr id="7" name="TextBox 6"/>
          <p:cNvSpPr txBox="1"/>
          <p:nvPr/>
        </p:nvSpPr>
        <p:spPr>
          <a:xfrm>
            <a:off x="822960" y="5029200"/>
            <a:ext cx="10515600" cy="457200"/>
          </a:xfrm>
          <a:prstGeom prst="rect">
            <a:avLst/>
          </a:prstGeom>
          <a:noFill/>
        </p:spPr>
        <p:txBody>
          <a:bodyPr wrap="square" anchor="t" lIns="45720" rIns="45720">
            <a:spAutoFit/>
          </a:bodyPr>
          <a:lstStyle/>
          <a:p>
            <a:pPr algn="l">
              <a:spcAft>
                <a:spcPts val="600"/>
              </a:spcAft>
            </a:pPr>
            <a:r>
              <a:rPr sz="1800" b="1">
                <a:solidFill>
                  <a:srgbClr val="FFFFFF"/>
                </a:solidFill>
                <a:latin typeface="Calibri"/>
              </a:rPr>
              <a:t>Première validation du projet — modèle révisé (version B)</a:t>
            </a:r>
          </a:p>
        </p:txBody>
      </p:sp>
      <p:sp>
        <p:nvSpPr>
          <p:cNvPr id="8" name="TextBox 7"/>
          <p:cNvSpPr txBox="1"/>
          <p:nvPr/>
        </p:nvSpPr>
        <p:spPr>
          <a:xfrm>
            <a:off x="822960" y="5486400"/>
            <a:ext cx="10515600" cy="457200"/>
          </a:xfrm>
          <a:prstGeom prst="rect">
            <a:avLst/>
          </a:prstGeom>
          <a:noFill/>
        </p:spPr>
        <p:txBody>
          <a:bodyPr wrap="square" anchor="t" lIns="45720" rIns="45720">
            <a:spAutoFit/>
          </a:bodyPr>
          <a:lstStyle/>
          <a:p>
            <a:pPr algn="l">
              <a:spcAft>
                <a:spcPts val="600"/>
              </a:spcAft>
            </a:pPr>
            <a:r>
              <a:rPr sz="1600" b="0">
                <a:solidFill>
                  <a:srgbClr val="CBD5E1"/>
                </a:solidFill>
                <a:latin typeface="Calibri"/>
              </a:rPr>
              <a:t>Équipe : [Nom du groupe] — [Membre 1], [Membre 2], [Membre 3], [Membre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Plan de la présentation</a:t>
            </a:r>
          </a:p>
        </p:txBody>
      </p:sp>
      <p:sp>
        <p:nvSpPr>
          <p:cNvPr id="4" name="TextBox 3"/>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5" name="TextBox 4"/>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2</a:t>
            </a:r>
          </a:p>
        </p:txBody>
      </p:sp>
      <p:sp>
        <p:nvSpPr>
          <p:cNvPr id="6" name="Rounded Rectangle 5"/>
          <p:cNvSpPr/>
          <p:nvPr/>
        </p:nvSpPr>
        <p:spPr>
          <a:xfrm>
            <a:off x="822960" y="1508760"/>
            <a:ext cx="731520" cy="73152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1545336"/>
            <a:ext cx="512064" cy="658368"/>
          </a:xfrm>
          <a:prstGeom prst="rect">
            <a:avLst/>
          </a:prstGeom>
          <a:noFill/>
        </p:spPr>
        <p:txBody>
          <a:bodyPr wrap="square" anchor="ctr" lIns="45720" rIns="45720">
            <a:spAutoFit/>
          </a:bodyPr>
          <a:lstStyle/>
          <a:p>
            <a:pPr algn="ctr">
              <a:spcAft>
                <a:spcPts val="300"/>
              </a:spcAft>
            </a:pPr>
            <a:r>
              <a:rPr sz="2600" b="1">
                <a:solidFill>
                  <a:srgbClr val="FFFFFF"/>
                </a:solidFill>
                <a:latin typeface="Calibri"/>
              </a:rPr>
              <a:t>1</a:t>
            </a:r>
          </a:p>
        </p:txBody>
      </p:sp>
      <p:sp>
        <p:nvSpPr>
          <p:cNvPr id="8" name="TextBox 7"/>
          <p:cNvSpPr txBox="1"/>
          <p:nvPr/>
        </p:nvSpPr>
        <p:spPr>
          <a:xfrm>
            <a:off x="1783080" y="1527048"/>
            <a:ext cx="9144000" cy="411480"/>
          </a:xfrm>
          <a:prstGeom prst="rect">
            <a:avLst/>
          </a:prstGeom>
          <a:noFill/>
        </p:spPr>
        <p:txBody>
          <a:bodyPr wrap="square" anchor="t" lIns="45720" rIns="45720">
            <a:spAutoFit/>
          </a:bodyPr>
          <a:lstStyle/>
          <a:p>
            <a:pPr algn="l">
              <a:spcAft>
                <a:spcPts val="600"/>
              </a:spcAft>
            </a:pPr>
            <a:r>
              <a:rPr sz="2200" b="1">
                <a:solidFill>
                  <a:srgbClr val="0F172A"/>
                </a:solidFill>
                <a:latin typeface="Calibri"/>
              </a:rPr>
              <a:t>Business Understanding</a:t>
            </a:r>
          </a:p>
        </p:txBody>
      </p:sp>
      <p:sp>
        <p:nvSpPr>
          <p:cNvPr id="9" name="TextBox 8"/>
          <p:cNvSpPr txBox="1"/>
          <p:nvPr/>
        </p:nvSpPr>
        <p:spPr>
          <a:xfrm>
            <a:off x="1783080" y="1920240"/>
            <a:ext cx="9144000" cy="365760"/>
          </a:xfrm>
          <a:prstGeom prst="rect">
            <a:avLst/>
          </a:prstGeom>
          <a:noFill/>
        </p:spPr>
        <p:txBody>
          <a:bodyPr wrap="square" anchor="t" lIns="45720" rIns="45720">
            <a:spAutoFit/>
          </a:bodyPr>
          <a:lstStyle/>
          <a:p>
            <a:pPr algn="l">
              <a:spcAft>
                <a:spcPts val="600"/>
              </a:spcAft>
            </a:pPr>
            <a:r>
              <a:rPr sz="1500" b="0">
                <a:solidFill>
                  <a:srgbClr val="475569"/>
                </a:solidFill>
                <a:latin typeface="Calibri"/>
              </a:rPr>
              <a:t>Contexte métier, données disponibles et problématique</a:t>
            </a:r>
          </a:p>
        </p:txBody>
      </p:sp>
      <p:sp>
        <p:nvSpPr>
          <p:cNvPr id="10" name="Rounded Rectangle 9"/>
          <p:cNvSpPr/>
          <p:nvPr/>
        </p:nvSpPr>
        <p:spPr>
          <a:xfrm>
            <a:off x="822960" y="2441448"/>
            <a:ext cx="731520" cy="73152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478024"/>
            <a:ext cx="512064" cy="658368"/>
          </a:xfrm>
          <a:prstGeom prst="rect">
            <a:avLst/>
          </a:prstGeom>
          <a:noFill/>
        </p:spPr>
        <p:txBody>
          <a:bodyPr wrap="square" anchor="ctr" lIns="45720" rIns="45720">
            <a:spAutoFit/>
          </a:bodyPr>
          <a:lstStyle/>
          <a:p>
            <a:pPr algn="ctr">
              <a:spcAft>
                <a:spcPts val="300"/>
              </a:spcAft>
            </a:pPr>
            <a:r>
              <a:rPr sz="2600" b="1">
                <a:solidFill>
                  <a:srgbClr val="FFFFFF"/>
                </a:solidFill>
                <a:latin typeface="Calibri"/>
              </a:rPr>
              <a:t>2</a:t>
            </a:r>
          </a:p>
        </p:txBody>
      </p:sp>
      <p:sp>
        <p:nvSpPr>
          <p:cNvPr id="12" name="TextBox 11"/>
          <p:cNvSpPr txBox="1"/>
          <p:nvPr/>
        </p:nvSpPr>
        <p:spPr>
          <a:xfrm>
            <a:off x="1783080" y="2459736"/>
            <a:ext cx="9144000" cy="411480"/>
          </a:xfrm>
          <a:prstGeom prst="rect">
            <a:avLst/>
          </a:prstGeom>
          <a:noFill/>
        </p:spPr>
        <p:txBody>
          <a:bodyPr wrap="square" anchor="t" lIns="45720" rIns="45720">
            <a:spAutoFit/>
          </a:bodyPr>
          <a:lstStyle/>
          <a:p>
            <a:pPr algn="l">
              <a:spcAft>
                <a:spcPts val="600"/>
              </a:spcAft>
            </a:pPr>
            <a:r>
              <a:rPr sz="2200" b="1">
                <a:solidFill>
                  <a:srgbClr val="0F172A"/>
                </a:solidFill>
                <a:latin typeface="Calibri"/>
              </a:rPr>
              <a:t>Objectifs du projet</a:t>
            </a:r>
          </a:p>
        </p:txBody>
      </p:sp>
      <p:sp>
        <p:nvSpPr>
          <p:cNvPr id="13" name="TextBox 12"/>
          <p:cNvSpPr txBox="1"/>
          <p:nvPr/>
        </p:nvSpPr>
        <p:spPr>
          <a:xfrm>
            <a:off x="1783080" y="2852928"/>
            <a:ext cx="9144000" cy="365760"/>
          </a:xfrm>
          <a:prstGeom prst="rect">
            <a:avLst/>
          </a:prstGeom>
          <a:noFill/>
        </p:spPr>
        <p:txBody>
          <a:bodyPr wrap="square" anchor="t" lIns="45720" rIns="45720">
            <a:spAutoFit/>
          </a:bodyPr>
          <a:lstStyle/>
          <a:p>
            <a:pPr algn="l">
              <a:spcAft>
                <a:spcPts val="600"/>
              </a:spcAft>
            </a:pPr>
            <a:r>
              <a:rPr sz="1500" b="0">
                <a:solidFill>
                  <a:srgbClr val="475569"/>
                </a:solidFill>
                <a:latin typeface="Calibri"/>
              </a:rPr>
              <a:t>Objectif global → sous-objectifs métier → objectifs techniques BI / ML</a:t>
            </a:r>
          </a:p>
        </p:txBody>
      </p:sp>
      <p:sp>
        <p:nvSpPr>
          <p:cNvPr id="14" name="Rounded Rectangle 13"/>
          <p:cNvSpPr/>
          <p:nvPr/>
        </p:nvSpPr>
        <p:spPr>
          <a:xfrm>
            <a:off x="822960" y="3374136"/>
            <a:ext cx="731520" cy="73152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410712"/>
            <a:ext cx="512064" cy="658368"/>
          </a:xfrm>
          <a:prstGeom prst="rect">
            <a:avLst/>
          </a:prstGeom>
          <a:noFill/>
        </p:spPr>
        <p:txBody>
          <a:bodyPr wrap="square" anchor="ctr" lIns="45720" rIns="45720">
            <a:spAutoFit/>
          </a:bodyPr>
          <a:lstStyle/>
          <a:p>
            <a:pPr algn="ctr">
              <a:spcAft>
                <a:spcPts val="300"/>
              </a:spcAft>
            </a:pPr>
            <a:r>
              <a:rPr sz="2600" b="1">
                <a:solidFill>
                  <a:srgbClr val="FFFFFF"/>
                </a:solidFill>
                <a:latin typeface="Calibri"/>
              </a:rPr>
              <a:t>3</a:t>
            </a:r>
          </a:p>
        </p:txBody>
      </p:sp>
      <p:sp>
        <p:nvSpPr>
          <p:cNvPr id="16" name="TextBox 15"/>
          <p:cNvSpPr txBox="1"/>
          <p:nvPr/>
        </p:nvSpPr>
        <p:spPr>
          <a:xfrm>
            <a:off x="1783080" y="3392424"/>
            <a:ext cx="9144000" cy="411480"/>
          </a:xfrm>
          <a:prstGeom prst="rect">
            <a:avLst/>
          </a:prstGeom>
          <a:noFill/>
        </p:spPr>
        <p:txBody>
          <a:bodyPr wrap="square" anchor="t" lIns="45720" rIns="45720">
            <a:spAutoFit/>
          </a:bodyPr>
          <a:lstStyle/>
          <a:p>
            <a:pPr algn="l">
              <a:spcAft>
                <a:spcPts val="600"/>
              </a:spcAft>
            </a:pPr>
            <a:r>
              <a:rPr sz="2200" b="1">
                <a:solidFill>
                  <a:srgbClr val="0F172A"/>
                </a:solidFill>
                <a:latin typeface="Calibri"/>
              </a:rPr>
              <a:t>Méthodologie de travail</a:t>
            </a:r>
          </a:p>
        </p:txBody>
      </p:sp>
      <p:sp>
        <p:nvSpPr>
          <p:cNvPr id="17" name="TextBox 16"/>
          <p:cNvSpPr txBox="1"/>
          <p:nvPr/>
        </p:nvSpPr>
        <p:spPr>
          <a:xfrm>
            <a:off x="1783080" y="3785615"/>
            <a:ext cx="9144000" cy="365760"/>
          </a:xfrm>
          <a:prstGeom prst="rect">
            <a:avLst/>
          </a:prstGeom>
          <a:noFill/>
        </p:spPr>
        <p:txBody>
          <a:bodyPr wrap="square" anchor="t" lIns="45720" rIns="45720">
            <a:spAutoFit/>
          </a:bodyPr>
          <a:lstStyle/>
          <a:p>
            <a:pPr algn="l">
              <a:spcAft>
                <a:spcPts val="600"/>
              </a:spcAft>
            </a:pPr>
            <a:r>
              <a:rPr sz="1500" b="0">
                <a:solidFill>
                  <a:srgbClr val="475569"/>
                </a:solidFill>
                <a:latin typeface="Calibri"/>
              </a:rPr>
              <a:t>Démarche adoptée pour la préparation des données, la BI et le ML</a:t>
            </a:r>
          </a:p>
        </p:txBody>
      </p:sp>
      <p:sp>
        <p:nvSpPr>
          <p:cNvPr id="18" name="Rounded Rectangle 17"/>
          <p:cNvSpPr/>
          <p:nvPr/>
        </p:nvSpPr>
        <p:spPr>
          <a:xfrm>
            <a:off x="822960" y="4306824"/>
            <a:ext cx="731520" cy="73152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43400"/>
            <a:ext cx="512064" cy="658368"/>
          </a:xfrm>
          <a:prstGeom prst="rect">
            <a:avLst/>
          </a:prstGeom>
          <a:noFill/>
        </p:spPr>
        <p:txBody>
          <a:bodyPr wrap="square" anchor="ctr" lIns="45720" rIns="45720">
            <a:spAutoFit/>
          </a:bodyPr>
          <a:lstStyle/>
          <a:p>
            <a:pPr algn="ctr">
              <a:spcAft>
                <a:spcPts val="300"/>
              </a:spcAft>
            </a:pPr>
            <a:r>
              <a:rPr sz="2600" b="1">
                <a:solidFill>
                  <a:srgbClr val="FFFFFF"/>
                </a:solidFill>
                <a:latin typeface="Calibri"/>
              </a:rPr>
              <a:t>4</a:t>
            </a:r>
          </a:p>
        </p:txBody>
      </p:sp>
      <p:sp>
        <p:nvSpPr>
          <p:cNvPr id="20" name="TextBox 19"/>
          <p:cNvSpPr txBox="1"/>
          <p:nvPr/>
        </p:nvSpPr>
        <p:spPr>
          <a:xfrm>
            <a:off x="1783080" y="4325112"/>
            <a:ext cx="9144000" cy="411480"/>
          </a:xfrm>
          <a:prstGeom prst="rect">
            <a:avLst/>
          </a:prstGeom>
          <a:noFill/>
        </p:spPr>
        <p:txBody>
          <a:bodyPr wrap="square" anchor="t" lIns="45720" rIns="45720">
            <a:spAutoFit/>
          </a:bodyPr>
          <a:lstStyle/>
          <a:p>
            <a:pPr algn="l">
              <a:spcAft>
                <a:spcPts val="600"/>
              </a:spcAft>
            </a:pPr>
            <a:r>
              <a:rPr sz="2200" b="1">
                <a:solidFill>
                  <a:srgbClr val="0F172A"/>
                </a:solidFill>
                <a:latin typeface="Calibri"/>
              </a:rPr>
              <a:t>Modèle du Data Warehouse</a:t>
            </a:r>
          </a:p>
        </p:txBody>
      </p:sp>
      <p:sp>
        <p:nvSpPr>
          <p:cNvPr id="21" name="TextBox 20"/>
          <p:cNvSpPr txBox="1"/>
          <p:nvPr/>
        </p:nvSpPr>
        <p:spPr>
          <a:xfrm>
            <a:off x="1783080" y="4718304"/>
            <a:ext cx="9144000" cy="365760"/>
          </a:xfrm>
          <a:prstGeom prst="rect">
            <a:avLst/>
          </a:prstGeom>
          <a:noFill/>
        </p:spPr>
        <p:txBody>
          <a:bodyPr wrap="square" anchor="t" lIns="45720" rIns="45720">
            <a:spAutoFit/>
          </a:bodyPr>
          <a:lstStyle/>
          <a:p>
            <a:pPr algn="l">
              <a:spcAft>
                <a:spcPts val="600"/>
              </a:spcAft>
            </a:pPr>
            <a:r>
              <a:rPr sz="1500" b="0">
                <a:solidFill>
                  <a:srgbClr val="475569"/>
                </a:solidFill>
                <a:latin typeface="Calibri"/>
              </a:rPr>
              <a:t>Tables de faits, dimensions et mesures</a:t>
            </a:r>
          </a:p>
        </p:txBody>
      </p:sp>
      <p:sp>
        <p:nvSpPr>
          <p:cNvPr id="22" name="Rounded Rectangle 21"/>
          <p:cNvSpPr/>
          <p:nvPr/>
        </p:nvSpPr>
        <p:spPr>
          <a:xfrm>
            <a:off x="822960" y="5239512"/>
            <a:ext cx="731520" cy="731520"/>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276088"/>
            <a:ext cx="512064" cy="658368"/>
          </a:xfrm>
          <a:prstGeom prst="rect">
            <a:avLst/>
          </a:prstGeom>
          <a:noFill/>
        </p:spPr>
        <p:txBody>
          <a:bodyPr wrap="square" anchor="ctr" lIns="45720" rIns="45720">
            <a:spAutoFit/>
          </a:bodyPr>
          <a:lstStyle/>
          <a:p>
            <a:pPr algn="ctr">
              <a:spcAft>
                <a:spcPts val="300"/>
              </a:spcAft>
            </a:pPr>
            <a:r>
              <a:rPr sz="2600" b="1">
                <a:solidFill>
                  <a:srgbClr val="FFFFFF"/>
                </a:solidFill>
                <a:latin typeface="Calibri"/>
              </a:rPr>
              <a:t>5</a:t>
            </a:r>
          </a:p>
        </p:txBody>
      </p:sp>
      <p:sp>
        <p:nvSpPr>
          <p:cNvPr id="24" name="TextBox 23"/>
          <p:cNvSpPr txBox="1"/>
          <p:nvPr/>
        </p:nvSpPr>
        <p:spPr>
          <a:xfrm>
            <a:off x="1783080" y="5257800"/>
            <a:ext cx="9144000" cy="411480"/>
          </a:xfrm>
          <a:prstGeom prst="rect">
            <a:avLst/>
          </a:prstGeom>
          <a:noFill/>
        </p:spPr>
        <p:txBody>
          <a:bodyPr wrap="square" anchor="t" lIns="45720" rIns="45720">
            <a:spAutoFit/>
          </a:bodyPr>
          <a:lstStyle/>
          <a:p>
            <a:pPr algn="l">
              <a:spcAft>
                <a:spcPts val="600"/>
              </a:spcAft>
            </a:pPr>
            <a:r>
              <a:rPr sz="2200" b="1">
                <a:solidFill>
                  <a:srgbClr val="0F172A"/>
                </a:solidFill>
                <a:latin typeface="Calibri"/>
              </a:rPr>
              <a:t>Limites et prochaines étapes</a:t>
            </a:r>
          </a:p>
        </p:txBody>
      </p:sp>
      <p:sp>
        <p:nvSpPr>
          <p:cNvPr id="25" name="TextBox 24"/>
          <p:cNvSpPr txBox="1"/>
          <p:nvPr/>
        </p:nvSpPr>
        <p:spPr>
          <a:xfrm>
            <a:off x="1783080" y="5650992"/>
            <a:ext cx="9144000" cy="365760"/>
          </a:xfrm>
          <a:prstGeom prst="rect">
            <a:avLst/>
          </a:prstGeom>
          <a:noFill/>
        </p:spPr>
        <p:txBody>
          <a:bodyPr wrap="square" anchor="t" lIns="45720" rIns="45720">
            <a:spAutoFit/>
          </a:bodyPr>
          <a:lstStyle/>
          <a:p>
            <a:pPr algn="l">
              <a:spcAft>
                <a:spcPts val="600"/>
              </a:spcAft>
            </a:pPr>
            <a:r>
              <a:rPr sz="1500" b="0">
                <a:solidFill>
                  <a:srgbClr val="475569"/>
                </a:solidFill>
                <a:latin typeface="Calibri"/>
              </a:rPr>
              <a:t>Ce qui reste à valider et à réaliser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1 · BUSINESS UNDERSTANDING</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Un drugstore qui produit beaucoup de données… peu exploitées</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3</a:t>
            </a:r>
          </a:p>
        </p:txBody>
      </p:sp>
      <p:sp>
        <p:nvSpPr>
          <p:cNvPr id="7" name="TextBox 6"/>
          <p:cNvSpPr txBox="1"/>
          <p:nvPr/>
        </p:nvSpPr>
        <p:spPr>
          <a:xfrm>
            <a:off x="502920" y="1417320"/>
            <a:ext cx="6035040" cy="4480560"/>
          </a:xfrm>
          <a:prstGeom prst="rect">
            <a:avLst/>
          </a:prstGeom>
          <a:noFill/>
        </p:spPr>
        <p:txBody>
          <a:bodyPr wrap="square" anchor="t" lIns="45720" rIns="45720">
            <a:spAutoFit/>
          </a:bodyPr>
          <a:lstStyle/>
          <a:p>
            <a:pPr algn="l">
              <a:spcAft>
                <a:spcPts val="1000"/>
              </a:spcAft>
            </a:pPr>
            <a:r>
              <a:rPr sz="1400">
                <a:solidFill>
                  <a:srgbClr val="1E3A8A"/>
                </a:solidFill>
                <a:latin typeface="Calibri"/>
              </a:rPr>
              <a:t>▪  </a:t>
            </a:r>
            <a:r>
              <a:rPr sz="1600" b="1">
                <a:solidFill>
                  <a:srgbClr val="0F172A"/>
                </a:solidFill>
                <a:latin typeface="Calibri"/>
              </a:rPr>
              <a:t>Activité :</a:t>
            </a:r>
            <a:r>
              <a:rPr sz="1600" b="0">
                <a:solidFill>
                  <a:srgbClr val="0F172A"/>
                </a:solidFill>
                <a:latin typeface="Calibri"/>
              </a:rPr>
              <a:t> drugstore / parapharmacie situé en France – hygiène, beauté, compléments alimentaires, accessoires.</a:t>
            </a:r>
          </a:p>
          <a:p>
            <a:pPr algn="l">
              <a:spcAft>
                <a:spcPts val="1000"/>
              </a:spcAft>
            </a:pPr>
            <a:r>
              <a:rPr sz="1400">
                <a:solidFill>
                  <a:srgbClr val="1E3A8A"/>
                </a:solidFill>
                <a:latin typeface="Calibri"/>
              </a:rPr>
              <a:t>▪  </a:t>
            </a:r>
            <a:r>
              <a:rPr sz="1600" b="1">
                <a:solidFill>
                  <a:srgbClr val="0F172A"/>
                </a:solidFill>
                <a:latin typeface="Calibri"/>
              </a:rPr>
              <a:t>Système opérationnel :</a:t>
            </a:r>
            <a:r>
              <a:rPr sz="1600" b="0">
                <a:solidFill>
                  <a:srgbClr val="0F172A"/>
                </a:solidFill>
                <a:latin typeface="Calibri"/>
              </a:rPr>
              <a:t> un logiciel de caisse et de gestion enregistre ventes comptoir, factures clients, achats fournisseurs, paiements, caisses et mouvements de stock.</a:t>
            </a:r>
          </a:p>
          <a:p>
            <a:pPr algn="l">
              <a:spcAft>
                <a:spcPts val="1000"/>
              </a:spcAft>
            </a:pPr>
            <a:r>
              <a:rPr sz="1400">
                <a:solidFill>
                  <a:srgbClr val="1E3A8A"/>
                </a:solidFill>
                <a:latin typeface="Calibri"/>
              </a:rPr>
              <a:t>▪  </a:t>
            </a:r>
            <a:r>
              <a:rPr sz="1600" b="1">
                <a:solidFill>
                  <a:srgbClr val="0F172A"/>
                </a:solidFill>
                <a:latin typeface="Calibri"/>
              </a:rPr>
              <a:t>Enjeu du secteur :</a:t>
            </a:r>
            <a:r>
              <a:rPr sz="1600" b="0">
                <a:solidFill>
                  <a:srgbClr val="0F172A"/>
                </a:solidFill>
                <a:latin typeface="Calibri"/>
              </a:rPr>
              <a:t> avec la transformation digitale, la donnée transactionnelle devient un levier pour améliorer la performance commerciale et opérationnelle.</a:t>
            </a:r>
          </a:p>
          <a:p>
            <a:pPr algn="l">
              <a:spcAft>
                <a:spcPts val="1000"/>
              </a:spcAft>
            </a:pPr>
            <a:r>
              <a:rPr sz="1400">
                <a:solidFill>
                  <a:srgbClr val="1E3A8A"/>
                </a:solidFill>
                <a:latin typeface="Calibri"/>
              </a:rPr>
              <a:t>▪  </a:t>
            </a:r>
            <a:r>
              <a:rPr sz="1600" b="1">
                <a:solidFill>
                  <a:srgbClr val="0F172A"/>
                </a:solidFill>
                <a:latin typeface="Calibri"/>
              </a:rPr>
              <a:t>Source fournie :</a:t>
            </a:r>
            <a:r>
              <a:rPr sz="1600" b="0">
                <a:solidFill>
                  <a:srgbClr val="0F172A"/>
                </a:solidFill>
                <a:latin typeface="Calibri"/>
              </a:rPr>
              <a:t> un export brut de la base du logiciel – 29 fichiers CSV, du 30/09/2024 au 30/04/2025.</a:t>
            </a:r>
          </a:p>
          <a:p>
            <a:pPr algn="l">
              <a:spcAft>
                <a:spcPts val="1000"/>
              </a:spcAft>
            </a:pPr>
            <a:r>
              <a:rPr sz="1400">
                <a:solidFill>
                  <a:srgbClr val="1E3A8A"/>
                </a:solidFill>
                <a:latin typeface="Calibri"/>
              </a:rPr>
              <a:t>▪  </a:t>
            </a:r>
            <a:r>
              <a:rPr sz="1600" b="1">
                <a:solidFill>
                  <a:srgbClr val="0F172A"/>
                </a:solidFill>
                <a:latin typeface="Calibri"/>
              </a:rPr>
              <a:t>Prolongation :</a:t>
            </a:r>
            <a:r>
              <a:rPr sz="1600" b="0">
                <a:solidFill>
                  <a:srgbClr val="0F172A"/>
                </a:solidFill>
                <a:latin typeface="Calibri"/>
              </a:rPr>
              <a:t> données synthétiques générées jusqu'au 29/09/2026 (2 ans au total), rangées à part comme donnée externe ; délimitation par la date.</a:t>
            </a:r>
          </a:p>
        </p:txBody>
      </p:sp>
      <p:sp>
        <p:nvSpPr>
          <p:cNvPr id="8" name="Rounded Rectangle 7"/>
          <p:cNvSpPr/>
          <p:nvPr/>
        </p:nvSpPr>
        <p:spPr>
          <a:xfrm>
            <a:off x="6903720" y="1463040"/>
            <a:ext cx="2331720" cy="201168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40880" y="1691640"/>
            <a:ext cx="2057400" cy="731520"/>
          </a:xfrm>
          <a:prstGeom prst="rect">
            <a:avLst/>
          </a:prstGeom>
          <a:noFill/>
        </p:spPr>
        <p:txBody>
          <a:bodyPr wrap="square" anchor="t" lIns="45720" rIns="45720">
            <a:spAutoFit/>
          </a:bodyPr>
          <a:lstStyle/>
          <a:p>
            <a:pPr algn="l">
              <a:spcAft>
                <a:spcPts val="600"/>
              </a:spcAft>
            </a:pPr>
            <a:r>
              <a:rPr sz="3000" b="1">
                <a:solidFill>
                  <a:srgbClr val="1E3A8A"/>
                </a:solidFill>
                <a:latin typeface="Calibri"/>
              </a:rPr>
              <a:t>370 256</a:t>
            </a:r>
          </a:p>
        </p:txBody>
      </p:sp>
      <p:sp>
        <p:nvSpPr>
          <p:cNvPr id="10" name="TextBox 9"/>
          <p:cNvSpPr txBox="1"/>
          <p:nvPr/>
        </p:nvSpPr>
        <p:spPr>
          <a:xfrm>
            <a:off x="7040880" y="2468880"/>
            <a:ext cx="2103120" cy="914400"/>
          </a:xfrm>
          <a:prstGeom prst="rect">
            <a:avLst/>
          </a:prstGeom>
          <a:noFill/>
        </p:spPr>
        <p:txBody>
          <a:bodyPr wrap="square" anchor="t" lIns="45720" rIns="45720">
            <a:spAutoFit/>
          </a:bodyPr>
          <a:lstStyle/>
          <a:p>
            <a:pPr algn="l">
              <a:spcAft>
                <a:spcPts val="100"/>
              </a:spcAft>
            </a:pPr>
            <a:r>
              <a:rPr sz="1300" b="0">
                <a:solidFill>
                  <a:srgbClr val="475569"/>
                </a:solidFill>
                <a:latin typeface="Calibri"/>
              </a:rPr>
              <a:t>enregistrements bruts</a:t>
            </a:r>
          </a:p>
          <a:p>
            <a:pPr algn="l">
              <a:spcAft>
                <a:spcPts val="100"/>
              </a:spcAft>
            </a:pPr>
            <a:r>
              <a:rPr sz="1300" b="0">
                <a:solidFill>
                  <a:srgbClr val="475569"/>
                </a:solidFill>
                <a:latin typeface="Calibri"/>
              </a:rPr>
              <a:t>dans 29 fichiers CSV</a:t>
            </a:r>
          </a:p>
        </p:txBody>
      </p:sp>
      <p:sp>
        <p:nvSpPr>
          <p:cNvPr id="11" name="Rounded Rectangle 10"/>
          <p:cNvSpPr/>
          <p:nvPr/>
        </p:nvSpPr>
        <p:spPr>
          <a:xfrm>
            <a:off x="9418320" y="1463040"/>
            <a:ext cx="2331720" cy="201168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55480" y="1691640"/>
            <a:ext cx="2057400" cy="731520"/>
          </a:xfrm>
          <a:prstGeom prst="rect">
            <a:avLst/>
          </a:prstGeom>
          <a:noFill/>
        </p:spPr>
        <p:txBody>
          <a:bodyPr wrap="square" anchor="t" lIns="45720" rIns="45720">
            <a:spAutoFit/>
          </a:bodyPr>
          <a:lstStyle/>
          <a:p>
            <a:pPr algn="l">
              <a:spcAft>
                <a:spcPts val="600"/>
              </a:spcAft>
            </a:pPr>
            <a:r>
              <a:rPr sz="3000" b="1">
                <a:solidFill>
                  <a:srgbClr val="1E3A8A"/>
                </a:solidFill>
                <a:latin typeface="Calibri"/>
              </a:rPr>
              <a:t>1,02 M</a:t>
            </a:r>
          </a:p>
        </p:txBody>
      </p:sp>
      <p:sp>
        <p:nvSpPr>
          <p:cNvPr id="13" name="TextBox 12"/>
          <p:cNvSpPr txBox="1"/>
          <p:nvPr/>
        </p:nvSpPr>
        <p:spPr>
          <a:xfrm>
            <a:off x="9555480" y="2468880"/>
            <a:ext cx="2103120" cy="914400"/>
          </a:xfrm>
          <a:prstGeom prst="rect">
            <a:avLst/>
          </a:prstGeom>
          <a:noFill/>
        </p:spPr>
        <p:txBody>
          <a:bodyPr wrap="square" anchor="t" lIns="45720" rIns="45720">
            <a:spAutoFit/>
          </a:bodyPr>
          <a:lstStyle/>
          <a:p>
            <a:pPr algn="l">
              <a:spcAft>
                <a:spcPts val="100"/>
              </a:spcAft>
            </a:pPr>
            <a:r>
              <a:rPr sz="1300" b="0">
                <a:solidFill>
                  <a:srgbClr val="475569"/>
                </a:solidFill>
                <a:latin typeface="Calibri"/>
              </a:rPr>
              <a:t>de chiffre d'affaires HT</a:t>
            </a:r>
          </a:p>
          <a:p>
            <a:pPr algn="l">
              <a:spcAft>
                <a:spcPts val="100"/>
              </a:spcAft>
            </a:pPr>
            <a:r>
              <a:rPr sz="1300" b="0">
                <a:solidFill>
                  <a:srgbClr val="475569"/>
                </a:solidFill>
                <a:latin typeface="Calibri"/>
              </a:rPr>
              <a:t>sur les 7 mois réels</a:t>
            </a:r>
          </a:p>
        </p:txBody>
      </p:sp>
      <p:sp>
        <p:nvSpPr>
          <p:cNvPr id="14" name="Rounded Rectangle 13"/>
          <p:cNvSpPr/>
          <p:nvPr/>
        </p:nvSpPr>
        <p:spPr>
          <a:xfrm>
            <a:off x="6903720" y="3703320"/>
            <a:ext cx="2331720" cy="201168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040880" y="3931920"/>
            <a:ext cx="2057400" cy="731520"/>
          </a:xfrm>
          <a:prstGeom prst="rect">
            <a:avLst/>
          </a:prstGeom>
          <a:noFill/>
        </p:spPr>
        <p:txBody>
          <a:bodyPr wrap="square" anchor="t" lIns="45720" rIns="45720">
            <a:spAutoFit/>
          </a:bodyPr>
          <a:lstStyle/>
          <a:p>
            <a:pPr algn="l">
              <a:spcAft>
                <a:spcPts val="600"/>
              </a:spcAft>
            </a:pPr>
            <a:r>
              <a:rPr sz="3000" b="1">
                <a:solidFill>
                  <a:srgbClr val="1E3A8A"/>
                </a:solidFill>
                <a:latin typeface="Calibri"/>
              </a:rPr>
              <a:t>11 571</a:t>
            </a:r>
          </a:p>
        </p:txBody>
      </p:sp>
      <p:sp>
        <p:nvSpPr>
          <p:cNvPr id="16" name="TextBox 15"/>
          <p:cNvSpPr txBox="1"/>
          <p:nvPr/>
        </p:nvSpPr>
        <p:spPr>
          <a:xfrm>
            <a:off x="7040880" y="4709160"/>
            <a:ext cx="2103120" cy="914400"/>
          </a:xfrm>
          <a:prstGeom prst="rect">
            <a:avLst/>
          </a:prstGeom>
          <a:noFill/>
        </p:spPr>
        <p:txBody>
          <a:bodyPr wrap="square" anchor="t" lIns="45720" rIns="45720">
            <a:spAutoFit/>
          </a:bodyPr>
          <a:lstStyle/>
          <a:p>
            <a:pPr algn="l">
              <a:spcAft>
                <a:spcPts val="100"/>
              </a:spcAft>
            </a:pPr>
            <a:r>
              <a:rPr sz="1300" b="0">
                <a:solidFill>
                  <a:srgbClr val="475569"/>
                </a:solidFill>
                <a:latin typeface="Calibri"/>
              </a:rPr>
              <a:t>ventes réelles (documents)</a:t>
            </a:r>
          </a:p>
          <a:p>
            <a:pPr algn="l">
              <a:spcAft>
                <a:spcPts val="100"/>
              </a:spcAft>
            </a:pPr>
            <a:r>
              <a:rPr sz="1300" b="0">
                <a:solidFill>
                  <a:srgbClr val="475569"/>
                </a:solidFill>
                <a:latin typeface="Calibri"/>
              </a:rPr>
              <a:t>panier moyen 88 HT</a:t>
            </a:r>
          </a:p>
        </p:txBody>
      </p:sp>
      <p:sp>
        <p:nvSpPr>
          <p:cNvPr id="17" name="Rounded Rectangle 16"/>
          <p:cNvSpPr/>
          <p:nvPr/>
        </p:nvSpPr>
        <p:spPr>
          <a:xfrm>
            <a:off x="9418320" y="3703320"/>
            <a:ext cx="2331720" cy="201168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55480" y="3931920"/>
            <a:ext cx="2057400" cy="731520"/>
          </a:xfrm>
          <a:prstGeom prst="rect">
            <a:avLst/>
          </a:prstGeom>
          <a:noFill/>
        </p:spPr>
        <p:txBody>
          <a:bodyPr wrap="square" anchor="t" lIns="45720" rIns="45720">
            <a:spAutoFit/>
          </a:bodyPr>
          <a:lstStyle/>
          <a:p>
            <a:pPr algn="l">
              <a:spcAft>
                <a:spcPts val="600"/>
              </a:spcAft>
            </a:pPr>
            <a:r>
              <a:rPr sz="3000" b="1">
                <a:solidFill>
                  <a:srgbClr val="1E3A8A"/>
                </a:solidFill>
                <a:latin typeface="Calibri"/>
              </a:rPr>
              <a:t>6 842</a:t>
            </a:r>
          </a:p>
        </p:txBody>
      </p:sp>
      <p:sp>
        <p:nvSpPr>
          <p:cNvPr id="19" name="TextBox 18"/>
          <p:cNvSpPr txBox="1"/>
          <p:nvPr/>
        </p:nvSpPr>
        <p:spPr>
          <a:xfrm>
            <a:off x="9555480" y="4709160"/>
            <a:ext cx="2103120" cy="914400"/>
          </a:xfrm>
          <a:prstGeom prst="rect">
            <a:avLst/>
          </a:prstGeom>
          <a:noFill/>
        </p:spPr>
        <p:txBody>
          <a:bodyPr wrap="square" anchor="t" lIns="45720" rIns="45720">
            <a:spAutoFit/>
          </a:bodyPr>
          <a:lstStyle/>
          <a:p>
            <a:pPr algn="l">
              <a:spcAft>
                <a:spcPts val="100"/>
              </a:spcAft>
            </a:pPr>
            <a:r>
              <a:rPr sz="1300" b="0">
                <a:solidFill>
                  <a:srgbClr val="475569"/>
                </a:solidFill>
                <a:latin typeface="Calibri"/>
              </a:rPr>
              <a:t>produits référencés</a:t>
            </a:r>
          </a:p>
          <a:p>
            <a:pPr algn="l">
              <a:spcAft>
                <a:spcPts val="100"/>
              </a:spcAft>
            </a:pPr>
            <a:r>
              <a:rPr sz="1300" b="0">
                <a:solidFill>
                  <a:srgbClr val="475569"/>
                </a:solidFill>
                <a:latin typeface="Calibri"/>
              </a:rPr>
              <a:t>118 fournisseurs</a:t>
            </a:r>
          </a:p>
        </p:txBody>
      </p:sp>
      <p:sp>
        <p:nvSpPr>
          <p:cNvPr id="20" name="TextBox 19"/>
          <p:cNvSpPr txBox="1"/>
          <p:nvPr/>
        </p:nvSpPr>
        <p:spPr>
          <a:xfrm>
            <a:off x="6903720" y="5943600"/>
            <a:ext cx="4846320" cy="320040"/>
          </a:xfrm>
          <a:prstGeom prst="rect">
            <a:avLst/>
          </a:prstGeom>
          <a:noFill/>
        </p:spPr>
        <p:txBody>
          <a:bodyPr wrap="square" anchor="t" lIns="45720" rIns="45720">
            <a:spAutoFit/>
          </a:bodyPr>
          <a:lstStyle/>
          <a:p>
            <a:pPr algn="l">
              <a:spcAft>
                <a:spcPts val="600"/>
              </a:spcAft>
            </a:pPr>
            <a:r>
              <a:rPr sz="1100" b="0">
                <a:solidFill>
                  <a:srgbClr val="475569"/>
                </a:solidFill>
                <a:latin typeface="Calibri"/>
              </a:rPr>
              <a:t>Montants exprimés dans la devise du logiciel source.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1 · BUSINESS UNDERSTANDING</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Un CA HT d'environ 145 k par mois, porté par le comptoir</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4</a:t>
            </a:r>
          </a:p>
        </p:txBody>
      </p:sp>
      <p:graphicFrame>
        <p:nvGraphicFramePr>
          <p:cNvPr id="7" name="Chart 6"/>
          <p:cNvGraphicFramePr>
            <a:graphicFrameLocks noGrp="1"/>
          </p:cNvGraphicFramePr>
          <p:nvPr/>
        </p:nvGraphicFramePr>
        <p:xfrm>
          <a:off x="502920" y="1371600"/>
          <a:ext cx="6949440" cy="4572000"/>
        </p:xfrm>
        <a:graphic>
          <a:graphicData uri="http://schemas.openxmlformats.org/drawingml/2006/chart">
            <c:chart xmlns:c="http://schemas.openxmlformats.org/drawingml/2006/chart" r:id="rId3"/>
          </a:graphicData>
        </a:graphic>
      </p:graphicFrame>
      <p:sp>
        <p:nvSpPr>
          <p:cNvPr id="8" name="TextBox 7"/>
          <p:cNvSpPr txBox="1"/>
          <p:nvPr/>
        </p:nvSpPr>
        <p:spPr>
          <a:xfrm>
            <a:off x="502920" y="5989320"/>
            <a:ext cx="6949440" cy="320040"/>
          </a:xfrm>
          <a:prstGeom prst="rect">
            <a:avLst/>
          </a:prstGeom>
          <a:noFill/>
        </p:spPr>
        <p:txBody>
          <a:bodyPr wrap="square" anchor="t" lIns="45720" rIns="45720">
            <a:spAutoFit/>
          </a:bodyPr>
          <a:lstStyle/>
          <a:p>
            <a:pPr algn="l">
              <a:spcAft>
                <a:spcPts val="600"/>
              </a:spcAft>
            </a:pPr>
            <a:r>
              <a:rPr sz="1100" b="0">
                <a:solidFill>
                  <a:srgbClr val="475569"/>
                </a:solidFill>
                <a:latin typeface="Calibri"/>
              </a:rPr>
              <a:t>Bleu foncé : réel · bleu clair : synthétique. Septembre 2024 exclu (un seul jour d'activité).</a:t>
            </a:r>
          </a:p>
        </p:txBody>
      </p:sp>
      <p:sp>
        <p:nvSpPr>
          <p:cNvPr id="9" name="Rounded Rectangle 8"/>
          <p:cNvSpPr/>
          <p:nvPr/>
        </p:nvSpPr>
        <p:spPr>
          <a:xfrm>
            <a:off x="7818120" y="1463040"/>
            <a:ext cx="3886200" cy="132588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01000" y="1572768"/>
            <a:ext cx="3566160" cy="502920"/>
          </a:xfrm>
          <a:prstGeom prst="rect">
            <a:avLst/>
          </a:prstGeom>
          <a:noFill/>
        </p:spPr>
        <p:txBody>
          <a:bodyPr wrap="square" anchor="t" lIns="45720" rIns="45720">
            <a:spAutoFit/>
          </a:bodyPr>
          <a:lstStyle/>
          <a:p>
            <a:pPr algn="l">
              <a:spcAft>
                <a:spcPts val="600"/>
              </a:spcAft>
            </a:pPr>
            <a:r>
              <a:rPr sz="2400" b="1">
                <a:solidFill>
                  <a:srgbClr val="0F766E"/>
                </a:solidFill>
                <a:latin typeface="Calibri"/>
              </a:rPr>
              <a:t>59 %</a:t>
            </a:r>
          </a:p>
        </p:txBody>
      </p:sp>
      <p:sp>
        <p:nvSpPr>
          <p:cNvPr id="11" name="TextBox 10"/>
          <p:cNvSpPr txBox="1"/>
          <p:nvPr/>
        </p:nvSpPr>
        <p:spPr>
          <a:xfrm>
            <a:off x="8001000" y="2084832"/>
            <a:ext cx="3566160" cy="685800"/>
          </a:xfrm>
          <a:prstGeom prst="rect">
            <a:avLst/>
          </a:prstGeom>
          <a:noFill/>
        </p:spPr>
        <p:txBody>
          <a:bodyPr wrap="square" anchor="t" lIns="45720" rIns="45720">
            <a:spAutoFit/>
          </a:bodyPr>
          <a:lstStyle/>
          <a:p>
            <a:pPr algn="l">
              <a:spcAft>
                <a:spcPts val="600"/>
              </a:spcAft>
            </a:pPr>
            <a:r>
              <a:rPr sz="1300" b="0">
                <a:solidFill>
                  <a:srgbClr val="0F172A"/>
                </a:solidFill>
                <a:latin typeface="Calibri"/>
              </a:rPr>
              <a:t>du CA HT est réalisé en vente comptoir ; le reste via bons de livraison et factures.</a:t>
            </a:r>
          </a:p>
        </p:txBody>
      </p:sp>
      <p:sp>
        <p:nvSpPr>
          <p:cNvPr id="12" name="Rounded Rectangle 11"/>
          <p:cNvSpPr/>
          <p:nvPr/>
        </p:nvSpPr>
        <p:spPr>
          <a:xfrm>
            <a:off x="7818120" y="2971800"/>
            <a:ext cx="3886200" cy="132588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01000" y="3081528"/>
            <a:ext cx="3566160" cy="502920"/>
          </a:xfrm>
          <a:prstGeom prst="rect">
            <a:avLst/>
          </a:prstGeom>
          <a:noFill/>
        </p:spPr>
        <p:txBody>
          <a:bodyPr wrap="square" anchor="t" lIns="45720" rIns="45720">
            <a:spAutoFit/>
          </a:bodyPr>
          <a:lstStyle/>
          <a:p>
            <a:pPr algn="l">
              <a:spcAft>
                <a:spcPts val="600"/>
              </a:spcAft>
            </a:pPr>
            <a:r>
              <a:rPr sz="2400" b="1">
                <a:solidFill>
                  <a:srgbClr val="0F766E"/>
                </a:solidFill>
                <a:latin typeface="Calibri"/>
              </a:rPr>
              <a:t>71 %</a:t>
            </a:r>
          </a:p>
        </p:txBody>
      </p:sp>
      <p:sp>
        <p:nvSpPr>
          <p:cNvPr id="14" name="TextBox 13"/>
          <p:cNvSpPr txBox="1"/>
          <p:nvPr/>
        </p:nvSpPr>
        <p:spPr>
          <a:xfrm>
            <a:off x="8001000" y="3593592"/>
            <a:ext cx="3566160" cy="685800"/>
          </a:xfrm>
          <a:prstGeom prst="rect">
            <a:avLst/>
          </a:prstGeom>
          <a:noFill/>
        </p:spPr>
        <p:txBody>
          <a:bodyPr wrap="square" anchor="t" lIns="45720" rIns="45720">
            <a:spAutoFit/>
          </a:bodyPr>
          <a:lstStyle/>
          <a:p>
            <a:pPr algn="l">
              <a:spcAft>
                <a:spcPts val="600"/>
              </a:spcAft>
            </a:pPr>
            <a:r>
              <a:rPr sz="1300" b="0">
                <a:solidFill>
                  <a:srgbClr val="0F172A"/>
                </a:solidFill>
                <a:latin typeface="Calibri"/>
              </a:rPr>
              <a:t>des transactions sont rattachées à un client comptoir anonyme : peu de clients identifiés.</a:t>
            </a:r>
          </a:p>
        </p:txBody>
      </p:sp>
      <p:sp>
        <p:nvSpPr>
          <p:cNvPr id="15" name="Rounded Rectangle 14"/>
          <p:cNvSpPr/>
          <p:nvPr/>
        </p:nvSpPr>
        <p:spPr>
          <a:xfrm>
            <a:off x="7818120" y="4480560"/>
            <a:ext cx="3886200" cy="132588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01000" y="4590288"/>
            <a:ext cx="3566160" cy="502920"/>
          </a:xfrm>
          <a:prstGeom prst="rect">
            <a:avLst/>
          </a:prstGeom>
          <a:noFill/>
        </p:spPr>
        <p:txBody>
          <a:bodyPr wrap="square" anchor="t" lIns="45720" rIns="45720">
            <a:spAutoFit/>
          </a:bodyPr>
          <a:lstStyle/>
          <a:p>
            <a:pPr algn="l">
              <a:spcAft>
                <a:spcPts val="600"/>
              </a:spcAft>
            </a:pPr>
            <a:r>
              <a:rPr sz="2400" b="1">
                <a:solidFill>
                  <a:srgbClr val="0F766E"/>
                </a:solidFill>
                <a:latin typeface="Calibri"/>
              </a:rPr>
              <a:t>Mars 2025</a:t>
            </a:r>
          </a:p>
        </p:txBody>
      </p:sp>
      <p:sp>
        <p:nvSpPr>
          <p:cNvPr id="17" name="TextBox 16"/>
          <p:cNvSpPr txBox="1"/>
          <p:nvPr/>
        </p:nvSpPr>
        <p:spPr>
          <a:xfrm>
            <a:off x="8001000" y="5102352"/>
            <a:ext cx="3566160" cy="685800"/>
          </a:xfrm>
          <a:prstGeom prst="rect">
            <a:avLst/>
          </a:prstGeom>
          <a:noFill/>
        </p:spPr>
        <p:txBody>
          <a:bodyPr wrap="square" anchor="t" lIns="45720" rIns="45720">
            <a:spAutoFit/>
          </a:bodyPr>
          <a:lstStyle/>
          <a:p>
            <a:pPr algn="l">
              <a:spcAft>
                <a:spcPts val="600"/>
              </a:spcAft>
            </a:pPr>
            <a:r>
              <a:rPr sz="1300" b="0">
                <a:solidFill>
                  <a:srgbClr val="0F172A"/>
                </a:solidFill>
                <a:latin typeface="Calibri"/>
              </a:rPr>
              <a:t>est le mois le plus faible : la saisonnalité reste à expliquer.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1 · BUSINESS UNDERSTANDING</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Problématique : des données riches mais non exploitables en l'état</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5</a:t>
            </a:r>
          </a:p>
        </p:txBody>
      </p:sp>
      <p:sp>
        <p:nvSpPr>
          <p:cNvPr id="7" name="Rectangle 6"/>
          <p:cNvSpPr/>
          <p:nvPr/>
        </p:nvSpPr>
        <p:spPr>
          <a:xfrm>
            <a:off x="502920" y="1417320"/>
            <a:ext cx="2651760" cy="2788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417320"/>
            <a:ext cx="2651760" cy="822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7512" y="1600200"/>
            <a:ext cx="2377440" cy="411480"/>
          </a:xfrm>
          <a:prstGeom prst="rect">
            <a:avLst/>
          </a:prstGeom>
          <a:noFill/>
        </p:spPr>
        <p:txBody>
          <a:bodyPr wrap="square" anchor="t" lIns="45720" rIns="45720">
            <a:spAutoFit/>
          </a:bodyPr>
          <a:lstStyle/>
          <a:p>
            <a:pPr algn="l">
              <a:spcAft>
                <a:spcPts val="600"/>
              </a:spcAft>
            </a:pPr>
            <a:r>
              <a:rPr sz="1700" b="1">
                <a:solidFill>
                  <a:srgbClr val="0F172A"/>
                </a:solidFill>
                <a:latin typeface="Calibri"/>
              </a:rPr>
              <a:t>Données dispersées</a:t>
            </a:r>
          </a:p>
        </p:txBody>
      </p:sp>
      <p:sp>
        <p:nvSpPr>
          <p:cNvPr id="10" name="TextBox 9"/>
          <p:cNvSpPr txBox="1"/>
          <p:nvPr/>
        </p:nvSpPr>
        <p:spPr>
          <a:xfrm>
            <a:off x="667512" y="2103120"/>
            <a:ext cx="2377440" cy="2103120"/>
          </a:xfrm>
          <a:prstGeom prst="rect">
            <a:avLst/>
          </a:prstGeom>
          <a:noFill/>
        </p:spPr>
        <p:txBody>
          <a:bodyPr wrap="square" anchor="t" lIns="45720" rIns="45720">
            <a:spAutoFit/>
          </a:bodyPr>
          <a:lstStyle/>
          <a:p>
            <a:pPr algn="l">
              <a:spcAft>
                <a:spcPts val="600"/>
              </a:spcAft>
            </a:pPr>
            <a:r>
              <a:rPr sz="1100">
                <a:solidFill>
                  <a:srgbClr val="1E3A8A"/>
                </a:solidFill>
                <a:latin typeface="Calibri"/>
              </a:rPr>
              <a:t>▪  </a:t>
            </a:r>
            <a:r>
              <a:rPr sz="1300" b="0">
                <a:solidFill>
                  <a:srgbClr val="0F172A"/>
                </a:solidFill>
                <a:latin typeface="Calibri"/>
              </a:rPr>
              <a:t>29 fichiers, 2 séparateurs, 3 encodages</a:t>
            </a:r>
          </a:p>
          <a:p>
            <a:pPr algn="l">
              <a:spcAft>
                <a:spcPts val="600"/>
              </a:spcAft>
            </a:pPr>
            <a:r>
              <a:rPr sz="1100">
                <a:solidFill>
                  <a:srgbClr val="1E3A8A"/>
                </a:solidFill>
                <a:latin typeface="Calibri"/>
              </a:rPr>
              <a:t>▪  </a:t>
            </a:r>
            <a:r>
              <a:rPr sz="1300" b="0">
                <a:solidFill>
                  <a:srgbClr val="0F172A"/>
                </a:solidFill>
                <a:latin typeface="Calibri"/>
              </a:rPr>
              <a:t>Dates au format US et FR mélangées</a:t>
            </a:r>
          </a:p>
          <a:p>
            <a:pPr algn="l">
              <a:spcAft>
                <a:spcPts val="600"/>
              </a:spcAft>
            </a:pPr>
            <a:r>
              <a:rPr sz="1100">
                <a:solidFill>
                  <a:srgbClr val="1E3A8A"/>
                </a:solidFill>
                <a:latin typeface="Calibri"/>
              </a:rPr>
              <a:t>▪  </a:t>
            </a:r>
            <a:r>
              <a:rPr sz="1300" b="0">
                <a:solidFill>
                  <a:srgbClr val="0F172A"/>
                </a:solidFill>
                <a:latin typeface="Calibri"/>
              </a:rPr>
              <a:t>JSON et HTML stockés dans des colonnes</a:t>
            </a:r>
          </a:p>
        </p:txBody>
      </p:sp>
      <p:sp>
        <p:nvSpPr>
          <p:cNvPr id="11" name="Rectangle 10"/>
          <p:cNvSpPr/>
          <p:nvPr/>
        </p:nvSpPr>
        <p:spPr>
          <a:xfrm>
            <a:off x="3337560" y="1417320"/>
            <a:ext cx="2651760" cy="2788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417320"/>
            <a:ext cx="2651760" cy="822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02152" y="1600200"/>
            <a:ext cx="2377440" cy="411480"/>
          </a:xfrm>
          <a:prstGeom prst="rect">
            <a:avLst/>
          </a:prstGeom>
          <a:noFill/>
        </p:spPr>
        <p:txBody>
          <a:bodyPr wrap="square" anchor="t" lIns="45720" rIns="45720">
            <a:spAutoFit/>
          </a:bodyPr>
          <a:lstStyle/>
          <a:p>
            <a:pPr algn="l">
              <a:spcAft>
                <a:spcPts val="600"/>
              </a:spcAft>
            </a:pPr>
            <a:r>
              <a:rPr sz="1700" b="1">
                <a:solidFill>
                  <a:srgbClr val="0F172A"/>
                </a:solidFill>
                <a:latin typeface="Calibri"/>
              </a:rPr>
              <a:t>Qualité inégale</a:t>
            </a:r>
          </a:p>
        </p:txBody>
      </p:sp>
      <p:sp>
        <p:nvSpPr>
          <p:cNvPr id="14" name="TextBox 13"/>
          <p:cNvSpPr txBox="1"/>
          <p:nvPr/>
        </p:nvSpPr>
        <p:spPr>
          <a:xfrm>
            <a:off x="3502152" y="2103120"/>
            <a:ext cx="2377440" cy="2103120"/>
          </a:xfrm>
          <a:prstGeom prst="rect">
            <a:avLst/>
          </a:prstGeom>
          <a:noFill/>
        </p:spPr>
        <p:txBody>
          <a:bodyPr wrap="square" anchor="t" lIns="45720" rIns="45720">
            <a:spAutoFit/>
          </a:bodyPr>
          <a:lstStyle/>
          <a:p>
            <a:pPr algn="l">
              <a:spcAft>
                <a:spcPts val="600"/>
              </a:spcAft>
            </a:pPr>
            <a:r>
              <a:rPr sz="1100">
                <a:solidFill>
                  <a:srgbClr val="1E3A8A"/>
                </a:solidFill>
                <a:latin typeface="Calibri"/>
              </a:rPr>
              <a:t>▪  </a:t>
            </a:r>
            <a:r>
              <a:rPr sz="1300" b="0">
                <a:solidFill>
                  <a:srgbClr val="0F172A"/>
                </a:solidFill>
                <a:latin typeface="Calibri"/>
              </a:rPr>
              <a:t>91 codes produits détruits par Excel</a:t>
            </a:r>
          </a:p>
          <a:p>
            <a:pPr algn="l">
              <a:spcAft>
                <a:spcPts val="600"/>
              </a:spcAft>
            </a:pPr>
            <a:r>
              <a:rPr sz="1100">
                <a:solidFill>
                  <a:srgbClr val="1E3A8A"/>
                </a:solidFill>
                <a:latin typeface="Calibri"/>
              </a:rPr>
              <a:t>▪  </a:t>
            </a:r>
            <a:r>
              <a:rPr sz="1300" b="0">
                <a:solidFill>
                  <a:srgbClr val="0F172A"/>
                </a:solidFill>
                <a:latin typeface="Calibri"/>
              </a:rPr>
              <a:t>Noms anonymisés incohérents entre fichiers</a:t>
            </a:r>
          </a:p>
          <a:p>
            <a:pPr algn="l">
              <a:spcAft>
                <a:spcPts val="600"/>
              </a:spcAft>
            </a:pPr>
            <a:r>
              <a:rPr sz="1100">
                <a:solidFill>
                  <a:srgbClr val="1E3A8A"/>
                </a:solidFill>
                <a:latin typeface="Calibri"/>
              </a:rPr>
              <a:t>▪  </a:t>
            </a:r>
            <a:r>
              <a:rPr sz="1300" b="0">
                <a:solidFill>
                  <a:srgbClr val="0F172A"/>
                </a:solidFill>
                <a:latin typeface="Calibri"/>
              </a:rPr>
              <a:t>Inventaire physique jamais finalisé</a:t>
            </a:r>
          </a:p>
        </p:txBody>
      </p:sp>
      <p:sp>
        <p:nvSpPr>
          <p:cNvPr id="15" name="Rectangle 14"/>
          <p:cNvSpPr/>
          <p:nvPr/>
        </p:nvSpPr>
        <p:spPr>
          <a:xfrm>
            <a:off x="6172200" y="1417320"/>
            <a:ext cx="2651760" cy="2788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417320"/>
            <a:ext cx="2651760" cy="822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36792" y="1600200"/>
            <a:ext cx="2377440" cy="411480"/>
          </a:xfrm>
          <a:prstGeom prst="rect">
            <a:avLst/>
          </a:prstGeom>
          <a:noFill/>
        </p:spPr>
        <p:txBody>
          <a:bodyPr wrap="square" anchor="t" lIns="45720" rIns="45720">
            <a:spAutoFit/>
          </a:bodyPr>
          <a:lstStyle/>
          <a:p>
            <a:pPr algn="l">
              <a:spcAft>
                <a:spcPts val="600"/>
              </a:spcAft>
            </a:pPr>
            <a:r>
              <a:rPr sz="1700" b="1">
                <a:solidFill>
                  <a:srgbClr val="0F172A"/>
                </a:solidFill>
                <a:latin typeface="Calibri"/>
              </a:rPr>
              <a:t>Pièges métier</a:t>
            </a:r>
          </a:p>
        </p:txBody>
      </p:sp>
      <p:sp>
        <p:nvSpPr>
          <p:cNvPr id="18" name="TextBox 17"/>
          <p:cNvSpPr txBox="1"/>
          <p:nvPr/>
        </p:nvSpPr>
        <p:spPr>
          <a:xfrm>
            <a:off x="6336792" y="2103120"/>
            <a:ext cx="2377440" cy="2103120"/>
          </a:xfrm>
          <a:prstGeom prst="rect">
            <a:avLst/>
          </a:prstGeom>
          <a:noFill/>
        </p:spPr>
        <p:txBody>
          <a:bodyPr wrap="square" anchor="t" lIns="45720" rIns="45720">
            <a:spAutoFit/>
          </a:bodyPr>
          <a:lstStyle/>
          <a:p>
            <a:pPr algn="l">
              <a:spcAft>
                <a:spcPts val="600"/>
              </a:spcAft>
            </a:pPr>
            <a:r>
              <a:rPr sz="1100">
                <a:solidFill>
                  <a:srgbClr val="1E3A8A"/>
                </a:solidFill>
                <a:latin typeface="Calibri"/>
              </a:rPr>
              <a:t>▪  </a:t>
            </a:r>
            <a:r>
              <a:rPr sz="1300" b="0">
                <a:solidFill>
                  <a:srgbClr val="0F172A"/>
                </a:solidFill>
                <a:latin typeface="Calibri"/>
              </a:rPr>
              <a:t>24 factures refacturent 864 bons de livraison → CA compté deux fois</a:t>
            </a:r>
          </a:p>
          <a:p>
            <a:pPr algn="l">
              <a:spcAft>
                <a:spcPts val="600"/>
              </a:spcAft>
            </a:pPr>
            <a:r>
              <a:rPr sz="1100">
                <a:solidFill>
                  <a:srgbClr val="1E3A8A"/>
                </a:solidFill>
                <a:latin typeface="Calibri"/>
              </a:rPr>
              <a:t>▪  </a:t>
            </a:r>
            <a:r>
              <a:rPr sz="1300" b="0">
                <a:solidFill>
                  <a:srgbClr val="0F172A"/>
                </a:solidFill>
                <a:latin typeface="Calibri"/>
              </a:rPr>
              <a:t>71 % de transactions anonymes</a:t>
            </a:r>
          </a:p>
        </p:txBody>
      </p:sp>
      <p:sp>
        <p:nvSpPr>
          <p:cNvPr id="19" name="Rectangle 18"/>
          <p:cNvSpPr/>
          <p:nvPr/>
        </p:nvSpPr>
        <p:spPr>
          <a:xfrm>
            <a:off x="9006840" y="1417320"/>
            <a:ext cx="2651760" cy="2788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417320"/>
            <a:ext cx="2651760" cy="822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71432" y="1600200"/>
            <a:ext cx="2377440" cy="411480"/>
          </a:xfrm>
          <a:prstGeom prst="rect">
            <a:avLst/>
          </a:prstGeom>
          <a:noFill/>
        </p:spPr>
        <p:txBody>
          <a:bodyPr wrap="square" anchor="t" lIns="45720" rIns="45720">
            <a:spAutoFit/>
          </a:bodyPr>
          <a:lstStyle/>
          <a:p>
            <a:pPr algn="l">
              <a:spcAft>
                <a:spcPts val="600"/>
              </a:spcAft>
            </a:pPr>
            <a:r>
              <a:rPr sz="1700" b="1">
                <a:solidFill>
                  <a:srgbClr val="0F172A"/>
                </a:solidFill>
                <a:latin typeface="Calibri"/>
              </a:rPr>
              <a:t>Aucune vision consolidée</a:t>
            </a:r>
          </a:p>
        </p:txBody>
      </p:sp>
      <p:sp>
        <p:nvSpPr>
          <p:cNvPr id="22" name="TextBox 21"/>
          <p:cNvSpPr txBox="1"/>
          <p:nvPr/>
        </p:nvSpPr>
        <p:spPr>
          <a:xfrm>
            <a:off x="9171432" y="2103120"/>
            <a:ext cx="2377440" cy="2103120"/>
          </a:xfrm>
          <a:prstGeom prst="rect">
            <a:avLst/>
          </a:prstGeom>
          <a:noFill/>
        </p:spPr>
        <p:txBody>
          <a:bodyPr wrap="square" anchor="t" lIns="45720" rIns="45720">
            <a:spAutoFit/>
          </a:bodyPr>
          <a:lstStyle/>
          <a:p>
            <a:pPr algn="l">
              <a:spcAft>
                <a:spcPts val="600"/>
              </a:spcAft>
            </a:pPr>
            <a:r>
              <a:rPr sz="1100">
                <a:solidFill>
                  <a:srgbClr val="1E3A8A"/>
                </a:solidFill>
                <a:latin typeface="Calibri"/>
              </a:rPr>
              <a:t>▪  </a:t>
            </a:r>
            <a:r>
              <a:rPr sz="1300" b="0">
                <a:solidFill>
                  <a:srgbClr val="0F172A"/>
                </a:solidFill>
                <a:latin typeface="Calibri"/>
              </a:rPr>
              <a:t>Pas d'indicateurs de pilotage</a:t>
            </a:r>
          </a:p>
          <a:p>
            <a:pPr algn="l">
              <a:spcAft>
                <a:spcPts val="600"/>
              </a:spcAft>
            </a:pPr>
            <a:r>
              <a:rPr sz="1100">
                <a:solidFill>
                  <a:srgbClr val="1E3A8A"/>
                </a:solidFill>
                <a:latin typeface="Calibri"/>
              </a:rPr>
              <a:t>▪  </a:t>
            </a:r>
            <a:r>
              <a:rPr sz="1300" b="0">
                <a:solidFill>
                  <a:srgbClr val="0F172A"/>
                </a:solidFill>
                <a:latin typeface="Calibri"/>
              </a:rPr>
              <a:t>6 % des produits actifs en rupture</a:t>
            </a:r>
          </a:p>
          <a:p>
            <a:pPr algn="l">
              <a:spcAft>
                <a:spcPts val="600"/>
              </a:spcAft>
            </a:pPr>
            <a:r>
              <a:rPr sz="1100">
                <a:solidFill>
                  <a:srgbClr val="1E3A8A"/>
                </a:solidFill>
                <a:latin typeface="Calibri"/>
              </a:rPr>
              <a:t>▪  </a:t>
            </a:r>
            <a:r>
              <a:rPr sz="1300" b="0">
                <a:solidFill>
                  <a:srgbClr val="0F172A"/>
                </a:solidFill>
                <a:latin typeface="Calibri"/>
              </a:rPr>
              <a:t>Aucune anticipation de la demande</a:t>
            </a:r>
          </a:p>
        </p:txBody>
      </p:sp>
      <p:sp>
        <p:nvSpPr>
          <p:cNvPr id="23" name="Rounded Rectangle 22"/>
          <p:cNvSpPr/>
          <p:nvPr/>
        </p:nvSpPr>
        <p:spPr>
          <a:xfrm>
            <a:off x="502920" y="4480560"/>
            <a:ext cx="11201400" cy="155448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60" y="4517136"/>
            <a:ext cx="10561320" cy="1481328"/>
          </a:xfrm>
          <a:prstGeom prst="rect">
            <a:avLst/>
          </a:prstGeom>
          <a:noFill/>
        </p:spPr>
        <p:txBody>
          <a:bodyPr wrap="square" anchor="ctr" lIns="45720" rIns="45720">
            <a:spAutoFit/>
          </a:bodyPr>
          <a:lstStyle/>
          <a:p>
            <a:pPr algn="l">
              <a:spcAft>
                <a:spcPts val="300"/>
              </a:spcAft>
            </a:pPr>
            <a:r>
              <a:rPr sz="1200" b="1">
                <a:solidFill>
                  <a:srgbClr val="99F6E4"/>
                </a:solidFill>
                <a:latin typeface="Calibri"/>
              </a:rPr>
              <a:t>PROBLÉMATIQUE</a:t>
            </a:r>
          </a:p>
          <a:p>
            <a:pPr algn="l">
              <a:spcAft>
                <a:spcPts val="300"/>
              </a:spcAft>
            </a:pPr>
            <a:r>
              <a:rPr sz="1900" b="0">
                <a:solidFill>
                  <a:srgbClr val="FFFFFF"/>
                </a:solidFill>
                <a:latin typeface="Calibri"/>
              </a:rPr>
              <a:t>Comment transformer les données transactionnelles brutes du drugstore en une plateforme décisionnelle fiable, qui permette aux responsables de piloter les ventes, les stocks, les clients et la caisse, et d'anticiper la demande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1 · BUSINESS UNDERSTANDING</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Cinq décideurs, des questions concrètes</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6</a:t>
            </a:r>
          </a:p>
        </p:txBody>
      </p:sp>
      <p:graphicFrame>
        <p:nvGraphicFramePr>
          <p:cNvPr id="7" name="Table 6"/>
          <p:cNvGraphicFramePr>
            <a:graphicFrameLocks noGrp="1"/>
          </p:cNvGraphicFramePr>
          <p:nvPr/>
        </p:nvGraphicFramePr>
        <p:xfrm>
          <a:off x="502920" y="1417320"/>
          <a:ext cx="11201400" cy="3950208"/>
        </p:xfrm>
        <a:graphic>
          <a:graphicData uri="http://schemas.openxmlformats.org/drawingml/2006/table">
            <a:tbl>
              <a:tblPr firstRow="1" bandRow="1">
                <a:tableStyleId>{5C22544A-7EE6-4342-B048-85BDC9FD1C3A}</a:tableStyleId>
              </a:tblPr>
              <a:tblGrid>
                <a:gridCol w="2743200"/>
                <a:gridCol w="2651760"/>
                <a:gridCol w="5806440"/>
              </a:tblGrid>
              <a:tr h="658368">
                <a:tc>
                  <a:txBody>
                    <a:bodyPr wrap="square"/>
                    <a:lstStyle/>
                    <a:p>
                      <a:r>
                        <a:rPr sz="1400" b="1">
                          <a:solidFill>
                            <a:srgbClr val="FFFFFF"/>
                          </a:solidFill>
                          <a:latin typeface="Calibri"/>
                        </a:rPr>
                        <a:t>Décideur</a:t>
                      </a:r>
                    </a:p>
                  </a:txBody>
                  <a:tcPr marL="64008" marR="64008" marT="36576" marB="36576" anchor="ctr">
                    <a:solidFill>
                      <a:srgbClr val="1E3A8A"/>
                    </a:solidFill>
                  </a:tcPr>
                </a:tc>
                <a:tc>
                  <a:txBody>
                    <a:bodyPr wrap="square"/>
                    <a:lstStyle/>
                    <a:p>
                      <a:r>
                        <a:rPr sz="1400" b="1">
                          <a:solidFill>
                            <a:srgbClr val="FFFFFF"/>
                          </a:solidFill>
                          <a:latin typeface="Calibri"/>
                        </a:rPr>
                        <a:t>Objectif métier</a:t>
                      </a:r>
                    </a:p>
                  </a:txBody>
                  <a:tcPr marL="64008" marR="64008" marT="36576" marB="36576" anchor="ctr">
                    <a:solidFill>
                      <a:srgbClr val="1E3A8A"/>
                    </a:solidFill>
                  </a:tcPr>
                </a:tc>
                <a:tc>
                  <a:txBody>
                    <a:bodyPr wrap="square"/>
                    <a:lstStyle/>
                    <a:p>
                      <a:r>
                        <a:rPr sz="1400" b="1">
                          <a:solidFill>
                            <a:srgbClr val="FFFFFF"/>
                          </a:solidFill>
                          <a:latin typeface="Calibri"/>
                        </a:rPr>
                        <a:t>Questions analytiques principales</a:t>
                      </a:r>
                    </a:p>
                  </a:txBody>
                  <a:tcPr marL="64008" marR="64008" marT="36576" marB="36576" anchor="ctr">
                    <a:solidFill>
                      <a:srgbClr val="1E3A8A"/>
                    </a:solidFill>
                  </a:tcPr>
                </a:tc>
              </a:tr>
              <a:tr h="658368">
                <a:tc>
                  <a:txBody>
                    <a:bodyPr wrap="square"/>
                    <a:lstStyle/>
                    <a:p>
                      <a:r>
                        <a:rPr sz="1400" b="1">
                          <a:solidFill>
                            <a:srgbClr val="0F172A"/>
                          </a:solidFill>
                          <a:latin typeface="Calibri"/>
                        </a:rPr>
                        <a:t>Direction générale</a:t>
                      </a:r>
                    </a:p>
                  </a:txBody>
                  <a:tcPr marL="64008" marR="64008" marT="36576" marB="36576" anchor="ctr">
                    <a:solidFill>
                      <a:srgbClr val="FFFFFF"/>
                    </a:solidFill>
                  </a:tcPr>
                </a:tc>
                <a:tc>
                  <a:txBody>
                    <a:bodyPr wrap="square"/>
                    <a:lstStyle/>
                    <a:p>
                      <a:r>
                        <a:rPr sz="1400" b="0">
                          <a:solidFill>
                            <a:srgbClr val="0F172A"/>
                          </a:solidFill>
                          <a:latin typeface="Calibri"/>
                        </a:rPr>
                        <a:t>Suivre la performance globale</a:t>
                      </a:r>
                    </a:p>
                  </a:txBody>
                  <a:tcPr marL="64008" marR="64008" marT="36576" marB="36576" anchor="ctr">
                    <a:solidFill>
                      <a:srgbClr val="FFFFFF"/>
                    </a:solidFill>
                  </a:tcPr>
                </a:tc>
                <a:tc>
                  <a:txBody>
                    <a:bodyPr wrap="square"/>
                    <a:lstStyle/>
                    <a:p>
                      <a:r>
                        <a:rPr sz="1400" b="0">
                          <a:solidFill>
                            <a:srgbClr val="0F172A"/>
                          </a:solidFill>
                          <a:latin typeface="Calibri"/>
                        </a:rPr>
                        <a:t>Quel est le CA ? Comment évolue-t-il ? Quelle période génère le plus de CA ?</a:t>
                      </a:r>
                    </a:p>
                  </a:txBody>
                  <a:tcPr marL="64008" marR="64008" marT="36576" marB="36576" anchor="ctr">
                    <a:solidFill>
                      <a:srgbClr val="FFFFFF"/>
                    </a:solidFill>
                  </a:tcPr>
                </a:tc>
              </a:tr>
              <a:tr h="658368">
                <a:tc>
                  <a:txBody>
                    <a:bodyPr wrap="square"/>
                    <a:lstStyle/>
                    <a:p>
                      <a:r>
                        <a:rPr sz="1400" b="1">
                          <a:solidFill>
                            <a:srgbClr val="0F172A"/>
                          </a:solidFill>
                          <a:latin typeface="Calibri"/>
                        </a:rPr>
                        <a:t>Responsable commercial</a:t>
                      </a:r>
                    </a:p>
                  </a:txBody>
                  <a:tcPr marL="64008" marR="64008" marT="36576" marB="36576" anchor="ctr">
                    <a:solidFill>
                      <a:srgbClr val="F8FAFC"/>
                    </a:solidFill>
                  </a:tcPr>
                </a:tc>
                <a:tc>
                  <a:txBody>
                    <a:bodyPr wrap="square"/>
                    <a:lstStyle/>
                    <a:p>
                      <a:r>
                        <a:rPr sz="1400" b="0">
                          <a:solidFill>
                            <a:srgbClr val="0F172A"/>
                          </a:solidFill>
                          <a:latin typeface="Calibri"/>
                        </a:rPr>
                        <a:t>Analyser les ventes</a:t>
                      </a:r>
                    </a:p>
                  </a:txBody>
                  <a:tcPr marL="64008" marR="64008" marT="36576" marB="36576" anchor="ctr">
                    <a:solidFill>
                      <a:srgbClr val="F8FAFC"/>
                    </a:solidFill>
                  </a:tcPr>
                </a:tc>
                <a:tc>
                  <a:txBody>
                    <a:bodyPr wrap="square"/>
                    <a:lstStyle/>
                    <a:p>
                      <a:r>
                        <a:rPr sz="1400" b="0">
                          <a:solidFill>
                            <a:srgbClr val="0F172A"/>
                          </a:solidFill>
                          <a:latin typeface="Calibri"/>
                        </a:rPr>
                        <a:t>Quels produits et marques se vendent le plus et sont les plus rentables ? Quel panier moyen ?</a:t>
                      </a:r>
                    </a:p>
                  </a:txBody>
                  <a:tcPr marL="64008" marR="64008" marT="36576" marB="36576" anchor="ctr">
                    <a:solidFill>
                      <a:srgbClr val="F8FAFC"/>
                    </a:solidFill>
                  </a:tcPr>
                </a:tc>
              </a:tr>
              <a:tr h="658368">
                <a:tc>
                  <a:txBody>
                    <a:bodyPr wrap="square"/>
                    <a:lstStyle/>
                    <a:p>
                      <a:r>
                        <a:rPr sz="1400" b="1">
                          <a:solidFill>
                            <a:srgbClr val="0F172A"/>
                          </a:solidFill>
                          <a:latin typeface="Calibri"/>
                        </a:rPr>
                        <a:t>Responsable relation client</a:t>
                      </a:r>
                    </a:p>
                  </a:txBody>
                  <a:tcPr marL="64008" marR="64008" marT="36576" marB="36576" anchor="ctr">
                    <a:solidFill>
                      <a:srgbClr val="FFFFFF"/>
                    </a:solidFill>
                  </a:tcPr>
                </a:tc>
                <a:tc>
                  <a:txBody>
                    <a:bodyPr wrap="square"/>
                    <a:lstStyle/>
                    <a:p>
                      <a:r>
                        <a:rPr sz="1400" b="0">
                          <a:solidFill>
                            <a:srgbClr val="0F172A"/>
                          </a:solidFill>
                          <a:latin typeface="Calibri"/>
                        </a:rPr>
                        <a:t>Analyser les clients</a:t>
                      </a:r>
                    </a:p>
                  </a:txBody>
                  <a:tcPr marL="64008" marR="64008" marT="36576" marB="36576" anchor="ctr">
                    <a:solidFill>
                      <a:srgbClr val="FFFFFF"/>
                    </a:solidFill>
                  </a:tcPr>
                </a:tc>
                <a:tc>
                  <a:txBody>
                    <a:bodyPr wrap="square"/>
                    <a:lstStyle/>
                    <a:p>
                      <a:r>
                        <a:rPr sz="1400" b="0">
                          <a:solidFill>
                            <a:srgbClr val="0F172A"/>
                          </a:solidFill>
                          <a:latin typeface="Calibri"/>
                        </a:rPr>
                        <a:t>Quels clients sont actifs ? Quelle est leur fréquence d'achat et leur valeur ?</a:t>
                      </a:r>
                    </a:p>
                  </a:txBody>
                  <a:tcPr marL="64008" marR="64008" marT="36576" marB="36576" anchor="ctr">
                    <a:solidFill>
                      <a:srgbClr val="FFFFFF"/>
                    </a:solidFill>
                  </a:tcPr>
                </a:tc>
              </a:tr>
              <a:tr h="658368">
                <a:tc>
                  <a:txBody>
                    <a:bodyPr wrap="square"/>
                    <a:lstStyle/>
                    <a:p>
                      <a:r>
                        <a:rPr sz="1400" b="1">
                          <a:solidFill>
                            <a:srgbClr val="0F172A"/>
                          </a:solidFill>
                          <a:latin typeface="Calibri"/>
                        </a:rPr>
                        <a:t>Resp. approvisionnement / stock</a:t>
                      </a:r>
                    </a:p>
                  </a:txBody>
                  <a:tcPr marL="64008" marR="64008" marT="36576" marB="36576" anchor="ctr">
                    <a:solidFill>
                      <a:srgbClr val="F8FAFC"/>
                    </a:solidFill>
                  </a:tcPr>
                </a:tc>
                <a:tc>
                  <a:txBody>
                    <a:bodyPr wrap="square"/>
                    <a:lstStyle/>
                    <a:p>
                      <a:r>
                        <a:rPr sz="1400" b="0">
                          <a:solidFill>
                            <a:srgbClr val="0F172A"/>
                          </a:solidFill>
                          <a:latin typeface="Calibri"/>
                        </a:rPr>
                        <a:t>Piloter les stocks</a:t>
                      </a:r>
                    </a:p>
                  </a:txBody>
                  <a:tcPr marL="64008" marR="64008" marT="36576" marB="36576" anchor="ctr">
                    <a:solidFill>
                      <a:srgbClr val="F8FAFC"/>
                    </a:solidFill>
                  </a:tcPr>
                </a:tc>
                <a:tc>
                  <a:txBody>
                    <a:bodyPr wrap="square"/>
                    <a:lstStyle/>
                    <a:p>
                      <a:r>
                        <a:rPr sz="1400" b="0">
                          <a:solidFill>
                            <a:srgbClr val="0F172A"/>
                          </a:solidFill>
                          <a:latin typeface="Calibri"/>
                        </a:rPr>
                        <a:t>Quels produits sont en rupture ou en stock faible ? Quelle demande anticiper ?</a:t>
                      </a:r>
                    </a:p>
                  </a:txBody>
                  <a:tcPr marL="64008" marR="64008" marT="36576" marB="36576" anchor="ctr">
                    <a:solidFill>
                      <a:srgbClr val="F8FAFC"/>
                    </a:solidFill>
                  </a:tcPr>
                </a:tc>
              </a:tr>
              <a:tr h="658368">
                <a:tc>
                  <a:txBody>
                    <a:bodyPr wrap="square"/>
                    <a:lstStyle/>
                    <a:p>
                      <a:r>
                        <a:rPr sz="1400" b="1">
                          <a:solidFill>
                            <a:srgbClr val="0F172A"/>
                          </a:solidFill>
                          <a:latin typeface="Calibri"/>
                        </a:rPr>
                        <a:t>Responsable financier / caisse</a:t>
                      </a:r>
                    </a:p>
                  </a:txBody>
                  <a:tcPr marL="64008" marR="64008" marT="36576" marB="36576" anchor="ctr">
                    <a:solidFill>
                      <a:srgbClr val="FFFFFF"/>
                    </a:solidFill>
                  </a:tcPr>
                </a:tc>
                <a:tc>
                  <a:txBody>
                    <a:bodyPr wrap="square"/>
                    <a:lstStyle/>
                    <a:p>
                      <a:r>
                        <a:rPr sz="1400" b="0">
                          <a:solidFill>
                            <a:srgbClr val="0F172A"/>
                          </a:solidFill>
                          <a:latin typeface="Calibri"/>
                        </a:rPr>
                        <a:t>Suivre les flux de paiement</a:t>
                      </a:r>
                    </a:p>
                  </a:txBody>
                  <a:tcPr marL="64008" marR="64008" marT="36576" marB="36576" anchor="ctr">
                    <a:solidFill>
                      <a:srgbClr val="FFFFFF"/>
                    </a:solidFill>
                  </a:tcPr>
                </a:tc>
                <a:tc>
                  <a:txBody>
                    <a:bodyPr wrap="square"/>
                    <a:lstStyle/>
                    <a:p>
                      <a:r>
                        <a:rPr sz="1400" b="0">
                          <a:solidFill>
                            <a:srgbClr val="0F172A"/>
                          </a:solidFill>
                          <a:latin typeface="Calibri"/>
                        </a:rPr>
                        <a:t>Quel montant est encaissé ? Par quel moyen ? Comment évoluent les encaissements ?</a:t>
                      </a:r>
                    </a:p>
                  </a:txBody>
                  <a:tcPr marL="64008" marR="64008" marT="36576" marB="36576"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2 · OBJECTIFS DU PROJET</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Objectifs : de l'objectif global aux objectifs techniques</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7</a:t>
            </a:r>
          </a:p>
        </p:txBody>
      </p:sp>
      <p:sp>
        <p:nvSpPr>
          <p:cNvPr id="7" name="Rounded Rectangle 6"/>
          <p:cNvSpPr/>
          <p:nvPr/>
        </p:nvSpPr>
        <p:spPr>
          <a:xfrm>
            <a:off x="1737360" y="1325880"/>
            <a:ext cx="8686800" cy="749808"/>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847088" y="1362456"/>
            <a:ext cx="8467344" cy="676656"/>
          </a:xfrm>
          <a:prstGeom prst="rect">
            <a:avLst/>
          </a:prstGeom>
          <a:noFill/>
        </p:spPr>
        <p:txBody>
          <a:bodyPr wrap="square" anchor="ctr" lIns="45720" rIns="45720">
            <a:spAutoFit/>
          </a:bodyPr>
          <a:lstStyle/>
          <a:p>
            <a:pPr algn="ctr">
              <a:spcAft>
                <a:spcPts val="300"/>
              </a:spcAft>
            </a:pPr>
            <a:r>
              <a:rPr sz="1100" b="1">
                <a:solidFill>
                  <a:srgbClr val="BFDBFE"/>
                </a:solidFill>
                <a:latin typeface="Calibri"/>
              </a:rPr>
              <a:t>OBJECTIF GLOBAL</a:t>
            </a:r>
          </a:p>
          <a:p>
            <a:pPr algn="ctr">
              <a:spcAft>
                <a:spcPts val="300"/>
              </a:spcAft>
            </a:pPr>
            <a:r>
              <a:rPr sz="1500" b="1">
                <a:solidFill>
                  <a:srgbClr val="FFFFFF"/>
                </a:solidFill>
                <a:latin typeface="Calibri"/>
              </a:rPr>
              <a:t>Doter le drugstore d'une plateforme décisionnelle (DWH + BI + ML) pour piloter et anticiper son activité commerciale et opérationnelle</a:t>
            </a:r>
          </a:p>
        </p:txBody>
      </p:sp>
      <p:cxnSp>
        <p:nvCxnSpPr>
          <p:cNvPr id="9" name="Connector 8"/>
          <p:cNvCxnSpPr/>
          <p:nvPr/>
        </p:nvCxnSpPr>
        <p:spPr>
          <a:xfrm>
            <a:off x="6080760" y="2075688"/>
            <a:ext cx="0" cy="210312"/>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77340" y="2286000"/>
            <a:ext cx="905256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577340" y="228600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2468880"/>
            <a:ext cx="2148840" cy="91440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2648" y="2505456"/>
            <a:ext cx="1929384" cy="841248"/>
          </a:xfrm>
          <a:prstGeom prst="rect">
            <a:avLst/>
          </a:prstGeom>
          <a:noFill/>
        </p:spPr>
        <p:txBody>
          <a:bodyPr wrap="square" anchor="ctr" lIns="45720" rIns="45720">
            <a:spAutoFit/>
          </a:bodyPr>
          <a:lstStyle/>
          <a:p>
            <a:pPr algn="ctr">
              <a:spcAft>
                <a:spcPts val="300"/>
              </a:spcAft>
            </a:pPr>
            <a:r>
              <a:rPr sz="1100" b="1">
                <a:solidFill>
                  <a:srgbClr val="1E3A8A"/>
                </a:solidFill>
                <a:latin typeface="Calibri"/>
              </a:rPr>
              <a:t>SO1</a:t>
            </a:r>
          </a:p>
          <a:p>
            <a:pPr algn="ctr">
              <a:spcAft>
                <a:spcPts val="300"/>
              </a:spcAft>
            </a:pPr>
            <a:r>
              <a:rPr sz="1300" b="1">
                <a:solidFill>
                  <a:srgbClr val="0F172A"/>
                </a:solidFill>
                <a:latin typeface="Calibri"/>
              </a:rPr>
              <a:t>Piloter la performance commerciale</a:t>
            </a:r>
          </a:p>
        </p:txBody>
      </p:sp>
      <p:cxnSp>
        <p:nvCxnSpPr>
          <p:cNvPr id="14" name="Connector 13"/>
          <p:cNvCxnSpPr/>
          <p:nvPr/>
        </p:nvCxnSpPr>
        <p:spPr>
          <a:xfrm>
            <a:off x="1577340" y="3383280"/>
            <a:ext cx="0" cy="22860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 y="3611880"/>
            <a:ext cx="2148840" cy="109728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2648" y="3648456"/>
            <a:ext cx="1929384" cy="1024127"/>
          </a:xfrm>
          <a:prstGeom prst="rect">
            <a:avLst/>
          </a:prstGeom>
          <a:noFill/>
        </p:spPr>
        <p:txBody>
          <a:bodyPr wrap="square" anchor="ctr" lIns="45720" rIns="45720">
            <a:spAutoFit/>
          </a:bodyPr>
          <a:lstStyle/>
          <a:p>
            <a:pPr algn="ctr">
              <a:spcAft>
                <a:spcPts val="300"/>
              </a:spcAft>
            </a:pPr>
            <a:r>
              <a:rPr sz="1000" b="1">
                <a:solidFill>
                  <a:srgbClr val="CCFBF1"/>
                </a:solidFill>
                <a:latin typeface="Calibri"/>
              </a:rPr>
              <a:t>BI · VISUALISATION</a:t>
            </a:r>
          </a:p>
          <a:p>
            <a:pPr algn="ctr">
              <a:spcAft>
                <a:spcPts val="300"/>
              </a:spcAft>
            </a:pPr>
            <a:r>
              <a:rPr sz="1250" b="0">
                <a:solidFill>
                  <a:srgbClr val="FFFFFF"/>
                </a:solidFill>
                <a:latin typeface="Calibri"/>
              </a:rPr>
              <a:t>Dashboards Synthèse &amp; Commercial</a:t>
            </a:r>
          </a:p>
        </p:txBody>
      </p:sp>
      <p:cxnSp>
        <p:nvCxnSpPr>
          <p:cNvPr id="17" name="Connector 16"/>
          <p:cNvCxnSpPr/>
          <p:nvPr/>
        </p:nvCxnSpPr>
        <p:spPr>
          <a:xfrm>
            <a:off x="1577340" y="470916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4892040"/>
            <a:ext cx="2148840" cy="1097280"/>
          </a:xfrm>
          <a:prstGeom prst="roundRect">
            <a:avLst>
              <a:gd name="adj" fmla="val 8000"/>
            </a:avLst>
          </a:prstGeom>
          <a:solidFill>
            <a:srgbClr val="FFFFFF"/>
          </a:solidFill>
          <a:ln w="15875">
            <a:solidFill>
              <a:srgbClr val="CBD5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2648" y="4928616"/>
            <a:ext cx="1929384" cy="1024127"/>
          </a:xfrm>
          <a:prstGeom prst="rect">
            <a:avLst/>
          </a:prstGeom>
          <a:noFill/>
        </p:spPr>
        <p:txBody>
          <a:bodyPr wrap="square" anchor="ctr" lIns="45720" rIns="45720">
            <a:spAutoFit/>
          </a:bodyPr>
          <a:lstStyle/>
          <a:p>
            <a:pPr algn="ctr">
              <a:spcAft>
                <a:spcPts val="300"/>
              </a:spcAft>
            </a:pPr>
            <a:r>
              <a:rPr sz="1000" b="1">
                <a:solidFill>
                  <a:srgbClr val="475569"/>
                </a:solidFill>
                <a:latin typeface="Calibri"/>
              </a:rPr>
              <a:t>ML</a:t>
            </a:r>
          </a:p>
          <a:p>
            <a:pPr algn="ctr">
              <a:spcAft>
                <a:spcPts val="300"/>
              </a:spcAft>
            </a:pPr>
            <a:r>
              <a:rPr sz="1250" b="0">
                <a:solidFill>
                  <a:srgbClr val="475569"/>
                </a:solidFill>
                <a:latin typeface="Calibri"/>
              </a:rPr>
              <a:t>Besoin couvert par la BI</a:t>
            </a:r>
          </a:p>
        </p:txBody>
      </p:sp>
      <p:cxnSp>
        <p:nvCxnSpPr>
          <p:cNvPr id="20" name="Connector 19"/>
          <p:cNvCxnSpPr/>
          <p:nvPr/>
        </p:nvCxnSpPr>
        <p:spPr>
          <a:xfrm>
            <a:off x="3840480" y="228600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766060" y="2468880"/>
            <a:ext cx="2148840" cy="91440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875788" y="2505456"/>
            <a:ext cx="1929384" cy="841248"/>
          </a:xfrm>
          <a:prstGeom prst="rect">
            <a:avLst/>
          </a:prstGeom>
          <a:noFill/>
        </p:spPr>
        <p:txBody>
          <a:bodyPr wrap="square" anchor="ctr" lIns="45720" rIns="45720">
            <a:spAutoFit/>
          </a:bodyPr>
          <a:lstStyle/>
          <a:p>
            <a:pPr algn="ctr">
              <a:spcAft>
                <a:spcPts val="300"/>
              </a:spcAft>
            </a:pPr>
            <a:r>
              <a:rPr sz="1100" b="1">
                <a:solidFill>
                  <a:srgbClr val="1E3A8A"/>
                </a:solidFill>
                <a:latin typeface="Calibri"/>
              </a:rPr>
              <a:t>SO2</a:t>
            </a:r>
          </a:p>
          <a:p>
            <a:pPr algn="ctr">
              <a:spcAft>
                <a:spcPts val="300"/>
              </a:spcAft>
            </a:pPr>
            <a:r>
              <a:rPr sz="1300" b="1">
                <a:solidFill>
                  <a:srgbClr val="0F172A"/>
                </a:solidFill>
                <a:latin typeface="Calibri"/>
              </a:rPr>
              <a:t>Optimiser les stocks et l'approvisionnement</a:t>
            </a:r>
          </a:p>
        </p:txBody>
      </p:sp>
      <p:cxnSp>
        <p:nvCxnSpPr>
          <p:cNvPr id="23" name="Connector 22"/>
          <p:cNvCxnSpPr/>
          <p:nvPr/>
        </p:nvCxnSpPr>
        <p:spPr>
          <a:xfrm>
            <a:off x="3840480" y="3383280"/>
            <a:ext cx="0" cy="22860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766060" y="3611880"/>
            <a:ext cx="2148840" cy="109728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875788" y="3648456"/>
            <a:ext cx="1929384" cy="1024127"/>
          </a:xfrm>
          <a:prstGeom prst="rect">
            <a:avLst/>
          </a:prstGeom>
          <a:noFill/>
        </p:spPr>
        <p:txBody>
          <a:bodyPr wrap="square" anchor="ctr" lIns="45720" rIns="45720">
            <a:spAutoFit/>
          </a:bodyPr>
          <a:lstStyle/>
          <a:p>
            <a:pPr algn="ctr">
              <a:spcAft>
                <a:spcPts val="300"/>
              </a:spcAft>
            </a:pPr>
            <a:r>
              <a:rPr sz="1000" b="1">
                <a:solidFill>
                  <a:srgbClr val="CCFBF1"/>
                </a:solidFill>
                <a:latin typeface="Calibri"/>
              </a:rPr>
              <a:t>BI · VISUALISATION</a:t>
            </a:r>
          </a:p>
          <a:p>
            <a:pPr algn="ctr">
              <a:spcAft>
                <a:spcPts val="300"/>
              </a:spcAft>
            </a:pPr>
            <a:r>
              <a:rPr sz="1250" b="0">
                <a:solidFill>
                  <a:srgbClr val="FFFFFF"/>
                </a:solidFill>
                <a:latin typeface="Calibri"/>
              </a:rPr>
              <a:t>Dashboard Stock : stock disponible, ruptures, stock faible</a:t>
            </a:r>
          </a:p>
        </p:txBody>
      </p:sp>
      <p:cxnSp>
        <p:nvCxnSpPr>
          <p:cNvPr id="26" name="Connector 25"/>
          <p:cNvCxnSpPr/>
          <p:nvPr/>
        </p:nvCxnSpPr>
        <p:spPr>
          <a:xfrm>
            <a:off x="3840480" y="470916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766060" y="4892040"/>
            <a:ext cx="2148840" cy="109728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875788" y="4928616"/>
            <a:ext cx="1929384" cy="1024127"/>
          </a:xfrm>
          <a:prstGeom prst="rect">
            <a:avLst/>
          </a:prstGeom>
          <a:noFill/>
        </p:spPr>
        <p:txBody>
          <a:bodyPr wrap="square" anchor="ctr" lIns="45720" rIns="45720">
            <a:spAutoFit/>
          </a:bodyPr>
          <a:lstStyle/>
          <a:p>
            <a:pPr algn="ctr">
              <a:spcAft>
                <a:spcPts val="300"/>
              </a:spcAft>
            </a:pPr>
            <a:r>
              <a:rPr sz="1000" b="1">
                <a:solidFill>
                  <a:srgbClr val="EDE9FE"/>
                </a:solidFill>
                <a:latin typeface="Calibri"/>
              </a:rPr>
              <a:t>ML · MACHINE LEARNING</a:t>
            </a:r>
          </a:p>
          <a:p>
            <a:pPr algn="ctr">
              <a:spcAft>
                <a:spcPts val="300"/>
              </a:spcAft>
            </a:pPr>
            <a:r>
              <a:rPr sz="1250" b="0">
                <a:solidFill>
                  <a:srgbClr val="FFFFFF"/>
                </a:solidFill>
                <a:latin typeface="Calibri"/>
              </a:rPr>
              <a:t>Prévision de la demande hebdomadaire</a:t>
            </a:r>
          </a:p>
        </p:txBody>
      </p:sp>
      <p:cxnSp>
        <p:nvCxnSpPr>
          <p:cNvPr id="29" name="Connector 28"/>
          <p:cNvCxnSpPr/>
          <p:nvPr/>
        </p:nvCxnSpPr>
        <p:spPr>
          <a:xfrm>
            <a:off x="6103620" y="228600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029200" y="2468880"/>
            <a:ext cx="2148840" cy="91440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138928" y="2505456"/>
            <a:ext cx="1929384" cy="841248"/>
          </a:xfrm>
          <a:prstGeom prst="rect">
            <a:avLst/>
          </a:prstGeom>
          <a:noFill/>
        </p:spPr>
        <p:txBody>
          <a:bodyPr wrap="square" anchor="ctr" lIns="45720" rIns="45720">
            <a:spAutoFit/>
          </a:bodyPr>
          <a:lstStyle/>
          <a:p>
            <a:pPr algn="ctr">
              <a:spcAft>
                <a:spcPts val="300"/>
              </a:spcAft>
            </a:pPr>
            <a:r>
              <a:rPr sz="1100" b="1">
                <a:solidFill>
                  <a:srgbClr val="1E3A8A"/>
                </a:solidFill>
                <a:latin typeface="Calibri"/>
              </a:rPr>
              <a:t>SO3</a:t>
            </a:r>
          </a:p>
          <a:p>
            <a:pPr algn="ctr">
              <a:spcAft>
                <a:spcPts val="300"/>
              </a:spcAft>
            </a:pPr>
            <a:r>
              <a:rPr sz="1300" b="1">
                <a:solidFill>
                  <a:srgbClr val="0F172A"/>
                </a:solidFill>
                <a:latin typeface="Calibri"/>
              </a:rPr>
              <a:t>Connaître et fidéliser les clients</a:t>
            </a:r>
          </a:p>
        </p:txBody>
      </p:sp>
      <p:cxnSp>
        <p:nvCxnSpPr>
          <p:cNvPr id="32" name="Connector 31"/>
          <p:cNvCxnSpPr/>
          <p:nvPr/>
        </p:nvCxnSpPr>
        <p:spPr>
          <a:xfrm>
            <a:off x="6103620" y="3383280"/>
            <a:ext cx="0" cy="22860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029200" y="3611880"/>
            <a:ext cx="2148840" cy="109728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138928" y="3648456"/>
            <a:ext cx="1929384" cy="1024127"/>
          </a:xfrm>
          <a:prstGeom prst="rect">
            <a:avLst/>
          </a:prstGeom>
          <a:noFill/>
        </p:spPr>
        <p:txBody>
          <a:bodyPr wrap="square" anchor="ctr" lIns="45720" rIns="45720">
            <a:spAutoFit/>
          </a:bodyPr>
          <a:lstStyle/>
          <a:p>
            <a:pPr algn="ctr">
              <a:spcAft>
                <a:spcPts val="300"/>
              </a:spcAft>
            </a:pPr>
            <a:r>
              <a:rPr sz="1000" b="1">
                <a:solidFill>
                  <a:srgbClr val="CCFBF1"/>
                </a:solidFill>
                <a:latin typeface="Calibri"/>
              </a:rPr>
              <a:t>BI · VISUALISATION</a:t>
            </a:r>
          </a:p>
          <a:p>
            <a:pPr algn="ctr">
              <a:spcAft>
                <a:spcPts val="300"/>
              </a:spcAft>
            </a:pPr>
            <a:r>
              <a:rPr sz="1250" b="0">
                <a:solidFill>
                  <a:srgbClr val="FFFFFF"/>
                </a:solidFill>
                <a:latin typeface="Calibri"/>
              </a:rPr>
              <a:t>Dashboard Clients : actifs, fréquence, panier</a:t>
            </a:r>
          </a:p>
        </p:txBody>
      </p:sp>
      <p:cxnSp>
        <p:nvCxnSpPr>
          <p:cNvPr id="35" name="Connector 34"/>
          <p:cNvCxnSpPr/>
          <p:nvPr/>
        </p:nvCxnSpPr>
        <p:spPr>
          <a:xfrm>
            <a:off x="6103620" y="470916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029200" y="4892040"/>
            <a:ext cx="2148840" cy="109728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138928" y="4928616"/>
            <a:ext cx="1929384" cy="1024127"/>
          </a:xfrm>
          <a:prstGeom prst="rect">
            <a:avLst/>
          </a:prstGeom>
          <a:noFill/>
        </p:spPr>
        <p:txBody>
          <a:bodyPr wrap="square" anchor="ctr" lIns="45720" rIns="45720">
            <a:spAutoFit/>
          </a:bodyPr>
          <a:lstStyle/>
          <a:p>
            <a:pPr algn="ctr">
              <a:spcAft>
                <a:spcPts val="300"/>
              </a:spcAft>
            </a:pPr>
            <a:r>
              <a:rPr sz="1000" b="1">
                <a:solidFill>
                  <a:srgbClr val="EDE9FE"/>
                </a:solidFill>
                <a:latin typeface="Calibri"/>
              </a:rPr>
              <a:t>ML · MACHINE LEARNING</a:t>
            </a:r>
          </a:p>
          <a:p>
            <a:pPr algn="ctr">
              <a:spcAft>
                <a:spcPts val="300"/>
              </a:spcAft>
            </a:pPr>
            <a:r>
              <a:rPr sz="1250" b="0">
                <a:solidFill>
                  <a:srgbClr val="FFFFFF"/>
                </a:solidFill>
                <a:latin typeface="Calibri"/>
              </a:rPr>
              <a:t>Segmentation des clients</a:t>
            </a:r>
          </a:p>
        </p:txBody>
      </p:sp>
      <p:cxnSp>
        <p:nvCxnSpPr>
          <p:cNvPr id="38" name="Connector 37"/>
          <p:cNvCxnSpPr/>
          <p:nvPr/>
        </p:nvCxnSpPr>
        <p:spPr>
          <a:xfrm>
            <a:off x="8366760" y="228600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292340" y="2468880"/>
            <a:ext cx="2148840" cy="91440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402068" y="2505456"/>
            <a:ext cx="1929384" cy="841248"/>
          </a:xfrm>
          <a:prstGeom prst="rect">
            <a:avLst/>
          </a:prstGeom>
          <a:noFill/>
        </p:spPr>
        <p:txBody>
          <a:bodyPr wrap="square" anchor="ctr" lIns="45720" rIns="45720">
            <a:spAutoFit/>
          </a:bodyPr>
          <a:lstStyle/>
          <a:p>
            <a:pPr algn="ctr">
              <a:spcAft>
                <a:spcPts val="300"/>
              </a:spcAft>
            </a:pPr>
            <a:r>
              <a:rPr sz="1100" b="1">
                <a:solidFill>
                  <a:srgbClr val="1E3A8A"/>
                </a:solidFill>
                <a:latin typeface="Calibri"/>
              </a:rPr>
              <a:t>SO4</a:t>
            </a:r>
          </a:p>
          <a:p>
            <a:pPr algn="ctr">
              <a:spcAft>
                <a:spcPts val="300"/>
              </a:spcAft>
            </a:pPr>
            <a:r>
              <a:rPr sz="1300" b="1">
                <a:solidFill>
                  <a:srgbClr val="0F172A"/>
                </a:solidFill>
                <a:latin typeface="Calibri"/>
              </a:rPr>
              <a:t>Protéger la marge</a:t>
            </a:r>
          </a:p>
        </p:txBody>
      </p:sp>
      <p:cxnSp>
        <p:nvCxnSpPr>
          <p:cNvPr id="41" name="Connector 40"/>
          <p:cNvCxnSpPr/>
          <p:nvPr/>
        </p:nvCxnSpPr>
        <p:spPr>
          <a:xfrm>
            <a:off x="8366760" y="3383280"/>
            <a:ext cx="0" cy="22860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7292340" y="3611880"/>
            <a:ext cx="2148840" cy="109728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402068" y="3648456"/>
            <a:ext cx="1929384" cy="1024127"/>
          </a:xfrm>
          <a:prstGeom prst="rect">
            <a:avLst/>
          </a:prstGeom>
          <a:noFill/>
        </p:spPr>
        <p:txBody>
          <a:bodyPr wrap="square" anchor="ctr" lIns="45720" rIns="45720">
            <a:spAutoFit/>
          </a:bodyPr>
          <a:lstStyle/>
          <a:p>
            <a:pPr algn="ctr">
              <a:spcAft>
                <a:spcPts val="300"/>
              </a:spcAft>
            </a:pPr>
            <a:r>
              <a:rPr sz="1000" b="1">
                <a:solidFill>
                  <a:srgbClr val="CCFBF1"/>
                </a:solidFill>
                <a:latin typeface="Calibri"/>
              </a:rPr>
              <a:t>BI · VISUALISATION</a:t>
            </a:r>
          </a:p>
          <a:p>
            <a:pPr algn="ctr">
              <a:spcAft>
                <a:spcPts val="300"/>
              </a:spcAft>
            </a:pPr>
            <a:r>
              <a:rPr sz="1250" b="0">
                <a:solidFill>
                  <a:srgbClr val="FFFFFF"/>
                </a:solidFill>
                <a:latin typeface="Calibri"/>
              </a:rPr>
              <a:t>Marge HT par produit, famille et marque (dashboard Commercial)</a:t>
            </a:r>
          </a:p>
        </p:txBody>
      </p:sp>
      <p:cxnSp>
        <p:nvCxnSpPr>
          <p:cNvPr id="44" name="Connector 43"/>
          <p:cNvCxnSpPr/>
          <p:nvPr/>
        </p:nvCxnSpPr>
        <p:spPr>
          <a:xfrm>
            <a:off x="8366760" y="470916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292340" y="4892040"/>
            <a:ext cx="2148840" cy="109728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402068" y="4928616"/>
            <a:ext cx="1929384" cy="1024127"/>
          </a:xfrm>
          <a:prstGeom prst="rect">
            <a:avLst/>
          </a:prstGeom>
          <a:noFill/>
        </p:spPr>
        <p:txBody>
          <a:bodyPr wrap="square" anchor="ctr" lIns="45720" rIns="45720">
            <a:spAutoFit/>
          </a:bodyPr>
          <a:lstStyle/>
          <a:p>
            <a:pPr algn="ctr">
              <a:spcAft>
                <a:spcPts val="300"/>
              </a:spcAft>
            </a:pPr>
            <a:r>
              <a:rPr sz="1000" b="1">
                <a:solidFill>
                  <a:srgbClr val="EDE9FE"/>
                </a:solidFill>
                <a:latin typeface="Calibri"/>
              </a:rPr>
              <a:t>ML · MACHINE LEARNING</a:t>
            </a:r>
          </a:p>
          <a:p>
            <a:pPr algn="ctr">
              <a:spcAft>
                <a:spcPts val="300"/>
              </a:spcAft>
            </a:pPr>
            <a:r>
              <a:rPr sz="1250" b="0">
                <a:solidFill>
                  <a:srgbClr val="FFFFFF"/>
                </a:solidFill>
                <a:latin typeface="Calibri"/>
              </a:rPr>
              <a:t>Détection d'anomalies sur les ventes</a:t>
            </a:r>
          </a:p>
        </p:txBody>
      </p:sp>
      <p:cxnSp>
        <p:nvCxnSpPr>
          <p:cNvPr id="47" name="Connector 46"/>
          <p:cNvCxnSpPr/>
          <p:nvPr/>
        </p:nvCxnSpPr>
        <p:spPr>
          <a:xfrm>
            <a:off x="10629900" y="228600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555480" y="2468880"/>
            <a:ext cx="2148840" cy="91440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665208" y="2505456"/>
            <a:ext cx="1929384" cy="841248"/>
          </a:xfrm>
          <a:prstGeom prst="rect">
            <a:avLst/>
          </a:prstGeom>
          <a:noFill/>
        </p:spPr>
        <p:txBody>
          <a:bodyPr wrap="square" anchor="ctr" lIns="45720" rIns="45720">
            <a:spAutoFit/>
          </a:bodyPr>
          <a:lstStyle/>
          <a:p>
            <a:pPr algn="ctr">
              <a:spcAft>
                <a:spcPts val="300"/>
              </a:spcAft>
            </a:pPr>
            <a:r>
              <a:rPr sz="1100" b="1">
                <a:solidFill>
                  <a:srgbClr val="1E3A8A"/>
                </a:solidFill>
                <a:latin typeface="Calibri"/>
              </a:rPr>
              <a:t>SO5</a:t>
            </a:r>
          </a:p>
          <a:p>
            <a:pPr algn="ctr">
              <a:spcAft>
                <a:spcPts val="300"/>
              </a:spcAft>
            </a:pPr>
            <a:r>
              <a:rPr sz="1300" b="1">
                <a:solidFill>
                  <a:srgbClr val="0F172A"/>
                </a:solidFill>
                <a:latin typeface="Calibri"/>
              </a:rPr>
              <a:t>Sécuriser la caisse et les paiements</a:t>
            </a:r>
          </a:p>
        </p:txBody>
      </p:sp>
      <p:cxnSp>
        <p:nvCxnSpPr>
          <p:cNvPr id="50" name="Connector 49"/>
          <p:cNvCxnSpPr/>
          <p:nvPr/>
        </p:nvCxnSpPr>
        <p:spPr>
          <a:xfrm>
            <a:off x="10629900" y="3383280"/>
            <a:ext cx="0" cy="22860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9555480" y="3611880"/>
            <a:ext cx="2148840" cy="109728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665208" y="3648456"/>
            <a:ext cx="1929384" cy="1024127"/>
          </a:xfrm>
          <a:prstGeom prst="rect">
            <a:avLst/>
          </a:prstGeom>
          <a:noFill/>
        </p:spPr>
        <p:txBody>
          <a:bodyPr wrap="square" anchor="ctr" lIns="45720" rIns="45720">
            <a:spAutoFit/>
          </a:bodyPr>
          <a:lstStyle/>
          <a:p>
            <a:pPr algn="ctr">
              <a:spcAft>
                <a:spcPts val="300"/>
              </a:spcAft>
            </a:pPr>
            <a:r>
              <a:rPr sz="1000" b="1">
                <a:solidFill>
                  <a:srgbClr val="CCFBF1"/>
                </a:solidFill>
                <a:latin typeface="Calibri"/>
              </a:rPr>
              <a:t>BI · VISUALISATION</a:t>
            </a:r>
          </a:p>
          <a:p>
            <a:pPr algn="ctr">
              <a:spcAft>
                <a:spcPts val="300"/>
              </a:spcAft>
            </a:pPr>
            <a:r>
              <a:rPr sz="1250" b="0">
                <a:solidFill>
                  <a:srgbClr val="FFFFFF"/>
                </a:solidFill>
                <a:latin typeface="Calibri"/>
              </a:rPr>
              <a:t>Dashboard Paiements &amp; caisse</a:t>
            </a:r>
          </a:p>
        </p:txBody>
      </p:sp>
      <p:cxnSp>
        <p:nvCxnSpPr>
          <p:cNvPr id="53" name="Connector 52"/>
          <p:cNvCxnSpPr/>
          <p:nvPr/>
        </p:nvCxnSpPr>
        <p:spPr>
          <a:xfrm>
            <a:off x="10629900" y="4709160"/>
            <a:ext cx="0" cy="1828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9555480" y="4892040"/>
            <a:ext cx="2148840" cy="109728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665208" y="4928616"/>
            <a:ext cx="1929384" cy="1024127"/>
          </a:xfrm>
          <a:prstGeom prst="rect">
            <a:avLst/>
          </a:prstGeom>
          <a:noFill/>
        </p:spPr>
        <p:txBody>
          <a:bodyPr wrap="square" anchor="ctr" lIns="45720" rIns="45720">
            <a:spAutoFit/>
          </a:bodyPr>
          <a:lstStyle/>
          <a:p>
            <a:pPr algn="ctr">
              <a:spcAft>
                <a:spcPts val="300"/>
              </a:spcAft>
            </a:pPr>
            <a:r>
              <a:rPr sz="1000" b="1">
                <a:solidFill>
                  <a:srgbClr val="EDE9FE"/>
                </a:solidFill>
                <a:latin typeface="Calibri"/>
              </a:rPr>
              <a:t>ML · MACHINE LEARNING</a:t>
            </a:r>
          </a:p>
          <a:p>
            <a:pPr algn="ctr">
              <a:spcAft>
                <a:spcPts val="300"/>
              </a:spcAft>
            </a:pPr>
            <a:r>
              <a:rPr sz="1250" b="0">
                <a:solidFill>
                  <a:srgbClr val="FFFFFF"/>
                </a:solidFill>
                <a:latin typeface="Calibri"/>
              </a:rPr>
              <a:t>Détection d'anomalies de caisse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2 · OBJECTIFS DU PROJET</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Objectifs techniques détaillés : KPI et cas de Machine Learning</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8</a:t>
            </a:r>
          </a:p>
        </p:txBody>
      </p:sp>
      <p:graphicFrame>
        <p:nvGraphicFramePr>
          <p:cNvPr id="7" name="Table 6"/>
          <p:cNvGraphicFramePr>
            <a:graphicFrameLocks noGrp="1"/>
          </p:cNvGraphicFramePr>
          <p:nvPr/>
        </p:nvGraphicFramePr>
        <p:xfrm>
          <a:off x="502920" y="1371600"/>
          <a:ext cx="11201399" cy="4718304"/>
        </p:xfrm>
        <a:graphic>
          <a:graphicData uri="http://schemas.openxmlformats.org/drawingml/2006/table">
            <a:tbl>
              <a:tblPr firstRow="1" bandRow="1">
                <a:tableStyleId>{5C22544A-7EE6-4342-B048-85BDC9FD1C3A}</a:tableStyleId>
              </a:tblPr>
              <a:tblGrid>
                <a:gridCol w="2743200"/>
                <a:gridCol w="3977639"/>
                <a:gridCol w="4480560"/>
              </a:tblGrid>
              <a:tr h="786384">
                <a:tc>
                  <a:txBody>
                    <a:bodyPr wrap="square"/>
                    <a:lstStyle/>
                    <a:p>
                      <a:r>
                        <a:rPr sz="1300" b="1">
                          <a:solidFill>
                            <a:srgbClr val="FFFFFF"/>
                          </a:solidFill>
                          <a:latin typeface="Calibri"/>
                        </a:rPr>
                        <a:t>Sous-objectif métier</a:t>
                      </a:r>
                    </a:p>
                  </a:txBody>
                  <a:tcPr marL="64008" marR="64008" marT="36576" marB="36576" anchor="ctr">
                    <a:solidFill>
                      <a:srgbClr val="1E3A8A"/>
                    </a:solidFill>
                  </a:tcPr>
                </a:tc>
                <a:tc>
                  <a:txBody>
                    <a:bodyPr wrap="square"/>
                    <a:lstStyle/>
                    <a:p>
                      <a:r>
                        <a:rPr sz="1300" b="1">
                          <a:solidFill>
                            <a:srgbClr val="FFFFFF"/>
                          </a:solidFill>
                          <a:latin typeface="Calibri"/>
                        </a:rPr>
                        <a:t>Objectif technique BI (KPI / reporting)</a:t>
                      </a:r>
                    </a:p>
                  </a:txBody>
                  <a:tcPr marL="64008" marR="64008" marT="36576" marB="36576" anchor="ctr">
                    <a:solidFill>
                      <a:srgbClr val="1E3A8A"/>
                    </a:solidFill>
                  </a:tcPr>
                </a:tc>
                <a:tc>
                  <a:txBody>
                    <a:bodyPr wrap="square"/>
                    <a:lstStyle/>
                    <a:p>
                      <a:r>
                        <a:rPr sz="1300" b="1">
                          <a:solidFill>
                            <a:srgbClr val="FFFFFF"/>
                          </a:solidFill>
                          <a:latin typeface="Calibri"/>
                        </a:rPr>
                        <a:t>Objectif technique ML (type · cible)</a:t>
                      </a:r>
                    </a:p>
                  </a:txBody>
                  <a:tcPr marL="64008" marR="64008" marT="36576" marB="36576" anchor="ctr">
                    <a:solidFill>
                      <a:srgbClr val="1E3A8A"/>
                    </a:solidFill>
                  </a:tcPr>
                </a:tc>
              </a:tr>
              <a:tr h="786384">
                <a:tc>
                  <a:txBody>
                    <a:bodyPr wrap="square"/>
                    <a:lstStyle/>
                    <a:p>
                      <a:r>
                        <a:rPr sz="1300" b="1">
                          <a:solidFill>
                            <a:srgbClr val="0F172A"/>
                          </a:solidFill>
                          <a:latin typeface="Calibri"/>
                        </a:rPr>
                        <a:t>SO1 · Performance commerciale</a:t>
                      </a:r>
                    </a:p>
                  </a:txBody>
                  <a:tcPr marL="64008" marR="64008" marT="36576" marB="36576" anchor="ctr">
                    <a:solidFill>
                      <a:srgbClr val="FFFFFF"/>
                    </a:solidFill>
                  </a:tcPr>
                </a:tc>
                <a:tc>
                  <a:txBody>
                    <a:bodyPr wrap="square"/>
                    <a:lstStyle/>
                    <a:p>
                      <a:r>
                        <a:rPr sz="1300" b="0">
                          <a:solidFill>
                            <a:srgbClr val="0F172A"/>
                          </a:solidFill>
                          <a:latin typeface="Calibri"/>
                        </a:rPr>
                        <a:t>CA HT, croissance %, nb de ventes, panier moyen,</a:t>
                      </a:r>
                    </a:p>
                    <a:p>
                      <a:r>
                        <a:rPr sz="1300" b="0">
                          <a:solidFill>
                            <a:srgbClr val="0F172A"/>
                          </a:solidFill>
                          <a:latin typeface="Calibri"/>
                        </a:rPr>
                        <a:t>top produits et marques par période</a:t>
                      </a:r>
                    </a:p>
                  </a:txBody>
                  <a:tcPr marL="64008" marR="64008" marT="36576" marB="36576" anchor="ctr">
                    <a:solidFill>
                      <a:srgbClr val="FFFFFF"/>
                    </a:solidFill>
                  </a:tcPr>
                </a:tc>
                <a:tc>
                  <a:txBody>
                    <a:bodyPr wrap="square"/>
                    <a:lstStyle/>
                    <a:p>
                      <a:r>
                        <a:rPr sz="1300" b="0">
                          <a:solidFill>
                            <a:srgbClr val="0F172A"/>
                          </a:solidFill>
                          <a:latin typeface="Calibri"/>
                        </a:rPr>
                        <a:t>—</a:t>
                      </a:r>
                    </a:p>
                  </a:txBody>
                  <a:tcPr marL="64008" marR="64008" marT="36576" marB="36576" anchor="ctr">
                    <a:solidFill>
                      <a:srgbClr val="FFFFFF"/>
                    </a:solidFill>
                  </a:tcPr>
                </a:tc>
              </a:tr>
              <a:tr h="786384">
                <a:tc>
                  <a:txBody>
                    <a:bodyPr wrap="square"/>
                    <a:lstStyle/>
                    <a:p>
                      <a:r>
                        <a:rPr sz="1300" b="1">
                          <a:solidFill>
                            <a:srgbClr val="0F172A"/>
                          </a:solidFill>
                          <a:latin typeface="Calibri"/>
                        </a:rPr>
                        <a:t>SO2 · Stocks et approvisionnement</a:t>
                      </a:r>
                    </a:p>
                  </a:txBody>
                  <a:tcPr marL="64008" marR="64008" marT="36576" marB="36576" anchor="ctr">
                    <a:solidFill>
                      <a:srgbClr val="F8FAFC"/>
                    </a:solidFill>
                  </a:tcPr>
                </a:tc>
                <a:tc>
                  <a:txBody>
                    <a:bodyPr wrap="square"/>
                    <a:lstStyle/>
                    <a:p>
                      <a:r>
                        <a:rPr sz="1300" b="0">
                          <a:solidFill>
                            <a:srgbClr val="0F172A"/>
                          </a:solidFill>
                          <a:latin typeface="Calibri"/>
                        </a:rPr>
                        <a:t>Stock disponible, produits en rupture,</a:t>
                      </a:r>
                    </a:p>
                    <a:p>
                      <a:r>
                        <a:rPr sz="1300" b="0">
                          <a:solidFill>
                            <a:srgbClr val="0F172A"/>
                          </a:solidFill>
                          <a:latin typeface="Calibri"/>
                        </a:rPr>
                        <a:t>produits en stock faible</a:t>
                      </a:r>
                    </a:p>
                  </a:txBody>
                  <a:tcPr marL="64008" marR="64008" marT="36576" marB="36576" anchor="ctr">
                    <a:solidFill>
                      <a:srgbClr val="F8FAFC"/>
                    </a:solidFill>
                  </a:tcPr>
                </a:tc>
                <a:tc>
                  <a:txBody>
                    <a:bodyPr wrap="square"/>
                    <a:lstStyle/>
                    <a:p>
                      <a:r>
                        <a:rPr sz="1300" b="1">
                          <a:solidFill>
                            <a:srgbClr val="0F172A"/>
                          </a:solidFill>
                          <a:latin typeface="Calibri"/>
                        </a:rPr>
                        <a:t>Prévision de la demande</a:t>
                      </a:r>
                      <a:r>
                        <a:rPr sz="1300" b="0">
                          <a:solidFill>
                            <a:srgbClr val="0F172A"/>
                          </a:solidFill>
                          <a:latin typeface="Calibri"/>
                        </a:rPr>
                        <a:t> · régression / séries temporelles</a:t>
                      </a:r>
                    </a:p>
                    <a:p>
                      <a:r>
                        <a:rPr sz="1300" b="0">
                          <a:solidFill>
                            <a:srgbClr val="0F172A"/>
                          </a:solidFill>
                          <a:latin typeface="Calibri"/>
                        </a:rPr>
                        <a:t>Y = quantité vendue la semaine suivante, par famille / marque</a:t>
                      </a:r>
                    </a:p>
                  </a:txBody>
                  <a:tcPr marL="64008" marR="64008" marT="36576" marB="36576" anchor="ctr">
                    <a:solidFill>
                      <a:srgbClr val="F8FAFC"/>
                    </a:solidFill>
                  </a:tcPr>
                </a:tc>
              </a:tr>
              <a:tr h="786384">
                <a:tc>
                  <a:txBody>
                    <a:bodyPr wrap="square"/>
                    <a:lstStyle/>
                    <a:p>
                      <a:r>
                        <a:rPr sz="1300" b="1">
                          <a:solidFill>
                            <a:srgbClr val="0F172A"/>
                          </a:solidFill>
                          <a:latin typeface="Calibri"/>
                        </a:rPr>
                        <a:t>SO3 · Clients</a:t>
                      </a:r>
                    </a:p>
                  </a:txBody>
                  <a:tcPr marL="64008" marR="64008" marT="36576" marB="36576" anchor="ctr">
                    <a:solidFill>
                      <a:srgbClr val="FFFFFF"/>
                    </a:solidFill>
                  </a:tcPr>
                </a:tc>
                <a:tc>
                  <a:txBody>
                    <a:bodyPr wrap="square"/>
                    <a:lstStyle/>
                    <a:p>
                      <a:r>
                        <a:rPr sz="1300" b="0">
                          <a:solidFill>
                            <a:srgbClr val="0F172A"/>
                          </a:solidFill>
                          <a:latin typeface="Calibri"/>
                        </a:rPr>
                        <a:t>Clients actifs, fréquence d'achat, panier client,</a:t>
                      </a:r>
                    </a:p>
                    <a:p>
                      <a:r>
                        <a:rPr sz="1300" b="0">
                          <a:solidFill>
                            <a:srgbClr val="0F172A"/>
                          </a:solidFill>
                          <a:latin typeface="Calibri"/>
                        </a:rPr>
                        <a:t>CA par client et par type (B2B / particulier)</a:t>
                      </a:r>
                    </a:p>
                  </a:txBody>
                  <a:tcPr marL="64008" marR="64008" marT="36576" marB="36576" anchor="ctr">
                    <a:solidFill>
                      <a:srgbClr val="FFFFFF"/>
                    </a:solidFill>
                  </a:tcPr>
                </a:tc>
                <a:tc>
                  <a:txBody>
                    <a:bodyPr wrap="square"/>
                    <a:lstStyle/>
                    <a:p>
                      <a:r>
                        <a:rPr sz="1300" b="1">
                          <a:solidFill>
                            <a:srgbClr val="0F172A"/>
                          </a:solidFill>
                          <a:latin typeface="Calibri"/>
                        </a:rPr>
                        <a:t>Segmentation</a:t>
                      </a:r>
                      <a:r>
                        <a:rPr sz="1300" b="0">
                          <a:solidFill>
                            <a:srgbClr val="0F172A"/>
                          </a:solidFill>
                          <a:latin typeface="Calibri"/>
                        </a:rPr>
                        <a:t> · clustering non supervisé</a:t>
                      </a:r>
                    </a:p>
                    <a:p>
                      <a:r>
                        <a:rPr sz="1300" b="0">
                          <a:solidFill>
                            <a:srgbClr val="0F172A"/>
                          </a:solidFill>
                          <a:latin typeface="Calibri"/>
                        </a:rPr>
                        <a:t>pas de cible : groupes de clients homogènes</a:t>
                      </a:r>
                    </a:p>
                  </a:txBody>
                  <a:tcPr marL="64008" marR="64008" marT="36576" marB="36576" anchor="ctr">
                    <a:solidFill>
                      <a:srgbClr val="FFFFFF"/>
                    </a:solidFill>
                  </a:tcPr>
                </a:tc>
              </a:tr>
              <a:tr h="786384">
                <a:tc>
                  <a:txBody>
                    <a:bodyPr wrap="square"/>
                    <a:lstStyle/>
                    <a:p>
                      <a:r>
                        <a:rPr sz="1300" b="1">
                          <a:solidFill>
                            <a:srgbClr val="0F172A"/>
                          </a:solidFill>
                          <a:latin typeface="Calibri"/>
                        </a:rPr>
                        <a:t>SO4 · Marge</a:t>
                      </a:r>
                    </a:p>
                  </a:txBody>
                  <a:tcPr marL="64008" marR="64008" marT="36576" marB="36576" anchor="ctr">
                    <a:solidFill>
                      <a:srgbClr val="F8FAFC"/>
                    </a:solidFill>
                  </a:tcPr>
                </a:tc>
                <a:tc>
                  <a:txBody>
                    <a:bodyPr wrap="square"/>
                    <a:lstStyle/>
                    <a:p>
                      <a:r>
                        <a:rPr sz="1300" b="0">
                          <a:solidFill>
                            <a:srgbClr val="0F172A"/>
                          </a:solidFill>
                          <a:latin typeface="Calibri"/>
                        </a:rPr>
                        <a:t>Marge HT = CA HT − coût HT, calculée comme mesure</a:t>
                      </a:r>
                    </a:p>
                    <a:p>
                      <a:r>
                        <a:rPr sz="1300" b="0">
                          <a:solidFill>
                            <a:srgbClr val="0F172A"/>
                          </a:solidFill>
                          <a:latin typeface="Calibri"/>
                        </a:rPr>
                        <a:t>par produit, famille, marque et période</a:t>
                      </a:r>
                    </a:p>
                  </a:txBody>
                  <a:tcPr marL="64008" marR="64008" marT="36576" marB="36576" anchor="ctr">
                    <a:solidFill>
                      <a:srgbClr val="F8FAFC"/>
                    </a:solidFill>
                  </a:tcPr>
                </a:tc>
                <a:tc>
                  <a:txBody>
                    <a:bodyPr wrap="square"/>
                    <a:lstStyle/>
                    <a:p>
                      <a:r>
                        <a:rPr sz="1300" b="1">
                          <a:solidFill>
                            <a:srgbClr val="0F172A"/>
                          </a:solidFill>
                          <a:latin typeface="Calibri"/>
                        </a:rPr>
                        <a:t>Détection d'anomalies sur les ventes</a:t>
                      </a:r>
                      <a:r>
                        <a:rPr sz="1300" b="0">
                          <a:solidFill>
                            <a:srgbClr val="0F172A"/>
                          </a:solidFill>
                          <a:latin typeface="Calibri"/>
                        </a:rPr>
                        <a:t> · non supervisé</a:t>
                      </a:r>
                    </a:p>
                    <a:p>
                      <a:r>
                        <a:rPr sz="1300" b="0">
                          <a:solidFill>
                            <a:srgbClr val="0F172A"/>
                          </a:solidFill>
                          <a:latin typeface="Calibri"/>
                        </a:rPr>
                        <a:t>liste des lignes de vente à contrôler</a:t>
                      </a:r>
                    </a:p>
                  </a:txBody>
                  <a:tcPr marL="64008" marR="64008" marT="36576" marB="36576" anchor="ctr">
                    <a:solidFill>
                      <a:srgbClr val="F8FAFC"/>
                    </a:solidFill>
                  </a:tcPr>
                </a:tc>
              </a:tr>
              <a:tr h="786384">
                <a:tc>
                  <a:txBody>
                    <a:bodyPr wrap="square"/>
                    <a:lstStyle/>
                    <a:p>
                      <a:r>
                        <a:rPr sz="1300" b="1">
                          <a:solidFill>
                            <a:srgbClr val="0F172A"/>
                          </a:solidFill>
                          <a:latin typeface="Calibri"/>
                        </a:rPr>
                        <a:t>SO5 · Caisse et paiements</a:t>
                      </a:r>
                    </a:p>
                  </a:txBody>
                  <a:tcPr marL="64008" marR="64008" marT="36576" marB="36576" anchor="ctr">
                    <a:solidFill>
                      <a:srgbClr val="FFFFFF"/>
                    </a:solidFill>
                  </a:tcPr>
                </a:tc>
                <a:tc>
                  <a:txBody>
                    <a:bodyPr wrap="square"/>
                    <a:lstStyle/>
                    <a:p>
                      <a:r>
                        <a:rPr sz="1300" b="0">
                          <a:solidFill>
                            <a:srgbClr val="0F172A"/>
                          </a:solidFill>
                          <a:latin typeface="Calibri"/>
                        </a:rPr>
                        <a:t>Montant encaissé, nombre de paiements,</a:t>
                      </a:r>
                    </a:p>
                    <a:p>
                      <a:r>
                        <a:rPr sz="1300" b="0">
                          <a:solidFill>
                            <a:srgbClr val="0F172A"/>
                          </a:solidFill>
                          <a:latin typeface="Calibri"/>
                        </a:rPr>
                        <a:t>par moyen de paiement et par période</a:t>
                      </a:r>
                    </a:p>
                  </a:txBody>
                  <a:tcPr marL="64008" marR="64008" marT="36576" marB="36576" anchor="ctr">
                    <a:solidFill>
                      <a:srgbClr val="FFFFFF"/>
                    </a:solidFill>
                  </a:tcPr>
                </a:tc>
                <a:tc>
                  <a:txBody>
                    <a:bodyPr wrap="square"/>
                    <a:lstStyle/>
                    <a:p>
                      <a:r>
                        <a:rPr sz="1300" b="1">
                          <a:solidFill>
                            <a:srgbClr val="0F172A"/>
                          </a:solidFill>
                          <a:latin typeface="Calibri"/>
                        </a:rPr>
                        <a:t>Détection d'anomalies de caisse</a:t>
                      </a:r>
                      <a:r>
                        <a:rPr sz="1300" b="0">
                          <a:solidFill>
                            <a:srgbClr val="0F172A"/>
                          </a:solidFill>
                          <a:latin typeface="Calibri"/>
                        </a:rPr>
                        <a:t> · anomalies / classification</a:t>
                      </a:r>
                    </a:p>
                    <a:p>
                      <a:r>
                        <a:rPr sz="1300" b="0">
                          <a:solidFill>
                            <a:srgbClr val="0F172A"/>
                          </a:solidFill>
                          <a:latin typeface="Calibri"/>
                        </a:rPr>
                        <a:t>Y = opération annulée (oui / non)</a:t>
                      </a:r>
                    </a:p>
                  </a:txBody>
                  <a:tcPr marL="64008" marR="64008" marT="36576" marB="36576"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3 · MÉTHODOLOGIE DE TRAVAIL</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Une démarche itérative, inspirée de CRISP-DM</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9</a:t>
            </a:r>
          </a:p>
        </p:txBody>
      </p:sp>
      <p:sp>
        <p:nvSpPr>
          <p:cNvPr id="7" name="Rounded Rectangle 6"/>
          <p:cNvSpPr/>
          <p:nvPr/>
        </p:nvSpPr>
        <p:spPr>
          <a:xfrm>
            <a:off x="502920" y="1463040"/>
            <a:ext cx="1417320" cy="109728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6072" y="1499616"/>
            <a:ext cx="1271016" cy="1024127"/>
          </a:xfrm>
          <a:prstGeom prst="rect">
            <a:avLst/>
          </a:prstGeom>
          <a:noFill/>
        </p:spPr>
        <p:txBody>
          <a:bodyPr wrap="square" anchor="ctr" lIns="45720" rIns="45720">
            <a:spAutoFit/>
          </a:bodyPr>
          <a:lstStyle/>
          <a:p>
            <a:pPr algn="ctr">
              <a:spcAft>
                <a:spcPts val="300"/>
              </a:spcAft>
            </a:pPr>
            <a:r>
              <a:rPr sz="1200" b="1">
                <a:solidFill>
                  <a:srgbClr val="C7D2FE"/>
                </a:solidFill>
                <a:latin typeface="Calibri"/>
              </a:rPr>
              <a:t>1</a:t>
            </a:r>
          </a:p>
          <a:p>
            <a:pPr algn="ctr">
              <a:spcAft>
                <a:spcPts val="300"/>
              </a:spcAft>
            </a:pPr>
            <a:r>
              <a:rPr sz="1400" b="1">
                <a:solidFill>
                  <a:srgbClr val="FFFFFF"/>
                </a:solidFill>
                <a:latin typeface="Calibri"/>
              </a:rPr>
              <a:t>Compréhension métier</a:t>
            </a:r>
          </a:p>
        </p:txBody>
      </p:sp>
      <p:sp>
        <p:nvSpPr>
          <p:cNvPr id="9" name="Right Arrow 8"/>
          <p:cNvSpPr/>
          <p:nvPr/>
        </p:nvSpPr>
        <p:spPr>
          <a:xfrm>
            <a:off x="1947672" y="1901952"/>
            <a:ext cx="146304" cy="219456"/>
          </a:xfrm>
          <a:prstGeom prst="rightArrow">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51760"/>
            <a:ext cx="1508760" cy="548640"/>
          </a:xfrm>
          <a:prstGeom prst="rect">
            <a:avLst/>
          </a:prstGeom>
          <a:noFill/>
        </p:spPr>
        <p:txBody>
          <a:bodyPr wrap="square" anchor="t" lIns="45720" rIns="45720">
            <a:spAutoFit/>
          </a:bodyPr>
          <a:lstStyle/>
          <a:p>
            <a:pPr algn="ctr">
              <a:spcAft>
                <a:spcPts val="600"/>
              </a:spcAft>
            </a:pPr>
            <a:r>
              <a:rPr sz="1200" b="0">
                <a:solidFill>
                  <a:srgbClr val="475569"/>
                </a:solidFill>
                <a:latin typeface="Calibri"/>
              </a:rPr>
              <a:t>Cahier de spécification</a:t>
            </a:r>
          </a:p>
        </p:txBody>
      </p:sp>
      <p:sp>
        <p:nvSpPr>
          <p:cNvPr id="11" name="Rounded Rectangle 10"/>
          <p:cNvSpPr/>
          <p:nvPr/>
        </p:nvSpPr>
        <p:spPr>
          <a:xfrm>
            <a:off x="2121408" y="1463040"/>
            <a:ext cx="1417320" cy="109728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1499616"/>
            <a:ext cx="1271016" cy="1024127"/>
          </a:xfrm>
          <a:prstGeom prst="rect">
            <a:avLst/>
          </a:prstGeom>
          <a:noFill/>
        </p:spPr>
        <p:txBody>
          <a:bodyPr wrap="square" anchor="ctr" lIns="45720" rIns="45720">
            <a:spAutoFit/>
          </a:bodyPr>
          <a:lstStyle/>
          <a:p>
            <a:pPr algn="ctr">
              <a:spcAft>
                <a:spcPts val="300"/>
              </a:spcAft>
            </a:pPr>
            <a:r>
              <a:rPr sz="1200" b="1">
                <a:solidFill>
                  <a:srgbClr val="C7D2FE"/>
                </a:solidFill>
                <a:latin typeface="Calibri"/>
              </a:rPr>
              <a:t>2</a:t>
            </a:r>
          </a:p>
          <a:p>
            <a:pPr algn="ctr">
              <a:spcAft>
                <a:spcPts val="300"/>
              </a:spcAft>
            </a:pPr>
            <a:r>
              <a:rPr sz="1400" b="1">
                <a:solidFill>
                  <a:srgbClr val="FFFFFF"/>
                </a:solidFill>
                <a:latin typeface="Calibri"/>
              </a:rPr>
              <a:t>Profilage des 29 CSV</a:t>
            </a:r>
          </a:p>
        </p:txBody>
      </p:sp>
      <p:sp>
        <p:nvSpPr>
          <p:cNvPr id="13" name="Right Arrow 12"/>
          <p:cNvSpPr/>
          <p:nvPr/>
        </p:nvSpPr>
        <p:spPr>
          <a:xfrm>
            <a:off x="3566160" y="1901952"/>
            <a:ext cx="146304" cy="219456"/>
          </a:xfrm>
          <a:prstGeom prst="rightArrow">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75688" y="2651760"/>
            <a:ext cx="1508760" cy="548640"/>
          </a:xfrm>
          <a:prstGeom prst="rect">
            <a:avLst/>
          </a:prstGeom>
          <a:noFill/>
        </p:spPr>
        <p:txBody>
          <a:bodyPr wrap="square" anchor="t" lIns="45720" rIns="45720">
            <a:spAutoFit/>
          </a:bodyPr>
          <a:lstStyle/>
          <a:p>
            <a:pPr algn="ctr">
              <a:spcAft>
                <a:spcPts val="600"/>
              </a:spcAft>
            </a:pPr>
            <a:r>
              <a:rPr sz="1200" b="0">
                <a:solidFill>
                  <a:srgbClr val="475569"/>
                </a:solidFill>
                <a:latin typeface="Calibri"/>
              </a:rPr>
              <a:t>Clés, formats, qualité</a:t>
            </a:r>
          </a:p>
        </p:txBody>
      </p:sp>
      <p:sp>
        <p:nvSpPr>
          <p:cNvPr id="15" name="Rounded Rectangle 14"/>
          <p:cNvSpPr/>
          <p:nvPr/>
        </p:nvSpPr>
        <p:spPr>
          <a:xfrm>
            <a:off x="3739896" y="1463040"/>
            <a:ext cx="1417320" cy="109728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13048" y="1499616"/>
            <a:ext cx="1271016" cy="1024127"/>
          </a:xfrm>
          <a:prstGeom prst="rect">
            <a:avLst/>
          </a:prstGeom>
          <a:noFill/>
        </p:spPr>
        <p:txBody>
          <a:bodyPr wrap="square" anchor="ctr" lIns="45720" rIns="45720">
            <a:spAutoFit/>
          </a:bodyPr>
          <a:lstStyle/>
          <a:p>
            <a:pPr algn="ctr">
              <a:spcAft>
                <a:spcPts val="300"/>
              </a:spcAft>
            </a:pPr>
            <a:r>
              <a:rPr sz="1200" b="1">
                <a:solidFill>
                  <a:srgbClr val="C7D2FE"/>
                </a:solidFill>
                <a:latin typeface="Calibri"/>
              </a:rPr>
              <a:t>3</a:t>
            </a:r>
          </a:p>
          <a:p>
            <a:pPr algn="ctr">
              <a:spcAft>
                <a:spcPts val="300"/>
              </a:spcAft>
            </a:pPr>
            <a:r>
              <a:rPr sz="1400" b="1">
                <a:solidFill>
                  <a:srgbClr val="FFFFFF"/>
                </a:solidFill>
                <a:latin typeface="Calibri"/>
              </a:rPr>
              <a:t>Nettoyage</a:t>
            </a:r>
          </a:p>
        </p:txBody>
      </p:sp>
      <p:sp>
        <p:nvSpPr>
          <p:cNvPr id="17" name="Right Arrow 16"/>
          <p:cNvSpPr/>
          <p:nvPr/>
        </p:nvSpPr>
        <p:spPr>
          <a:xfrm>
            <a:off x="5184648" y="1901952"/>
            <a:ext cx="146304" cy="219456"/>
          </a:xfrm>
          <a:prstGeom prst="rightArrow">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51760"/>
            <a:ext cx="1508760" cy="548640"/>
          </a:xfrm>
          <a:prstGeom prst="rect">
            <a:avLst/>
          </a:prstGeom>
          <a:noFill/>
        </p:spPr>
        <p:txBody>
          <a:bodyPr wrap="square" anchor="t" lIns="45720" rIns="45720">
            <a:spAutoFit/>
          </a:bodyPr>
          <a:lstStyle/>
          <a:p>
            <a:pPr algn="ctr">
              <a:spcAft>
                <a:spcPts val="600"/>
              </a:spcAft>
            </a:pPr>
            <a:r>
              <a:rPr sz="1200" b="0">
                <a:solidFill>
                  <a:srgbClr val="475569"/>
                </a:solidFill>
                <a:latin typeface="Calibri"/>
              </a:rPr>
              <a:t>clean_data.py</a:t>
            </a:r>
          </a:p>
        </p:txBody>
      </p:sp>
      <p:sp>
        <p:nvSpPr>
          <p:cNvPr id="19" name="Rounded Rectangle 18"/>
          <p:cNvSpPr/>
          <p:nvPr/>
        </p:nvSpPr>
        <p:spPr>
          <a:xfrm>
            <a:off x="5358384" y="1463040"/>
            <a:ext cx="1417320" cy="109728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31536" y="1499616"/>
            <a:ext cx="1271016" cy="1024127"/>
          </a:xfrm>
          <a:prstGeom prst="rect">
            <a:avLst/>
          </a:prstGeom>
          <a:noFill/>
        </p:spPr>
        <p:txBody>
          <a:bodyPr wrap="square" anchor="ctr" lIns="45720" rIns="45720">
            <a:spAutoFit/>
          </a:bodyPr>
          <a:lstStyle/>
          <a:p>
            <a:pPr algn="ctr">
              <a:spcAft>
                <a:spcPts val="300"/>
              </a:spcAft>
            </a:pPr>
            <a:r>
              <a:rPr sz="1200" b="1">
                <a:solidFill>
                  <a:srgbClr val="C7D2FE"/>
                </a:solidFill>
                <a:latin typeface="Calibri"/>
              </a:rPr>
              <a:t>4</a:t>
            </a:r>
          </a:p>
          <a:p>
            <a:pPr algn="ctr">
              <a:spcAft>
                <a:spcPts val="300"/>
              </a:spcAft>
            </a:pPr>
            <a:r>
              <a:rPr sz="1400" b="1">
                <a:solidFill>
                  <a:srgbClr val="FFFFFF"/>
                </a:solidFill>
                <a:latin typeface="Calibri"/>
              </a:rPr>
              <a:t>Modélisation &amp; ETL DWH</a:t>
            </a:r>
          </a:p>
        </p:txBody>
      </p:sp>
      <p:sp>
        <p:nvSpPr>
          <p:cNvPr id="21" name="Right Arrow 20"/>
          <p:cNvSpPr/>
          <p:nvPr/>
        </p:nvSpPr>
        <p:spPr>
          <a:xfrm>
            <a:off x="6803136" y="1901952"/>
            <a:ext cx="146304" cy="219456"/>
          </a:xfrm>
          <a:prstGeom prst="rightArrow">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12664" y="2651760"/>
            <a:ext cx="1508760" cy="548640"/>
          </a:xfrm>
          <a:prstGeom prst="rect">
            <a:avLst/>
          </a:prstGeom>
          <a:noFill/>
        </p:spPr>
        <p:txBody>
          <a:bodyPr wrap="square" anchor="t" lIns="45720" rIns="45720">
            <a:spAutoFit/>
          </a:bodyPr>
          <a:lstStyle/>
          <a:p>
            <a:pPr algn="ctr">
              <a:spcAft>
                <a:spcPts val="600"/>
              </a:spcAft>
            </a:pPr>
            <a:r>
              <a:rPr sz="1200" b="0">
                <a:solidFill>
                  <a:srgbClr val="475569"/>
                </a:solidFill>
                <a:latin typeface="Calibri"/>
              </a:rPr>
              <a:t>build_dataset.py</a:t>
            </a:r>
          </a:p>
        </p:txBody>
      </p:sp>
      <p:sp>
        <p:nvSpPr>
          <p:cNvPr id="23" name="Rounded Rectangle 22"/>
          <p:cNvSpPr/>
          <p:nvPr/>
        </p:nvSpPr>
        <p:spPr>
          <a:xfrm>
            <a:off x="6976872" y="1463040"/>
            <a:ext cx="1417320" cy="109728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50024" y="1499616"/>
            <a:ext cx="1271016" cy="1024127"/>
          </a:xfrm>
          <a:prstGeom prst="rect">
            <a:avLst/>
          </a:prstGeom>
          <a:noFill/>
        </p:spPr>
        <p:txBody>
          <a:bodyPr wrap="square" anchor="ctr" lIns="45720" rIns="45720">
            <a:spAutoFit/>
          </a:bodyPr>
          <a:lstStyle/>
          <a:p>
            <a:pPr algn="ctr">
              <a:spcAft>
                <a:spcPts val="300"/>
              </a:spcAft>
            </a:pPr>
            <a:r>
              <a:rPr sz="1200" b="1">
                <a:solidFill>
                  <a:srgbClr val="C7D2FE"/>
                </a:solidFill>
                <a:latin typeface="Calibri"/>
              </a:rPr>
              <a:t>5</a:t>
            </a:r>
          </a:p>
          <a:p>
            <a:pPr algn="ctr">
              <a:spcAft>
                <a:spcPts val="300"/>
              </a:spcAft>
            </a:pPr>
            <a:r>
              <a:rPr sz="1400" b="1">
                <a:solidFill>
                  <a:srgbClr val="FFFFFF"/>
                </a:solidFill>
                <a:latin typeface="Calibri"/>
              </a:rPr>
              <a:t>BI</a:t>
            </a:r>
          </a:p>
        </p:txBody>
      </p:sp>
      <p:sp>
        <p:nvSpPr>
          <p:cNvPr id="25" name="Right Arrow 24"/>
          <p:cNvSpPr/>
          <p:nvPr/>
        </p:nvSpPr>
        <p:spPr>
          <a:xfrm>
            <a:off x="8421624" y="1901952"/>
            <a:ext cx="146304" cy="219456"/>
          </a:xfrm>
          <a:prstGeom prst="rightArrow">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31152" y="2651760"/>
            <a:ext cx="1508760" cy="548640"/>
          </a:xfrm>
          <a:prstGeom prst="rect">
            <a:avLst/>
          </a:prstGeom>
          <a:noFill/>
        </p:spPr>
        <p:txBody>
          <a:bodyPr wrap="square" anchor="t" lIns="45720" rIns="45720">
            <a:spAutoFit/>
          </a:bodyPr>
          <a:lstStyle/>
          <a:p>
            <a:pPr algn="ctr">
              <a:spcAft>
                <a:spcPts val="600"/>
              </a:spcAft>
            </a:pPr>
            <a:r>
              <a:rPr sz="1200" b="0">
                <a:solidFill>
                  <a:srgbClr val="475569"/>
                </a:solidFill>
                <a:latin typeface="Calibri"/>
              </a:rPr>
              <a:t>Dashboards Power BI</a:t>
            </a:r>
          </a:p>
        </p:txBody>
      </p:sp>
      <p:sp>
        <p:nvSpPr>
          <p:cNvPr id="27" name="Rounded Rectangle 26"/>
          <p:cNvSpPr/>
          <p:nvPr/>
        </p:nvSpPr>
        <p:spPr>
          <a:xfrm>
            <a:off x="8595360" y="1463040"/>
            <a:ext cx="1417320" cy="109728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668512" y="1499616"/>
            <a:ext cx="1271016" cy="1024127"/>
          </a:xfrm>
          <a:prstGeom prst="rect">
            <a:avLst/>
          </a:prstGeom>
          <a:noFill/>
        </p:spPr>
        <p:txBody>
          <a:bodyPr wrap="square" anchor="ctr" lIns="45720" rIns="45720">
            <a:spAutoFit/>
          </a:bodyPr>
          <a:lstStyle/>
          <a:p>
            <a:pPr algn="ctr">
              <a:spcAft>
                <a:spcPts val="300"/>
              </a:spcAft>
            </a:pPr>
            <a:r>
              <a:rPr sz="1200" b="1">
                <a:solidFill>
                  <a:srgbClr val="C7D2FE"/>
                </a:solidFill>
                <a:latin typeface="Calibri"/>
              </a:rPr>
              <a:t>6</a:t>
            </a:r>
          </a:p>
          <a:p>
            <a:pPr algn="ctr">
              <a:spcAft>
                <a:spcPts val="300"/>
              </a:spcAft>
            </a:pPr>
            <a:r>
              <a:rPr sz="1400" b="1">
                <a:solidFill>
                  <a:srgbClr val="FFFFFF"/>
                </a:solidFill>
                <a:latin typeface="Calibri"/>
              </a:rPr>
              <a:t>Machine Learning</a:t>
            </a:r>
          </a:p>
        </p:txBody>
      </p:sp>
      <p:sp>
        <p:nvSpPr>
          <p:cNvPr id="29" name="Right Arrow 28"/>
          <p:cNvSpPr/>
          <p:nvPr/>
        </p:nvSpPr>
        <p:spPr>
          <a:xfrm>
            <a:off x="10040112" y="1901952"/>
            <a:ext cx="146304" cy="219456"/>
          </a:xfrm>
          <a:prstGeom prst="rightArrow">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9640" y="2651760"/>
            <a:ext cx="1508760" cy="548640"/>
          </a:xfrm>
          <a:prstGeom prst="rect">
            <a:avLst/>
          </a:prstGeom>
          <a:noFill/>
        </p:spPr>
        <p:txBody>
          <a:bodyPr wrap="square" anchor="t" lIns="45720" rIns="45720">
            <a:spAutoFit/>
          </a:bodyPr>
          <a:lstStyle/>
          <a:p>
            <a:pPr algn="ctr">
              <a:spcAft>
                <a:spcPts val="600"/>
              </a:spcAft>
            </a:pPr>
            <a:r>
              <a:rPr sz="1200" b="0">
                <a:solidFill>
                  <a:srgbClr val="475569"/>
                </a:solidFill>
                <a:latin typeface="Calibri"/>
              </a:rPr>
              <a:t>Python · scikit-learn</a:t>
            </a:r>
          </a:p>
        </p:txBody>
      </p:sp>
      <p:sp>
        <p:nvSpPr>
          <p:cNvPr id="31" name="Rounded Rectangle 30"/>
          <p:cNvSpPr/>
          <p:nvPr/>
        </p:nvSpPr>
        <p:spPr>
          <a:xfrm>
            <a:off x="10213848" y="1463040"/>
            <a:ext cx="1417320" cy="109728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0" y="1499616"/>
            <a:ext cx="1271016" cy="1024127"/>
          </a:xfrm>
          <a:prstGeom prst="rect">
            <a:avLst/>
          </a:prstGeom>
          <a:noFill/>
        </p:spPr>
        <p:txBody>
          <a:bodyPr wrap="square" anchor="ctr" lIns="45720" rIns="45720">
            <a:spAutoFit/>
          </a:bodyPr>
          <a:lstStyle/>
          <a:p>
            <a:pPr algn="ctr">
              <a:spcAft>
                <a:spcPts val="300"/>
              </a:spcAft>
            </a:pPr>
            <a:r>
              <a:rPr sz="1200" b="1">
                <a:solidFill>
                  <a:srgbClr val="C7D2FE"/>
                </a:solidFill>
                <a:latin typeface="Calibri"/>
              </a:rPr>
              <a:t>7</a:t>
            </a:r>
          </a:p>
          <a:p>
            <a:pPr algn="ctr">
              <a:spcAft>
                <a:spcPts val="300"/>
              </a:spcAft>
            </a:pPr>
            <a:r>
              <a:rPr sz="1400" b="1">
                <a:solidFill>
                  <a:srgbClr val="FFFFFF"/>
                </a:solidFill>
                <a:latin typeface="Calibri"/>
              </a:rPr>
              <a:t>Restitution</a:t>
            </a:r>
          </a:p>
        </p:txBody>
      </p:sp>
      <p:sp>
        <p:nvSpPr>
          <p:cNvPr id="33" name="TextBox 32"/>
          <p:cNvSpPr txBox="1"/>
          <p:nvPr/>
        </p:nvSpPr>
        <p:spPr>
          <a:xfrm>
            <a:off x="10168128" y="2651760"/>
            <a:ext cx="1508760" cy="548640"/>
          </a:xfrm>
          <a:prstGeom prst="rect">
            <a:avLst/>
          </a:prstGeom>
          <a:noFill/>
        </p:spPr>
        <p:txBody>
          <a:bodyPr wrap="square" anchor="t" lIns="45720" rIns="45720">
            <a:spAutoFit/>
          </a:bodyPr>
          <a:lstStyle/>
          <a:p>
            <a:pPr algn="ctr">
              <a:spcAft>
                <a:spcPts val="600"/>
              </a:spcAft>
            </a:pPr>
            <a:r>
              <a:rPr sz="1200" b="0">
                <a:solidFill>
                  <a:srgbClr val="475569"/>
                </a:solidFill>
                <a:latin typeface="Calibri"/>
              </a:rPr>
              <a:t>Validation métier</a:t>
            </a:r>
          </a:p>
        </p:txBody>
      </p:sp>
      <p:sp>
        <p:nvSpPr>
          <p:cNvPr id="34" name="TextBox 33"/>
          <p:cNvSpPr txBox="1"/>
          <p:nvPr/>
        </p:nvSpPr>
        <p:spPr>
          <a:xfrm>
            <a:off x="502920" y="3429000"/>
            <a:ext cx="10972800" cy="365760"/>
          </a:xfrm>
          <a:prstGeom prst="rect">
            <a:avLst/>
          </a:prstGeom>
          <a:noFill/>
        </p:spPr>
        <p:txBody>
          <a:bodyPr wrap="square" anchor="t" lIns="45720" rIns="45720">
            <a:spAutoFit/>
          </a:bodyPr>
          <a:lstStyle/>
          <a:p>
            <a:pPr algn="l">
              <a:spcAft>
                <a:spcPts val="600"/>
              </a:spcAft>
            </a:pPr>
            <a:r>
              <a:rPr sz="1500" b="1">
                <a:solidFill>
                  <a:srgbClr val="0F172A"/>
                </a:solidFill>
                <a:latin typeface="Calibri"/>
              </a:rPr>
              <a:t>Flux des données</a:t>
            </a:r>
          </a:p>
        </p:txBody>
      </p:sp>
      <p:sp>
        <p:nvSpPr>
          <p:cNvPr id="35" name="Rounded Rectangle 34"/>
          <p:cNvSpPr/>
          <p:nvPr/>
        </p:nvSpPr>
        <p:spPr>
          <a:xfrm>
            <a:off x="502920" y="3886200"/>
            <a:ext cx="2011680" cy="12344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12648" y="3922776"/>
            <a:ext cx="1792224" cy="1161288"/>
          </a:xfrm>
          <a:prstGeom prst="rect">
            <a:avLst/>
          </a:prstGeom>
          <a:noFill/>
        </p:spPr>
        <p:txBody>
          <a:bodyPr wrap="square" anchor="ctr" lIns="45720" rIns="45720">
            <a:spAutoFit/>
          </a:bodyPr>
          <a:lstStyle/>
          <a:p>
            <a:pPr algn="ctr">
              <a:spcAft>
                <a:spcPts val="300"/>
              </a:spcAft>
            </a:pPr>
            <a:r>
              <a:rPr sz="1500" b="1">
                <a:solidFill>
                  <a:srgbClr val="0F172A"/>
                </a:solidFill>
                <a:latin typeface="Calibri"/>
              </a:rPr>
              <a:t>Sources</a:t>
            </a:r>
          </a:p>
          <a:p>
            <a:pPr algn="ctr">
              <a:spcAft>
                <a:spcPts val="300"/>
              </a:spcAft>
            </a:pPr>
            <a:r>
              <a:rPr sz="1200" b="0">
                <a:solidFill>
                  <a:srgbClr val="475569"/>
                </a:solidFill>
                <a:latin typeface="Calibri"/>
              </a:rPr>
              <a:t>29 CSV réels + données synthétiques</a:t>
            </a:r>
          </a:p>
        </p:txBody>
      </p:sp>
      <p:sp>
        <p:nvSpPr>
          <p:cNvPr id="37" name="Right Arrow 36"/>
          <p:cNvSpPr/>
          <p:nvPr/>
        </p:nvSpPr>
        <p:spPr>
          <a:xfrm>
            <a:off x="2532888" y="4370832"/>
            <a:ext cx="237744"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788920" y="3886200"/>
            <a:ext cx="2011680" cy="12344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2898648" y="3922776"/>
            <a:ext cx="1792224" cy="1161288"/>
          </a:xfrm>
          <a:prstGeom prst="rect">
            <a:avLst/>
          </a:prstGeom>
          <a:noFill/>
        </p:spPr>
        <p:txBody>
          <a:bodyPr wrap="square" anchor="ctr" lIns="45720" rIns="45720">
            <a:spAutoFit/>
          </a:bodyPr>
          <a:lstStyle/>
          <a:p>
            <a:pPr algn="ctr">
              <a:spcAft>
                <a:spcPts val="300"/>
              </a:spcAft>
            </a:pPr>
            <a:r>
              <a:rPr sz="1500" b="1">
                <a:solidFill>
                  <a:srgbClr val="0F172A"/>
                </a:solidFill>
                <a:latin typeface="Calibri"/>
              </a:rPr>
              <a:t>Données nettoyées</a:t>
            </a:r>
          </a:p>
          <a:p>
            <a:pPr algn="ctr">
              <a:spcAft>
                <a:spcPts val="300"/>
              </a:spcAft>
            </a:pPr>
            <a:r>
              <a:rPr sz="1200" b="0">
                <a:solidFill>
                  <a:srgbClr val="475569"/>
                </a:solidFill>
                <a:latin typeface="Calibri"/>
              </a:rPr>
              <a:t>formats unifiés · réel et synthétique</a:t>
            </a:r>
          </a:p>
        </p:txBody>
      </p:sp>
      <p:sp>
        <p:nvSpPr>
          <p:cNvPr id="40" name="Right Arrow 39"/>
          <p:cNvSpPr/>
          <p:nvPr/>
        </p:nvSpPr>
        <p:spPr>
          <a:xfrm>
            <a:off x="4818888" y="4370832"/>
            <a:ext cx="237744"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074920" y="3886200"/>
            <a:ext cx="2011680" cy="123444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184648" y="3922776"/>
            <a:ext cx="1792224" cy="1161288"/>
          </a:xfrm>
          <a:prstGeom prst="rect">
            <a:avLst/>
          </a:prstGeom>
          <a:noFill/>
        </p:spPr>
        <p:txBody>
          <a:bodyPr wrap="square" anchor="ctr" lIns="45720" rIns="45720">
            <a:spAutoFit/>
          </a:bodyPr>
          <a:lstStyle/>
          <a:p>
            <a:pPr algn="ctr">
              <a:spcAft>
                <a:spcPts val="300"/>
              </a:spcAft>
            </a:pPr>
            <a:r>
              <a:rPr sz="1500" b="1">
                <a:solidFill>
                  <a:srgbClr val="1E3A8A"/>
                </a:solidFill>
                <a:latin typeface="Calibri"/>
              </a:rPr>
              <a:t>Data Warehouse</a:t>
            </a:r>
          </a:p>
          <a:p>
            <a:pPr algn="ctr">
              <a:spcAft>
                <a:spcPts val="300"/>
              </a:spcAft>
            </a:pPr>
            <a:r>
              <a:rPr sz="1200" b="0">
                <a:solidFill>
                  <a:srgbClr val="475569"/>
                </a:solidFill>
                <a:latin typeface="Calibri"/>
              </a:rPr>
              <a:t>4 dimensions · 3 tables de faits</a:t>
            </a:r>
          </a:p>
        </p:txBody>
      </p:sp>
      <p:sp>
        <p:nvSpPr>
          <p:cNvPr id="43" name="Right Arrow 42"/>
          <p:cNvSpPr/>
          <p:nvPr/>
        </p:nvSpPr>
        <p:spPr>
          <a:xfrm>
            <a:off x="7104888" y="4370832"/>
            <a:ext cx="237744"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360920" y="3886200"/>
            <a:ext cx="2011680" cy="1234440"/>
          </a:xfrm>
          <a:prstGeom prst="roundRect">
            <a:avLst>
              <a:gd name="adj" fmla="val 8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470648" y="3922776"/>
            <a:ext cx="1792224" cy="1161288"/>
          </a:xfrm>
          <a:prstGeom prst="rect">
            <a:avLst/>
          </a:prstGeom>
          <a:noFill/>
        </p:spPr>
        <p:txBody>
          <a:bodyPr wrap="square" anchor="ctr" lIns="45720" rIns="45720">
            <a:spAutoFit/>
          </a:bodyPr>
          <a:lstStyle/>
          <a:p>
            <a:pPr algn="ctr">
              <a:spcAft>
                <a:spcPts val="300"/>
              </a:spcAft>
            </a:pPr>
            <a:r>
              <a:rPr sz="1500" b="1">
                <a:solidFill>
                  <a:srgbClr val="6D28D9"/>
                </a:solidFill>
                <a:latin typeface="Calibri"/>
              </a:rPr>
              <a:t>Jeux de données ML</a:t>
            </a:r>
          </a:p>
          <a:p>
            <a:pPr algn="ctr">
              <a:spcAft>
                <a:spcPts val="300"/>
              </a:spcAft>
            </a:pPr>
            <a:r>
              <a:rPr sz="1200" b="0">
                <a:solidFill>
                  <a:srgbClr val="475569"/>
                </a:solidFill>
                <a:latin typeface="Calibri"/>
              </a:rPr>
              <a:t>6 fichiers · variables X_ / cible Y_</a:t>
            </a:r>
          </a:p>
        </p:txBody>
      </p:sp>
      <p:sp>
        <p:nvSpPr>
          <p:cNvPr id="46" name="Right Arrow 45"/>
          <p:cNvSpPr/>
          <p:nvPr/>
        </p:nvSpPr>
        <p:spPr>
          <a:xfrm>
            <a:off x="9390888" y="4370832"/>
            <a:ext cx="237744"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646920" y="3886200"/>
            <a:ext cx="2011680" cy="123444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756648" y="3922776"/>
            <a:ext cx="1792224" cy="1161288"/>
          </a:xfrm>
          <a:prstGeom prst="rect">
            <a:avLst/>
          </a:prstGeom>
          <a:noFill/>
        </p:spPr>
        <p:txBody>
          <a:bodyPr wrap="square" anchor="ctr" lIns="45720" rIns="45720">
            <a:spAutoFit/>
          </a:bodyPr>
          <a:lstStyle/>
          <a:p>
            <a:pPr algn="ctr">
              <a:spcAft>
                <a:spcPts val="300"/>
              </a:spcAft>
            </a:pPr>
            <a:r>
              <a:rPr sz="1500" b="1">
                <a:solidFill>
                  <a:srgbClr val="0F766E"/>
                </a:solidFill>
                <a:latin typeface="Calibri"/>
              </a:rPr>
              <a:t>Restitution</a:t>
            </a:r>
          </a:p>
          <a:p>
            <a:pPr algn="ctr">
              <a:spcAft>
                <a:spcPts val="300"/>
              </a:spcAft>
            </a:pPr>
            <a:r>
              <a:rPr sz="1200" b="0">
                <a:solidFill>
                  <a:srgbClr val="475569"/>
                </a:solidFill>
                <a:latin typeface="Calibri"/>
              </a:rPr>
              <a:t>Dashboards · modèles · alertes</a:t>
            </a:r>
          </a:p>
        </p:txBody>
      </p:sp>
      <p:sp>
        <p:nvSpPr>
          <p:cNvPr id="49" name="TextBox 48"/>
          <p:cNvSpPr txBox="1"/>
          <p:nvPr/>
        </p:nvSpPr>
        <p:spPr>
          <a:xfrm>
            <a:off x="502920" y="5394960"/>
            <a:ext cx="11155680" cy="731520"/>
          </a:xfrm>
          <a:prstGeom prst="rect">
            <a:avLst/>
          </a:prstGeom>
          <a:noFill/>
        </p:spPr>
        <p:txBody>
          <a:bodyPr wrap="square" anchor="t" lIns="45720" rIns="45720">
            <a:spAutoFit/>
          </a:bodyPr>
          <a:lstStyle/>
          <a:p>
            <a:pPr algn="l">
              <a:spcAft>
                <a:spcPts val="300"/>
              </a:spcAft>
            </a:pPr>
            <a:r>
              <a:rPr sz="1100">
                <a:solidFill>
                  <a:srgbClr val="1E3A8A"/>
                </a:solidFill>
                <a:latin typeface="Calibri"/>
              </a:rPr>
              <a:t>▪  </a:t>
            </a:r>
            <a:r>
              <a:rPr sz="1300" b="0">
                <a:solidFill>
                  <a:srgbClr val="0F172A"/>
                </a:solidFill>
                <a:latin typeface="Calibri"/>
              </a:rPr>
              <a:t>Scripts Python reproductibles : chaque étape se relance en une commande ; les fichiers originaux ne sont jamais modifiés.</a:t>
            </a:r>
          </a:p>
          <a:p>
            <a:pPr algn="l">
              <a:spcAft>
                <a:spcPts val="300"/>
              </a:spcAft>
            </a:pPr>
            <a:r>
              <a:rPr sz="1100">
                <a:solidFill>
                  <a:srgbClr val="1E3A8A"/>
                </a:solidFill>
                <a:latin typeface="Calibri"/>
              </a:rPr>
              <a:t>▪  </a:t>
            </a:r>
            <a:r>
              <a:rPr sz="1300" b="0">
                <a:solidFill>
                  <a:srgbClr val="0F172A"/>
                </a:solidFill>
                <a:latin typeface="Calibri"/>
              </a:rPr>
              <a:t>Données externes : météo (Open-Meteo) et épidémies (réseau Sentinelles), réservées à la prévision ML ; calendrier français calculé ; prolongation synthétique à 2 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3 · MÉTHODOLOGIE DE TRAVAIL</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Préparation des données : fiabiliser avant d'analyser</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10</a:t>
            </a:r>
          </a:p>
        </p:txBody>
      </p:sp>
      <p:sp>
        <p:nvSpPr>
          <p:cNvPr id="7" name="Rectangle 6"/>
          <p:cNvSpPr/>
          <p:nvPr/>
        </p:nvSpPr>
        <p:spPr>
          <a:xfrm>
            <a:off x="502920" y="1417320"/>
            <a:ext cx="3611880" cy="3794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417320"/>
            <a:ext cx="82296" cy="37947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554480"/>
            <a:ext cx="3200400" cy="457200"/>
          </a:xfrm>
          <a:prstGeom prst="rect">
            <a:avLst/>
          </a:prstGeom>
          <a:noFill/>
        </p:spPr>
        <p:txBody>
          <a:bodyPr wrap="square" anchor="t" lIns="45720" rIns="45720">
            <a:spAutoFit/>
          </a:bodyPr>
          <a:lstStyle/>
          <a:p>
            <a:pPr algn="l">
              <a:spcAft>
                <a:spcPts val="600"/>
              </a:spcAft>
            </a:pPr>
            <a:r>
              <a:rPr sz="1800" b="1">
                <a:solidFill>
                  <a:srgbClr val="1E3A8A"/>
                </a:solidFill>
                <a:latin typeface="Calibri"/>
              </a:rPr>
              <a:t>Standardiser</a:t>
            </a:r>
          </a:p>
        </p:txBody>
      </p:sp>
      <p:sp>
        <p:nvSpPr>
          <p:cNvPr id="10" name="TextBox 9"/>
          <p:cNvSpPr txBox="1"/>
          <p:nvPr/>
        </p:nvSpPr>
        <p:spPr>
          <a:xfrm>
            <a:off x="777240" y="2103120"/>
            <a:ext cx="3200400" cy="3017520"/>
          </a:xfrm>
          <a:prstGeom prst="rect">
            <a:avLst/>
          </a:prstGeom>
          <a:noFill/>
        </p:spPr>
        <p:txBody>
          <a:bodyPr wrap="square" anchor="t" lIns="45720" rIns="45720">
            <a:spAutoFit/>
          </a:bodyPr>
          <a:lstStyle/>
          <a:p>
            <a:pPr algn="l">
              <a:spcAft>
                <a:spcPts val="900"/>
              </a:spcAft>
            </a:pPr>
            <a:r>
              <a:rPr sz="1200">
                <a:solidFill>
                  <a:srgbClr val="1E3A8A"/>
                </a:solidFill>
                <a:latin typeface="Calibri"/>
              </a:rPr>
              <a:t>▪  </a:t>
            </a:r>
            <a:r>
              <a:rPr sz="1400" b="0">
                <a:solidFill>
                  <a:srgbClr val="0F172A"/>
                </a:solidFill>
                <a:latin typeface="Calibri"/>
              </a:rPr>
              <a:t>Encodages réparés (UTF-8, Windows-1252, DOS 850)</a:t>
            </a:r>
          </a:p>
          <a:p>
            <a:pPr algn="l">
              <a:spcAft>
                <a:spcPts val="900"/>
              </a:spcAft>
            </a:pPr>
            <a:r>
              <a:rPr sz="1200">
                <a:solidFill>
                  <a:srgbClr val="1E3A8A"/>
                </a:solidFill>
                <a:latin typeface="Calibri"/>
              </a:rPr>
              <a:t>▪  </a:t>
            </a:r>
            <a:r>
              <a:rPr sz="1400" b="0">
                <a:solidFill>
                  <a:srgbClr val="0F172A"/>
                </a:solidFill>
                <a:latin typeface="Calibri"/>
              </a:rPr>
              <a:t>Dates US et FR détectées colonne par colonne → ISO</a:t>
            </a:r>
          </a:p>
          <a:p>
            <a:pPr algn="l">
              <a:spcAft>
                <a:spcPts val="900"/>
              </a:spcAft>
            </a:pPr>
            <a:r>
              <a:rPr sz="1200">
                <a:solidFill>
                  <a:srgbClr val="1E3A8A"/>
                </a:solidFill>
                <a:latin typeface="Calibri"/>
              </a:rPr>
              <a:t>▪  </a:t>
            </a:r>
            <a:r>
              <a:rPr sz="1400" b="0">
                <a:solidFill>
                  <a:srgbClr val="0F172A"/>
                </a:solidFill>
                <a:latin typeface="Calibri"/>
              </a:rPr>
              <a:t>Décimales, booléens VRAI/FAUX, séparateurs unifiés</a:t>
            </a:r>
          </a:p>
          <a:p>
            <a:pPr algn="l">
              <a:spcAft>
                <a:spcPts val="900"/>
              </a:spcAft>
            </a:pPr>
            <a:r>
              <a:rPr sz="1200">
                <a:solidFill>
                  <a:srgbClr val="1E3A8A"/>
                </a:solidFill>
                <a:latin typeface="Calibri"/>
              </a:rPr>
              <a:t>▪  </a:t>
            </a:r>
            <a:r>
              <a:rPr sz="1400" b="0">
                <a:solidFill>
                  <a:srgbClr val="0F172A"/>
                </a:solidFill>
                <a:latin typeface="Calibri"/>
              </a:rPr>
              <a:t>Noms de colonnes d'origine conservés</a:t>
            </a:r>
          </a:p>
        </p:txBody>
      </p:sp>
      <p:sp>
        <p:nvSpPr>
          <p:cNvPr id="11" name="Rectangle 10"/>
          <p:cNvSpPr/>
          <p:nvPr/>
        </p:nvSpPr>
        <p:spPr>
          <a:xfrm>
            <a:off x="4297680" y="1417320"/>
            <a:ext cx="3611880" cy="3794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297680" y="1417320"/>
            <a:ext cx="82296" cy="3794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0" y="1554480"/>
            <a:ext cx="3200400" cy="457200"/>
          </a:xfrm>
          <a:prstGeom prst="rect">
            <a:avLst/>
          </a:prstGeom>
          <a:noFill/>
        </p:spPr>
        <p:txBody>
          <a:bodyPr wrap="square" anchor="t" lIns="45720" rIns="45720">
            <a:spAutoFit/>
          </a:bodyPr>
          <a:lstStyle/>
          <a:p>
            <a:pPr algn="l">
              <a:spcAft>
                <a:spcPts val="600"/>
              </a:spcAft>
            </a:pPr>
            <a:r>
              <a:rPr sz="1800" b="1">
                <a:solidFill>
                  <a:srgbClr val="0F766E"/>
                </a:solidFill>
                <a:latin typeface="Calibri"/>
              </a:rPr>
              <a:t>Réparer et relier</a:t>
            </a:r>
          </a:p>
        </p:txBody>
      </p:sp>
      <p:sp>
        <p:nvSpPr>
          <p:cNvPr id="14" name="TextBox 13"/>
          <p:cNvSpPr txBox="1"/>
          <p:nvPr/>
        </p:nvSpPr>
        <p:spPr>
          <a:xfrm>
            <a:off x="4572000" y="2103120"/>
            <a:ext cx="3200400" cy="3017520"/>
          </a:xfrm>
          <a:prstGeom prst="rect">
            <a:avLst/>
          </a:prstGeom>
          <a:noFill/>
        </p:spPr>
        <p:txBody>
          <a:bodyPr wrap="square" anchor="t" lIns="45720" rIns="45720">
            <a:spAutoFit/>
          </a:bodyPr>
          <a:lstStyle/>
          <a:p>
            <a:pPr algn="l">
              <a:spcAft>
                <a:spcPts val="900"/>
              </a:spcAft>
            </a:pPr>
            <a:r>
              <a:rPr sz="1200">
                <a:solidFill>
                  <a:srgbClr val="1E3A8A"/>
                </a:solidFill>
                <a:latin typeface="Calibri"/>
              </a:rPr>
              <a:t>▪  </a:t>
            </a:r>
            <a:r>
              <a:rPr sz="1400" b="0">
                <a:solidFill>
                  <a:srgbClr val="0F172A"/>
                </a:solidFill>
                <a:latin typeface="Calibri"/>
              </a:rPr>
              <a:t>Fichier DomainEvents mal formé reconstruit</a:t>
            </a:r>
          </a:p>
          <a:p>
            <a:pPr algn="l">
              <a:spcAft>
                <a:spcPts val="900"/>
              </a:spcAft>
            </a:pPr>
            <a:r>
              <a:rPr sz="1200">
                <a:solidFill>
                  <a:srgbClr val="1E3A8A"/>
                </a:solidFill>
                <a:latin typeface="Calibri"/>
              </a:rPr>
              <a:t>▪  </a:t>
            </a:r>
            <a:r>
              <a:rPr sz="1400" b="0">
                <a:solidFill>
                  <a:srgbClr val="0F172A"/>
                </a:solidFill>
                <a:latin typeface="Calibri"/>
              </a:rPr>
              <a:t>91 codes produits corrompus par Excel identifiés</a:t>
            </a:r>
          </a:p>
          <a:p>
            <a:pPr algn="l">
              <a:spcAft>
                <a:spcPts val="900"/>
              </a:spcAft>
            </a:pPr>
            <a:r>
              <a:rPr sz="1200">
                <a:solidFill>
                  <a:srgbClr val="1E3A8A"/>
                </a:solidFill>
                <a:latin typeface="Calibri"/>
              </a:rPr>
              <a:t>▪  </a:t>
            </a:r>
            <a:r>
              <a:rPr sz="1400" b="0">
                <a:solidFill>
                  <a:srgbClr val="0F172A"/>
                </a:solidFill>
                <a:latin typeface="Calibri"/>
              </a:rPr>
              <a:t>4 475 produits reliés à leur identifiant via le journal d'événements</a:t>
            </a:r>
          </a:p>
          <a:p>
            <a:pPr algn="l">
              <a:spcAft>
                <a:spcPts val="900"/>
              </a:spcAft>
            </a:pPr>
            <a:r>
              <a:rPr sz="1200">
                <a:solidFill>
                  <a:srgbClr val="1E3A8A"/>
                </a:solidFill>
                <a:latin typeface="Calibri"/>
              </a:rPr>
              <a:t>▪  </a:t>
            </a:r>
            <a:r>
              <a:rPr sz="1400" b="0">
                <a:solidFill>
                  <a:srgbClr val="0F172A"/>
                </a:solidFill>
                <a:latin typeface="Calibri"/>
              </a:rPr>
              <a:t>HTML et JSON extraits en colonnes exploitables</a:t>
            </a:r>
          </a:p>
        </p:txBody>
      </p:sp>
      <p:sp>
        <p:nvSpPr>
          <p:cNvPr id="15" name="Rectangle 14"/>
          <p:cNvSpPr/>
          <p:nvPr/>
        </p:nvSpPr>
        <p:spPr>
          <a:xfrm>
            <a:off x="8092440" y="1417320"/>
            <a:ext cx="3611880" cy="3794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92440" y="1417320"/>
            <a:ext cx="82296" cy="37947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66760" y="1554480"/>
            <a:ext cx="3200400" cy="457200"/>
          </a:xfrm>
          <a:prstGeom prst="rect">
            <a:avLst/>
          </a:prstGeom>
          <a:noFill/>
        </p:spPr>
        <p:txBody>
          <a:bodyPr wrap="square" anchor="t" lIns="45720" rIns="45720">
            <a:spAutoFit/>
          </a:bodyPr>
          <a:lstStyle/>
          <a:p>
            <a:pPr algn="l">
              <a:spcAft>
                <a:spcPts val="600"/>
              </a:spcAft>
            </a:pPr>
            <a:r>
              <a:rPr sz="1800" b="1">
                <a:solidFill>
                  <a:srgbClr val="B45309"/>
                </a:solidFill>
                <a:latin typeface="Calibri"/>
              </a:rPr>
              <a:t>Appliquer les règles métier</a:t>
            </a:r>
          </a:p>
        </p:txBody>
      </p:sp>
      <p:sp>
        <p:nvSpPr>
          <p:cNvPr id="18" name="TextBox 17"/>
          <p:cNvSpPr txBox="1"/>
          <p:nvPr/>
        </p:nvSpPr>
        <p:spPr>
          <a:xfrm>
            <a:off x="8366760" y="2103120"/>
            <a:ext cx="3200400" cy="3017520"/>
          </a:xfrm>
          <a:prstGeom prst="rect">
            <a:avLst/>
          </a:prstGeom>
          <a:noFill/>
        </p:spPr>
        <p:txBody>
          <a:bodyPr wrap="square" anchor="t" lIns="45720" rIns="45720">
            <a:spAutoFit/>
          </a:bodyPr>
          <a:lstStyle/>
          <a:p>
            <a:pPr algn="l">
              <a:spcAft>
                <a:spcPts val="900"/>
              </a:spcAft>
            </a:pPr>
            <a:r>
              <a:rPr sz="1200">
                <a:solidFill>
                  <a:srgbClr val="1E3A8A"/>
                </a:solidFill>
                <a:latin typeface="Calibri"/>
              </a:rPr>
              <a:t>▪  </a:t>
            </a:r>
            <a:r>
              <a:rPr sz="1400" b="0">
                <a:solidFill>
                  <a:srgbClr val="0F172A"/>
                </a:solidFill>
                <a:latin typeface="Calibri"/>
              </a:rPr>
              <a:t>24 factures refacturant 864 BL exclues (double comptage)</a:t>
            </a:r>
          </a:p>
          <a:p>
            <a:pPr algn="l">
              <a:spcAft>
                <a:spcPts val="900"/>
              </a:spcAft>
            </a:pPr>
            <a:r>
              <a:rPr sz="1200">
                <a:solidFill>
                  <a:srgbClr val="1E3A8A"/>
                </a:solidFill>
                <a:latin typeface="Calibri"/>
              </a:rPr>
              <a:t>▪  </a:t>
            </a:r>
            <a:r>
              <a:rPr sz="1400" b="0">
                <a:solidFill>
                  <a:srgbClr val="0F172A"/>
                </a:solidFill>
                <a:latin typeface="Calibri"/>
              </a:rPr>
              <a:t>Documents brouillons et lignes de commentaire exclus</a:t>
            </a:r>
          </a:p>
          <a:p>
            <a:pPr algn="l">
              <a:spcAft>
                <a:spcPts val="900"/>
              </a:spcAft>
            </a:pPr>
            <a:r>
              <a:rPr sz="1200">
                <a:solidFill>
                  <a:srgbClr val="1E3A8A"/>
                </a:solidFill>
                <a:latin typeface="Calibri"/>
              </a:rPr>
              <a:t>▪  </a:t>
            </a:r>
            <a:r>
              <a:rPr sz="1400" b="0">
                <a:solidFill>
                  <a:srgbClr val="0F172A"/>
                </a:solidFill>
                <a:latin typeface="Calibri"/>
              </a:rPr>
              <a:t>Retours et avoirs comptés en négatif</a:t>
            </a:r>
          </a:p>
          <a:p>
            <a:pPr algn="l">
              <a:spcAft>
                <a:spcPts val="900"/>
              </a:spcAft>
            </a:pPr>
            <a:r>
              <a:rPr sz="1200">
                <a:solidFill>
                  <a:srgbClr val="1E3A8A"/>
                </a:solidFill>
                <a:latin typeface="Calibri"/>
              </a:rPr>
              <a:t>▪  </a:t>
            </a:r>
            <a:r>
              <a:rPr sz="1400" b="0">
                <a:solidFill>
                  <a:srgbClr val="0F172A"/>
                </a:solidFill>
                <a:latin typeface="Calibri"/>
              </a:rPr>
              <a:t>Mots de passe et e-mails supprimés (RGPD)</a:t>
            </a:r>
          </a:p>
        </p:txBody>
      </p:sp>
      <p:sp>
        <p:nvSpPr>
          <p:cNvPr id="19" name="TextBox 18"/>
          <p:cNvSpPr txBox="1"/>
          <p:nvPr/>
        </p:nvSpPr>
        <p:spPr>
          <a:xfrm>
            <a:off x="502920" y="5440680"/>
            <a:ext cx="11155680" cy="640080"/>
          </a:xfrm>
          <a:prstGeom prst="rect">
            <a:avLst/>
          </a:prstGeom>
          <a:noFill/>
        </p:spPr>
        <p:txBody>
          <a:bodyPr wrap="square" anchor="t" lIns="45720" rIns="45720">
            <a:spAutoFit/>
          </a:bodyPr>
          <a:lstStyle/>
          <a:p>
            <a:pPr algn="l">
              <a:spcAft>
                <a:spcPts val="600"/>
              </a:spcAft>
            </a:pPr>
            <a:r>
              <a:rPr sz="1300" b="0">
                <a:solidFill>
                  <a:srgbClr val="475569"/>
                </a:solidFill>
                <a:latin typeface="Calibri"/>
              </a:rPr>
              <a:t>Contrôles qualité du cahier (§7.1) : unicité des clés, intégrité référentielle documents → lignes → produits, valeurs aberrantes, dates exploitables – résultats tracés dans controles_qualite.csv.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3 · MÉTHODOLOGIE DE TRAVAIL</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Partie BI : une démarche Kimball, du besoin au tableau de bord</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11</a:t>
            </a:r>
          </a:p>
        </p:txBody>
      </p:sp>
      <p:sp>
        <p:nvSpPr>
          <p:cNvPr id="7" name="Rounded Rectangle 6"/>
          <p:cNvSpPr/>
          <p:nvPr/>
        </p:nvSpPr>
        <p:spPr>
          <a:xfrm>
            <a:off x="502920" y="1417320"/>
            <a:ext cx="1463040" cy="8686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12648" y="1453896"/>
            <a:ext cx="1243584" cy="795528"/>
          </a:xfrm>
          <a:prstGeom prst="rect">
            <a:avLst/>
          </a:prstGeom>
          <a:noFill/>
        </p:spPr>
        <p:txBody>
          <a:bodyPr wrap="square" anchor="ctr" lIns="45720" rIns="45720">
            <a:spAutoFit/>
          </a:bodyPr>
          <a:lstStyle/>
          <a:p>
            <a:pPr algn="ctr">
              <a:spcAft>
                <a:spcPts val="300"/>
              </a:spcAft>
            </a:pPr>
            <a:r>
              <a:rPr sz="1300" b="1">
                <a:solidFill>
                  <a:srgbClr val="1E3A8A"/>
                </a:solidFill>
                <a:latin typeface="Calibri"/>
              </a:rPr>
              <a:t>Besoin du décideur</a:t>
            </a:r>
          </a:p>
        </p:txBody>
      </p:sp>
      <p:cxnSp>
        <p:nvCxnSpPr>
          <p:cNvPr id="9" name="Connector 8"/>
          <p:cNvCxnSpPr/>
          <p:nvPr/>
        </p:nvCxnSpPr>
        <p:spPr>
          <a:xfrm>
            <a:off x="1965960" y="1847088"/>
            <a:ext cx="155448"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21408" y="1417320"/>
            <a:ext cx="1463040" cy="8686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231136" y="1453896"/>
            <a:ext cx="1243584" cy="795528"/>
          </a:xfrm>
          <a:prstGeom prst="rect">
            <a:avLst/>
          </a:prstGeom>
          <a:noFill/>
        </p:spPr>
        <p:txBody>
          <a:bodyPr wrap="square" anchor="ctr" lIns="45720" rIns="45720">
            <a:spAutoFit/>
          </a:bodyPr>
          <a:lstStyle/>
          <a:p>
            <a:pPr algn="ctr">
              <a:spcAft>
                <a:spcPts val="300"/>
              </a:spcAft>
            </a:pPr>
            <a:r>
              <a:rPr sz="1300" b="1">
                <a:solidFill>
                  <a:srgbClr val="1E3A8A"/>
                </a:solidFill>
                <a:latin typeface="Calibri"/>
              </a:rPr>
              <a:t>KPI et formule</a:t>
            </a:r>
          </a:p>
        </p:txBody>
      </p:sp>
      <p:cxnSp>
        <p:nvCxnSpPr>
          <p:cNvPr id="12" name="Connector 11"/>
          <p:cNvCxnSpPr/>
          <p:nvPr/>
        </p:nvCxnSpPr>
        <p:spPr>
          <a:xfrm>
            <a:off x="3584448" y="1847088"/>
            <a:ext cx="155448"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739896" y="1417320"/>
            <a:ext cx="1463040" cy="8686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849624" y="1453896"/>
            <a:ext cx="1243584" cy="795528"/>
          </a:xfrm>
          <a:prstGeom prst="rect">
            <a:avLst/>
          </a:prstGeom>
          <a:noFill/>
        </p:spPr>
        <p:txBody>
          <a:bodyPr wrap="square" anchor="ctr" lIns="45720" rIns="45720">
            <a:spAutoFit/>
          </a:bodyPr>
          <a:lstStyle/>
          <a:p>
            <a:pPr algn="ctr">
              <a:spcAft>
                <a:spcPts val="300"/>
              </a:spcAft>
            </a:pPr>
            <a:r>
              <a:rPr sz="1300" b="1">
                <a:solidFill>
                  <a:srgbClr val="1E3A8A"/>
                </a:solidFill>
                <a:latin typeface="Calibri"/>
              </a:rPr>
              <a:t>Granularité</a:t>
            </a:r>
          </a:p>
        </p:txBody>
      </p:sp>
      <p:cxnSp>
        <p:nvCxnSpPr>
          <p:cNvPr id="15" name="Connector 14"/>
          <p:cNvCxnSpPr/>
          <p:nvPr/>
        </p:nvCxnSpPr>
        <p:spPr>
          <a:xfrm>
            <a:off x="5202936" y="1847088"/>
            <a:ext cx="155447"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58384" y="1417320"/>
            <a:ext cx="1463040" cy="8686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68112" y="1453896"/>
            <a:ext cx="1243584" cy="795528"/>
          </a:xfrm>
          <a:prstGeom prst="rect">
            <a:avLst/>
          </a:prstGeom>
          <a:noFill/>
        </p:spPr>
        <p:txBody>
          <a:bodyPr wrap="square" anchor="ctr" lIns="45720" rIns="45720">
            <a:spAutoFit/>
          </a:bodyPr>
          <a:lstStyle/>
          <a:p>
            <a:pPr algn="ctr">
              <a:spcAft>
                <a:spcPts val="300"/>
              </a:spcAft>
            </a:pPr>
            <a:r>
              <a:rPr sz="1300" b="1">
                <a:solidFill>
                  <a:srgbClr val="1E3A8A"/>
                </a:solidFill>
                <a:latin typeface="Calibri"/>
              </a:rPr>
              <a:t>Dimensions et faits</a:t>
            </a:r>
          </a:p>
        </p:txBody>
      </p:sp>
      <p:cxnSp>
        <p:nvCxnSpPr>
          <p:cNvPr id="18" name="Connector 17"/>
          <p:cNvCxnSpPr/>
          <p:nvPr/>
        </p:nvCxnSpPr>
        <p:spPr>
          <a:xfrm>
            <a:off x="6821424" y="1847088"/>
            <a:ext cx="155448"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976872" y="1417320"/>
            <a:ext cx="1463040" cy="8686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86600" y="1453896"/>
            <a:ext cx="1243584" cy="795528"/>
          </a:xfrm>
          <a:prstGeom prst="rect">
            <a:avLst/>
          </a:prstGeom>
          <a:noFill/>
        </p:spPr>
        <p:txBody>
          <a:bodyPr wrap="square" anchor="ctr" lIns="45720" rIns="45720">
            <a:spAutoFit/>
          </a:bodyPr>
          <a:lstStyle/>
          <a:p>
            <a:pPr algn="ctr">
              <a:spcAft>
                <a:spcPts val="300"/>
              </a:spcAft>
            </a:pPr>
            <a:r>
              <a:rPr sz="1300" b="1">
                <a:solidFill>
                  <a:srgbClr val="1E3A8A"/>
                </a:solidFill>
                <a:latin typeface="Calibri"/>
              </a:rPr>
              <a:t>ETL Python</a:t>
            </a:r>
          </a:p>
        </p:txBody>
      </p:sp>
      <p:cxnSp>
        <p:nvCxnSpPr>
          <p:cNvPr id="21" name="Connector 20"/>
          <p:cNvCxnSpPr/>
          <p:nvPr/>
        </p:nvCxnSpPr>
        <p:spPr>
          <a:xfrm>
            <a:off x="8439912" y="1847088"/>
            <a:ext cx="155448"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595360" y="1417320"/>
            <a:ext cx="1463040" cy="8686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705088" y="1453896"/>
            <a:ext cx="1243584" cy="795528"/>
          </a:xfrm>
          <a:prstGeom prst="rect">
            <a:avLst/>
          </a:prstGeom>
          <a:noFill/>
        </p:spPr>
        <p:txBody>
          <a:bodyPr wrap="square" anchor="ctr" lIns="45720" rIns="45720">
            <a:spAutoFit/>
          </a:bodyPr>
          <a:lstStyle/>
          <a:p>
            <a:pPr algn="ctr">
              <a:spcAft>
                <a:spcPts val="300"/>
              </a:spcAft>
            </a:pPr>
            <a:r>
              <a:rPr sz="1300" b="1">
                <a:solidFill>
                  <a:srgbClr val="1E3A8A"/>
                </a:solidFill>
                <a:latin typeface="Calibri"/>
              </a:rPr>
              <a:t>PostgreSQL</a:t>
            </a:r>
          </a:p>
        </p:txBody>
      </p:sp>
      <p:cxnSp>
        <p:nvCxnSpPr>
          <p:cNvPr id="24" name="Connector 23"/>
          <p:cNvCxnSpPr/>
          <p:nvPr/>
        </p:nvCxnSpPr>
        <p:spPr>
          <a:xfrm>
            <a:off x="10058400" y="1847088"/>
            <a:ext cx="155448"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213848" y="1417320"/>
            <a:ext cx="1463040" cy="86868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323576" y="1453896"/>
            <a:ext cx="1243584" cy="795528"/>
          </a:xfrm>
          <a:prstGeom prst="rect">
            <a:avLst/>
          </a:prstGeom>
          <a:noFill/>
        </p:spPr>
        <p:txBody>
          <a:bodyPr wrap="square" anchor="ctr" lIns="45720" rIns="45720">
            <a:spAutoFit/>
          </a:bodyPr>
          <a:lstStyle/>
          <a:p>
            <a:pPr algn="ctr">
              <a:spcAft>
                <a:spcPts val="300"/>
              </a:spcAft>
            </a:pPr>
            <a:r>
              <a:rPr sz="1300" b="1">
                <a:solidFill>
                  <a:srgbClr val="0F766E"/>
                </a:solidFill>
                <a:latin typeface="Calibri"/>
              </a:rPr>
              <a:t>Power BI</a:t>
            </a:r>
          </a:p>
        </p:txBody>
      </p:sp>
      <p:graphicFrame>
        <p:nvGraphicFramePr>
          <p:cNvPr id="27" name="Table 26"/>
          <p:cNvGraphicFramePr>
            <a:graphicFrameLocks noGrp="1"/>
          </p:cNvGraphicFramePr>
          <p:nvPr/>
        </p:nvGraphicFramePr>
        <p:xfrm>
          <a:off x="502920" y="2606040"/>
          <a:ext cx="6675120" cy="2852928"/>
        </p:xfrm>
        <a:graphic>
          <a:graphicData uri="http://schemas.openxmlformats.org/drawingml/2006/table">
            <a:tbl>
              <a:tblPr firstRow="1" bandRow="1">
                <a:tableStyleId>{5C22544A-7EE6-4342-B048-85BDC9FD1C3A}</a:tableStyleId>
              </a:tblPr>
              <a:tblGrid>
                <a:gridCol w="2011680"/>
                <a:gridCol w="4663440"/>
              </a:tblGrid>
              <a:tr h="475488">
                <a:tc>
                  <a:txBody>
                    <a:bodyPr wrap="square"/>
                    <a:lstStyle/>
                    <a:p>
                      <a:r>
                        <a:rPr sz="1300" b="1">
                          <a:solidFill>
                            <a:srgbClr val="FFFFFF"/>
                          </a:solidFill>
                          <a:latin typeface="Calibri"/>
                        </a:rPr>
                        <a:t>Dashboard</a:t>
                      </a:r>
                    </a:p>
                  </a:txBody>
                  <a:tcPr marL="64008" marR="64008" marT="36576" marB="36576" anchor="ctr">
                    <a:solidFill>
                      <a:srgbClr val="1E3A8A"/>
                    </a:solidFill>
                  </a:tcPr>
                </a:tc>
                <a:tc>
                  <a:txBody>
                    <a:bodyPr wrap="square"/>
                    <a:lstStyle/>
                    <a:p>
                      <a:r>
                        <a:rPr sz="1300" b="1">
                          <a:solidFill>
                            <a:srgbClr val="FFFFFF"/>
                          </a:solidFill>
                          <a:latin typeface="Calibri"/>
                        </a:rPr>
                        <a:t>Contenu principal</a:t>
                      </a:r>
                    </a:p>
                  </a:txBody>
                  <a:tcPr marL="64008" marR="64008" marT="36576" marB="36576" anchor="ctr">
                    <a:solidFill>
                      <a:srgbClr val="1E3A8A"/>
                    </a:solidFill>
                  </a:tcPr>
                </a:tc>
              </a:tr>
              <a:tr h="475488">
                <a:tc>
                  <a:txBody>
                    <a:bodyPr wrap="square"/>
                    <a:lstStyle/>
                    <a:p>
                      <a:r>
                        <a:rPr sz="1300" b="1">
                          <a:solidFill>
                            <a:srgbClr val="0F172A"/>
                          </a:solidFill>
                          <a:latin typeface="Calibri"/>
                        </a:rPr>
                        <a:t>Synthèse</a:t>
                      </a:r>
                    </a:p>
                  </a:txBody>
                  <a:tcPr marL="64008" marR="64008" marT="36576" marB="36576" anchor="ctr">
                    <a:solidFill>
                      <a:srgbClr val="FFFFFF"/>
                    </a:solidFill>
                  </a:tcPr>
                </a:tc>
                <a:tc>
                  <a:txBody>
                    <a:bodyPr wrap="square"/>
                    <a:lstStyle/>
                    <a:p>
                      <a:r>
                        <a:rPr sz="1300" b="0">
                          <a:solidFill>
                            <a:srgbClr val="0F172A"/>
                          </a:solidFill>
                          <a:latin typeface="Calibri"/>
                        </a:rPr>
                        <a:t>CA, nombre de ventes, panier moyen, évolution</a:t>
                      </a:r>
                    </a:p>
                  </a:txBody>
                  <a:tcPr marL="64008" marR="64008" marT="36576" marB="36576" anchor="ctr">
                    <a:solidFill>
                      <a:srgbClr val="FFFFFF"/>
                    </a:solidFill>
                  </a:tcPr>
                </a:tc>
              </a:tr>
              <a:tr h="475488">
                <a:tc>
                  <a:txBody>
                    <a:bodyPr wrap="square"/>
                    <a:lstStyle/>
                    <a:p>
                      <a:r>
                        <a:rPr sz="1300" b="1">
                          <a:solidFill>
                            <a:srgbClr val="0F172A"/>
                          </a:solidFill>
                          <a:latin typeface="Calibri"/>
                        </a:rPr>
                        <a:t>Commercial</a:t>
                      </a:r>
                    </a:p>
                  </a:txBody>
                  <a:tcPr marL="64008" marR="64008" marT="36576" marB="36576" anchor="ctr">
                    <a:solidFill>
                      <a:srgbClr val="F8FAFC"/>
                    </a:solidFill>
                  </a:tcPr>
                </a:tc>
                <a:tc>
                  <a:txBody>
                    <a:bodyPr wrap="square"/>
                    <a:lstStyle/>
                    <a:p>
                      <a:r>
                        <a:rPr sz="1300" b="0">
                          <a:solidFill>
                            <a:srgbClr val="0F172A"/>
                          </a:solidFill>
                          <a:latin typeface="Calibri"/>
                        </a:rPr>
                        <a:t>CA, quantités et marge HT par produit, marque, famille, période</a:t>
                      </a:r>
                    </a:p>
                  </a:txBody>
                  <a:tcPr marL="64008" marR="64008" marT="36576" marB="36576" anchor="ctr">
                    <a:solidFill>
                      <a:srgbClr val="F8FAFC"/>
                    </a:solidFill>
                  </a:tcPr>
                </a:tc>
              </a:tr>
              <a:tr h="475488">
                <a:tc>
                  <a:txBody>
                    <a:bodyPr wrap="square"/>
                    <a:lstStyle/>
                    <a:p>
                      <a:r>
                        <a:rPr sz="1300" b="1">
                          <a:solidFill>
                            <a:srgbClr val="0F172A"/>
                          </a:solidFill>
                          <a:latin typeface="Calibri"/>
                        </a:rPr>
                        <a:t>Stock</a:t>
                      </a:r>
                    </a:p>
                  </a:txBody>
                  <a:tcPr marL="64008" marR="64008" marT="36576" marB="36576" anchor="ctr">
                    <a:solidFill>
                      <a:srgbClr val="FFFFFF"/>
                    </a:solidFill>
                  </a:tcPr>
                </a:tc>
                <a:tc>
                  <a:txBody>
                    <a:bodyPr wrap="square"/>
                    <a:lstStyle/>
                    <a:p>
                      <a:r>
                        <a:rPr sz="1300" b="0">
                          <a:solidFill>
                            <a:srgbClr val="0F172A"/>
                          </a:solidFill>
                          <a:latin typeface="Calibri"/>
                        </a:rPr>
                        <a:t>Stock disponible, produits en rupture, produits en stock faible</a:t>
                      </a:r>
                    </a:p>
                  </a:txBody>
                  <a:tcPr marL="64008" marR="64008" marT="36576" marB="36576" anchor="ctr">
                    <a:solidFill>
                      <a:srgbClr val="FFFFFF"/>
                    </a:solidFill>
                  </a:tcPr>
                </a:tc>
              </a:tr>
              <a:tr h="475488">
                <a:tc>
                  <a:txBody>
                    <a:bodyPr wrap="square"/>
                    <a:lstStyle/>
                    <a:p>
                      <a:r>
                        <a:rPr sz="1300" b="1">
                          <a:solidFill>
                            <a:srgbClr val="0F172A"/>
                          </a:solidFill>
                          <a:latin typeface="Calibri"/>
                        </a:rPr>
                        <a:t>Clients</a:t>
                      </a:r>
                    </a:p>
                  </a:txBody>
                  <a:tcPr marL="64008" marR="64008" marT="36576" marB="36576" anchor="ctr">
                    <a:solidFill>
                      <a:srgbClr val="F8FAFC"/>
                    </a:solidFill>
                  </a:tcPr>
                </a:tc>
                <a:tc>
                  <a:txBody>
                    <a:bodyPr wrap="square"/>
                    <a:lstStyle/>
                    <a:p>
                      <a:r>
                        <a:rPr sz="1300" b="0">
                          <a:solidFill>
                            <a:srgbClr val="0F172A"/>
                          </a:solidFill>
                          <a:latin typeface="Calibri"/>
                        </a:rPr>
                        <a:t>Clients actifs, fréquence, valeur, type de client</a:t>
                      </a:r>
                    </a:p>
                  </a:txBody>
                  <a:tcPr marL="64008" marR="64008" marT="36576" marB="36576" anchor="ctr">
                    <a:solidFill>
                      <a:srgbClr val="F8FAFC"/>
                    </a:solidFill>
                  </a:tcPr>
                </a:tc>
              </a:tr>
              <a:tr h="475488">
                <a:tc>
                  <a:txBody>
                    <a:bodyPr wrap="square"/>
                    <a:lstStyle/>
                    <a:p>
                      <a:r>
                        <a:rPr sz="1300" b="1">
                          <a:solidFill>
                            <a:srgbClr val="0F172A"/>
                          </a:solidFill>
                          <a:latin typeface="Calibri"/>
                        </a:rPr>
                        <a:t>Paiements</a:t>
                      </a:r>
                    </a:p>
                  </a:txBody>
                  <a:tcPr marL="64008" marR="64008" marT="36576" marB="36576" anchor="ctr">
                    <a:solidFill>
                      <a:srgbClr val="FFFFFF"/>
                    </a:solidFill>
                  </a:tcPr>
                </a:tc>
                <a:tc>
                  <a:txBody>
                    <a:bodyPr wrap="square"/>
                    <a:lstStyle/>
                    <a:p>
                      <a:r>
                        <a:rPr sz="1300" b="0">
                          <a:solidFill>
                            <a:srgbClr val="0F172A"/>
                          </a:solidFill>
                          <a:latin typeface="Calibri"/>
                        </a:rPr>
                        <a:t>Montant encaissé, nombre de paiements, par moyen et période</a:t>
                      </a:r>
                    </a:p>
                  </a:txBody>
                  <a:tcPr marL="64008" marR="64008" marT="36576" marB="36576" anchor="ctr">
                    <a:solidFill>
                      <a:srgbClr val="FFFFFF"/>
                    </a:solidFill>
                  </a:tcPr>
                </a:tc>
              </a:tr>
            </a:tbl>
          </a:graphicData>
        </a:graphic>
      </p:graphicFrame>
      <p:sp>
        <p:nvSpPr>
          <p:cNvPr id="28" name="Rounded Rectangle 27"/>
          <p:cNvSpPr/>
          <p:nvPr/>
        </p:nvSpPr>
        <p:spPr>
          <a:xfrm>
            <a:off x="7498079" y="2606040"/>
            <a:ext cx="4206240" cy="2852928"/>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26679" y="2642616"/>
            <a:ext cx="3749039" cy="2779776"/>
          </a:xfrm>
          <a:prstGeom prst="rect">
            <a:avLst/>
          </a:prstGeom>
          <a:noFill/>
        </p:spPr>
        <p:txBody>
          <a:bodyPr wrap="square" anchor="t" lIns="45720" rIns="45720">
            <a:spAutoFit/>
          </a:bodyPr>
          <a:lstStyle/>
          <a:p>
            <a:pPr algn="l">
              <a:spcAft>
                <a:spcPts val="300"/>
              </a:spcAft>
            </a:pPr>
            <a:r>
              <a:rPr sz="1400" b="1">
                <a:solidFill>
                  <a:srgbClr val="1E3A8A"/>
                </a:solidFill>
                <a:latin typeface="Calibri"/>
              </a:rPr>
              <a:t>Formules clés (cahier §6 et §12)</a:t>
            </a:r>
          </a:p>
          <a:p>
            <a:pPr algn="l">
              <a:spcAft>
                <a:spcPts val="300"/>
              </a:spcAft>
            </a:pPr>
            <a:r>
              <a:rPr sz="1300" b="0">
                <a:solidFill>
                  <a:srgbClr val="0F172A"/>
                </a:solidFill>
                <a:latin typeface="Calibri"/>
              </a:rPr>
              <a:t>CA HT = SUM(CA_HT) · Marge HT = CA HT − Coût HT</a:t>
            </a:r>
          </a:p>
          <a:p>
            <a:pPr algn="l">
              <a:spcAft>
                <a:spcPts val="300"/>
              </a:spcAft>
            </a:pPr>
            <a:r>
              <a:rPr sz="1300" b="0">
                <a:solidFill>
                  <a:srgbClr val="0F172A"/>
                </a:solidFill>
                <a:latin typeface="Calibri"/>
              </a:rPr>
              <a:t>Croissance = (CA N − CA N-1) / CA N-1 × 100</a:t>
            </a:r>
          </a:p>
          <a:p>
            <a:pPr algn="l">
              <a:spcAft>
                <a:spcPts val="300"/>
              </a:spcAft>
            </a:pPr>
            <a:r>
              <a:rPr sz="1300" b="0">
                <a:solidFill>
                  <a:srgbClr val="0F172A"/>
                </a:solidFill>
                <a:latin typeface="Calibri"/>
              </a:rPr>
              <a:t>Panier moyen = CA / Nb de documents</a:t>
            </a:r>
          </a:p>
          <a:p>
            <a:pPr algn="l">
              <a:spcAft>
                <a:spcPts val="300"/>
              </a:spcAft>
            </a:pPr>
            <a:r>
              <a:rPr sz="1300" b="0">
                <a:solidFill>
                  <a:srgbClr val="0F172A"/>
                </a:solidFill>
                <a:latin typeface="Calibri"/>
              </a:rPr>
              <a:t>Rupture : Quantity = 0 · stock faible : 0 &lt; Quantity ≤ seuil</a:t>
            </a:r>
          </a:p>
          <a:p>
            <a:pPr algn="l">
              <a:spcAft>
                <a:spcPts val="300"/>
              </a:spcAft>
            </a:pPr>
            <a:r>
              <a:rPr sz="1300" b="0">
                <a:solidFill>
                  <a:srgbClr val="475569"/>
                </a:solidFill>
                <a:latin typeface="Calibri"/>
              </a:rPr>
              <a:t>Filtres minimum : période, produit, marque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3 · MÉTHODOLOGIE DE TRAVAIL</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Partie ML : quatre cas d'usage, une démarche commune</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12</a:t>
            </a:r>
          </a:p>
        </p:txBody>
      </p:sp>
      <p:sp>
        <p:nvSpPr>
          <p:cNvPr id="7" name="Rectangle 6"/>
          <p:cNvSpPr/>
          <p:nvPr/>
        </p:nvSpPr>
        <p:spPr>
          <a:xfrm>
            <a:off x="502920" y="1371600"/>
            <a:ext cx="2697480" cy="41148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371600"/>
            <a:ext cx="2697480" cy="822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7512" y="1536192"/>
            <a:ext cx="2423160" cy="457200"/>
          </a:xfrm>
          <a:prstGeom prst="rect">
            <a:avLst/>
          </a:prstGeom>
          <a:noFill/>
        </p:spPr>
        <p:txBody>
          <a:bodyPr wrap="square" anchor="t" lIns="45720" rIns="45720">
            <a:spAutoFit/>
          </a:bodyPr>
          <a:lstStyle/>
          <a:p>
            <a:pPr algn="l">
              <a:spcAft>
                <a:spcPts val="600"/>
              </a:spcAft>
            </a:pPr>
            <a:r>
              <a:rPr sz="1600" b="1">
                <a:solidFill>
                  <a:srgbClr val="6D28D9"/>
                </a:solidFill>
                <a:latin typeface="Calibri"/>
              </a:rPr>
              <a:t>Prévision de la demande</a:t>
            </a:r>
          </a:p>
        </p:txBody>
      </p:sp>
      <p:sp>
        <p:nvSpPr>
          <p:cNvPr id="10" name="TextBox 9"/>
          <p:cNvSpPr txBox="1"/>
          <p:nvPr/>
        </p:nvSpPr>
        <p:spPr>
          <a:xfrm>
            <a:off x="667512" y="1993392"/>
            <a:ext cx="2423160" cy="320040"/>
          </a:xfrm>
          <a:prstGeom prst="rect">
            <a:avLst/>
          </a:prstGeom>
          <a:noFill/>
        </p:spPr>
        <p:txBody>
          <a:bodyPr wrap="square" anchor="t" lIns="45720" rIns="45720">
            <a:spAutoFit/>
          </a:bodyPr>
          <a:lstStyle/>
          <a:p>
            <a:pPr algn="l">
              <a:spcAft>
                <a:spcPts val="600"/>
              </a:spcAft>
            </a:pPr>
            <a:r>
              <a:rPr sz="1200" b="1">
                <a:solidFill>
                  <a:srgbClr val="475569"/>
                </a:solidFill>
                <a:latin typeface="Calibri"/>
              </a:rPr>
              <a:t>Régression · séries temporelles</a:t>
            </a:r>
          </a:p>
        </p:txBody>
      </p:sp>
      <p:sp>
        <p:nvSpPr>
          <p:cNvPr id="11" name="TextBox 10"/>
          <p:cNvSpPr txBox="1"/>
          <p:nvPr/>
        </p:nvSpPr>
        <p:spPr>
          <a:xfrm>
            <a:off x="667512" y="2377440"/>
            <a:ext cx="2423160" cy="3566160"/>
          </a:xfrm>
          <a:prstGeom prst="rect">
            <a:avLst/>
          </a:prstGeom>
          <a:noFill/>
        </p:spPr>
        <p:txBody>
          <a:bodyPr wrap="square" anchor="t" lIns="45720" rIns="45720">
            <a:spAutoFit/>
          </a:bodyPr>
          <a:lstStyle/>
          <a:p>
            <a:pPr algn="l">
              <a:spcAft>
                <a:spcPts val="200"/>
              </a:spcAft>
            </a:pPr>
            <a:r>
              <a:rPr sz="1100" b="1">
                <a:solidFill>
                  <a:srgbClr val="475569"/>
                </a:solidFill>
                <a:latin typeface="Calibri"/>
              </a:rPr>
              <a:t>Données</a:t>
            </a:r>
          </a:p>
          <a:p>
            <a:pPr algn="l">
              <a:spcAft>
                <a:spcPts val="200"/>
              </a:spcAft>
            </a:pPr>
            <a:r>
              <a:rPr sz="1300" b="0">
                <a:solidFill>
                  <a:srgbClr val="0F172A"/>
                </a:solidFill>
                <a:latin typeface="Calibri"/>
              </a:rPr>
              <a:t>735 semaines × famille</a:t>
            </a:r>
          </a:p>
          <a:p>
            <a:pPr algn="l">
              <a:spcAft>
                <a:spcPts val="200"/>
              </a:spcAft>
            </a:pPr>
            <a:r>
              <a:rPr sz="1100" b="1">
                <a:solidFill>
                  <a:srgbClr val="475569"/>
                </a:solidFill>
                <a:latin typeface="Calibri"/>
              </a:rPr>
              <a:t>Variables</a:t>
            </a:r>
          </a:p>
          <a:p>
            <a:pPr algn="l">
              <a:spcAft>
                <a:spcPts val="200"/>
              </a:spcAft>
            </a:pPr>
            <a:r>
              <a:rPr sz="1300" b="0">
                <a:solidFill>
                  <a:srgbClr val="0F172A"/>
                </a:solidFill>
                <a:latin typeface="Calibri"/>
              </a:rPr>
              <a:t>X : historique (lags), prix, remise, canal, fériés, météo, épidémies</a:t>
            </a:r>
          </a:p>
          <a:p>
            <a:pPr algn="l">
              <a:spcAft>
                <a:spcPts val="200"/>
              </a:spcAft>
            </a:pPr>
            <a:r>
              <a:rPr sz="1100" b="1">
                <a:solidFill>
                  <a:srgbClr val="475569"/>
                </a:solidFill>
                <a:latin typeface="Calibri"/>
              </a:rPr>
              <a:t>Modèles</a:t>
            </a:r>
          </a:p>
          <a:p>
            <a:pPr algn="l">
              <a:spcAft>
                <a:spcPts val="200"/>
              </a:spcAft>
            </a:pPr>
            <a:r>
              <a:rPr sz="1300" b="0">
                <a:solidFill>
                  <a:srgbClr val="0F172A"/>
                </a:solidFill>
                <a:latin typeface="Calibri"/>
              </a:rPr>
              <a:t>Référence naïve → SARIMA / Prophet → XGBoost</a:t>
            </a:r>
          </a:p>
          <a:p>
            <a:pPr algn="l">
              <a:spcAft>
                <a:spcPts val="200"/>
              </a:spcAft>
            </a:pPr>
            <a:r>
              <a:rPr sz="1100" b="1">
                <a:solidFill>
                  <a:srgbClr val="475569"/>
                </a:solidFill>
                <a:latin typeface="Calibri"/>
              </a:rPr>
              <a:t>Évaluation</a:t>
            </a:r>
          </a:p>
          <a:p>
            <a:pPr algn="l">
              <a:spcAft>
                <a:spcPts val="200"/>
              </a:spcAft>
            </a:pPr>
            <a:r>
              <a:rPr sz="1300" b="0">
                <a:solidFill>
                  <a:srgbClr val="0F172A"/>
                </a:solidFill>
                <a:latin typeface="Calibri"/>
              </a:rPr>
              <a:t>Validation temporelle · MAE / RMSE</a:t>
            </a:r>
          </a:p>
        </p:txBody>
      </p:sp>
      <p:sp>
        <p:nvSpPr>
          <p:cNvPr id="12" name="Rectangle 11"/>
          <p:cNvSpPr/>
          <p:nvPr/>
        </p:nvSpPr>
        <p:spPr>
          <a:xfrm>
            <a:off x="3337560" y="1371600"/>
            <a:ext cx="2697480" cy="41148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37560" y="1371600"/>
            <a:ext cx="2697480" cy="822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2152" y="1536192"/>
            <a:ext cx="2423160" cy="457200"/>
          </a:xfrm>
          <a:prstGeom prst="rect">
            <a:avLst/>
          </a:prstGeom>
          <a:noFill/>
        </p:spPr>
        <p:txBody>
          <a:bodyPr wrap="square" anchor="t" lIns="45720" rIns="45720">
            <a:spAutoFit/>
          </a:bodyPr>
          <a:lstStyle/>
          <a:p>
            <a:pPr algn="l">
              <a:spcAft>
                <a:spcPts val="600"/>
              </a:spcAft>
            </a:pPr>
            <a:r>
              <a:rPr sz="1600" b="1">
                <a:solidFill>
                  <a:srgbClr val="6D28D9"/>
                </a:solidFill>
                <a:latin typeface="Calibri"/>
              </a:rPr>
              <a:t>Anomalies sur les ventes</a:t>
            </a:r>
          </a:p>
        </p:txBody>
      </p:sp>
      <p:sp>
        <p:nvSpPr>
          <p:cNvPr id="15" name="TextBox 14"/>
          <p:cNvSpPr txBox="1"/>
          <p:nvPr/>
        </p:nvSpPr>
        <p:spPr>
          <a:xfrm>
            <a:off x="3502152" y="1993392"/>
            <a:ext cx="2423160" cy="320040"/>
          </a:xfrm>
          <a:prstGeom prst="rect">
            <a:avLst/>
          </a:prstGeom>
          <a:noFill/>
        </p:spPr>
        <p:txBody>
          <a:bodyPr wrap="square" anchor="t" lIns="45720" rIns="45720">
            <a:spAutoFit/>
          </a:bodyPr>
          <a:lstStyle/>
          <a:p>
            <a:pPr algn="l">
              <a:spcAft>
                <a:spcPts val="600"/>
              </a:spcAft>
            </a:pPr>
            <a:r>
              <a:rPr sz="1200" b="1">
                <a:solidFill>
                  <a:srgbClr val="475569"/>
                </a:solidFill>
                <a:latin typeface="Calibri"/>
              </a:rPr>
              <a:t>Non supervisé</a:t>
            </a:r>
          </a:p>
        </p:txBody>
      </p:sp>
      <p:sp>
        <p:nvSpPr>
          <p:cNvPr id="16" name="TextBox 15"/>
          <p:cNvSpPr txBox="1"/>
          <p:nvPr/>
        </p:nvSpPr>
        <p:spPr>
          <a:xfrm>
            <a:off x="3502152" y="2377440"/>
            <a:ext cx="2423160" cy="3566160"/>
          </a:xfrm>
          <a:prstGeom prst="rect">
            <a:avLst/>
          </a:prstGeom>
          <a:noFill/>
        </p:spPr>
        <p:txBody>
          <a:bodyPr wrap="square" anchor="t" lIns="45720" rIns="45720">
            <a:spAutoFit/>
          </a:bodyPr>
          <a:lstStyle/>
          <a:p>
            <a:pPr algn="l">
              <a:spcAft>
                <a:spcPts val="200"/>
              </a:spcAft>
            </a:pPr>
            <a:r>
              <a:rPr sz="1100" b="1">
                <a:solidFill>
                  <a:srgbClr val="475569"/>
                </a:solidFill>
                <a:latin typeface="Calibri"/>
              </a:rPr>
              <a:t>Données</a:t>
            </a:r>
          </a:p>
          <a:p>
            <a:pPr algn="l">
              <a:spcAft>
                <a:spcPts val="200"/>
              </a:spcAft>
            </a:pPr>
            <a:r>
              <a:rPr sz="1300" b="0">
                <a:solidFill>
                  <a:srgbClr val="0F172A"/>
                </a:solidFill>
                <a:latin typeface="Calibri"/>
              </a:rPr>
              <a:t>91 952 lignes de vente</a:t>
            </a:r>
          </a:p>
          <a:p>
            <a:pPr algn="l">
              <a:spcAft>
                <a:spcPts val="200"/>
              </a:spcAft>
            </a:pPr>
            <a:r>
              <a:rPr sz="1100" b="1">
                <a:solidFill>
                  <a:srgbClr val="475569"/>
                </a:solidFill>
                <a:latin typeface="Calibri"/>
              </a:rPr>
              <a:t>Variables</a:t>
            </a:r>
          </a:p>
          <a:p>
            <a:pPr algn="l">
              <a:spcAft>
                <a:spcPts val="200"/>
              </a:spcAft>
            </a:pPr>
            <a:r>
              <a:rPr sz="1300" b="0">
                <a:solidFill>
                  <a:srgbClr val="0F172A"/>
                </a:solidFill>
                <a:latin typeface="Calibri"/>
              </a:rPr>
              <a:t>X : remise, écart prix / coût moyen, quantité atypique, vendeur, heure</a:t>
            </a:r>
          </a:p>
          <a:p>
            <a:pPr algn="l">
              <a:spcAft>
                <a:spcPts val="200"/>
              </a:spcAft>
            </a:pPr>
            <a:r>
              <a:rPr sz="1100" b="1">
                <a:solidFill>
                  <a:srgbClr val="475569"/>
                </a:solidFill>
                <a:latin typeface="Calibri"/>
              </a:rPr>
              <a:t>Modèles</a:t>
            </a:r>
          </a:p>
          <a:p>
            <a:pPr algn="l">
              <a:spcAft>
                <a:spcPts val="200"/>
              </a:spcAft>
            </a:pPr>
            <a:r>
              <a:rPr sz="1300" b="0">
                <a:solidFill>
                  <a:srgbClr val="0F172A"/>
                </a:solidFill>
                <a:latin typeface="Calibri"/>
              </a:rPr>
              <a:t>Isolation Forest · LOF</a:t>
            </a:r>
          </a:p>
          <a:p>
            <a:pPr algn="l">
              <a:spcAft>
                <a:spcPts val="200"/>
              </a:spcAft>
            </a:pPr>
            <a:r>
              <a:rPr sz="1100" b="1">
                <a:solidFill>
                  <a:srgbClr val="475569"/>
                </a:solidFill>
                <a:latin typeface="Calibri"/>
              </a:rPr>
              <a:t>Évaluation</a:t>
            </a:r>
          </a:p>
          <a:p>
            <a:pPr algn="l">
              <a:spcAft>
                <a:spcPts val="200"/>
              </a:spcAft>
            </a:pPr>
            <a:r>
              <a:rPr sz="1300" b="0">
                <a:solidFill>
                  <a:srgbClr val="0F172A"/>
                </a:solidFill>
                <a:latin typeface="Calibri"/>
              </a:rPr>
              <a:t>Contrôle par règles métier et revue manuelle</a:t>
            </a:r>
          </a:p>
        </p:txBody>
      </p:sp>
      <p:sp>
        <p:nvSpPr>
          <p:cNvPr id="17" name="Rectangle 16"/>
          <p:cNvSpPr/>
          <p:nvPr/>
        </p:nvSpPr>
        <p:spPr>
          <a:xfrm>
            <a:off x="6172200" y="1371600"/>
            <a:ext cx="2697480" cy="41148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172200" y="1371600"/>
            <a:ext cx="2697480" cy="822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36792" y="1536192"/>
            <a:ext cx="2423160" cy="457200"/>
          </a:xfrm>
          <a:prstGeom prst="rect">
            <a:avLst/>
          </a:prstGeom>
          <a:noFill/>
        </p:spPr>
        <p:txBody>
          <a:bodyPr wrap="square" anchor="t" lIns="45720" rIns="45720">
            <a:spAutoFit/>
          </a:bodyPr>
          <a:lstStyle/>
          <a:p>
            <a:pPr algn="l">
              <a:spcAft>
                <a:spcPts val="600"/>
              </a:spcAft>
            </a:pPr>
            <a:r>
              <a:rPr sz="1600" b="1">
                <a:solidFill>
                  <a:srgbClr val="6D28D9"/>
                </a:solidFill>
                <a:latin typeface="Calibri"/>
              </a:rPr>
              <a:t>Anomalies de caisse</a:t>
            </a:r>
          </a:p>
        </p:txBody>
      </p:sp>
      <p:sp>
        <p:nvSpPr>
          <p:cNvPr id="20" name="TextBox 19"/>
          <p:cNvSpPr txBox="1"/>
          <p:nvPr/>
        </p:nvSpPr>
        <p:spPr>
          <a:xfrm>
            <a:off x="6336792" y="1993392"/>
            <a:ext cx="2423160" cy="320040"/>
          </a:xfrm>
          <a:prstGeom prst="rect">
            <a:avLst/>
          </a:prstGeom>
          <a:noFill/>
        </p:spPr>
        <p:txBody>
          <a:bodyPr wrap="square" anchor="t" lIns="45720" rIns="45720">
            <a:spAutoFit/>
          </a:bodyPr>
          <a:lstStyle/>
          <a:p>
            <a:pPr algn="l">
              <a:spcAft>
                <a:spcPts val="600"/>
              </a:spcAft>
            </a:pPr>
            <a:r>
              <a:rPr sz="1200" b="1">
                <a:solidFill>
                  <a:srgbClr val="475569"/>
                </a:solidFill>
                <a:latin typeface="Calibri"/>
              </a:rPr>
              <a:t>Anomalies · classification</a:t>
            </a:r>
          </a:p>
        </p:txBody>
      </p:sp>
      <p:sp>
        <p:nvSpPr>
          <p:cNvPr id="21" name="TextBox 20"/>
          <p:cNvSpPr txBox="1"/>
          <p:nvPr/>
        </p:nvSpPr>
        <p:spPr>
          <a:xfrm>
            <a:off x="6336792" y="2377440"/>
            <a:ext cx="2423160" cy="3566160"/>
          </a:xfrm>
          <a:prstGeom prst="rect">
            <a:avLst/>
          </a:prstGeom>
          <a:noFill/>
        </p:spPr>
        <p:txBody>
          <a:bodyPr wrap="square" anchor="t" lIns="45720" rIns="45720">
            <a:spAutoFit/>
          </a:bodyPr>
          <a:lstStyle/>
          <a:p>
            <a:pPr algn="l">
              <a:spcAft>
                <a:spcPts val="200"/>
              </a:spcAft>
            </a:pPr>
            <a:r>
              <a:rPr sz="1100" b="1">
                <a:solidFill>
                  <a:srgbClr val="475569"/>
                </a:solidFill>
                <a:latin typeface="Calibri"/>
              </a:rPr>
              <a:t>Données</a:t>
            </a:r>
          </a:p>
          <a:p>
            <a:pPr algn="l">
              <a:spcAft>
                <a:spcPts val="200"/>
              </a:spcAft>
            </a:pPr>
            <a:r>
              <a:rPr sz="1300" b="0">
                <a:solidFill>
                  <a:srgbClr val="0F172A"/>
                </a:solidFill>
                <a:latin typeface="Calibri"/>
              </a:rPr>
              <a:t>38 153 opérations · 2 107 écarts</a:t>
            </a:r>
          </a:p>
          <a:p>
            <a:pPr algn="l">
              <a:spcAft>
                <a:spcPts val="200"/>
              </a:spcAft>
            </a:pPr>
            <a:r>
              <a:rPr sz="1100" b="1">
                <a:solidFill>
                  <a:srgbClr val="475569"/>
                </a:solidFill>
                <a:latin typeface="Calibri"/>
              </a:rPr>
              <a:t>Variables</a:t>
            </a:r>
          </a:p>
          <a:p>
            <a:pPr algn="l">
              <a:spcAft>
                <a:spcPts val="200"/>
              </a:spcAft>
            </a:pPr>
            <a:r>
              <a:rPr sz="1300" b="0">
                <a:solidFill>
                  <a:srgbClr val="0F172A"/>
                </a:solidFill>
                <a:latin typeface="Calibri"/>
              </a:rPr>
              <a:t>X : montant, utilisateur, heure, taux d'annulation ; Y : annulation (405 cas)</a:t>
            </a:r>
          </a:p>
          <a:p>
            <a:pPr algn="l">
              <a:spcAft>
                <a:spcPts val="200"/>
              </a:spcAft>
            </a:pPr>
            <a:r>
              <a:rPr sz="1100" b="1">
                <a:solidFill>
                  <a:srgbClr val="475569"/>
                </a:solidFill>
                <a:latin typeface="Calibri"/>
              </a:rPr>
              <a:t>Modèles</a:t>
            </a:r>
          </a:p>
          <a:p>
            <a:pPr algn="l">
              <a:spcAft>
                <a:spcPts val="200"/>
              </a:spcAft>
            </a:pPr>
            <a:r>
              <a:rPr sz="1300" b="0">
                <a:solidFill>
                  <a:srgbClr val="0F172A"/>
                </a:solidFill>
                <a:latin typeface="Calibri"/>
              </a:rPr>
              <a:t>Isolation Forest · Random Forest pondéré</a:t>
            </a:r>
          </a:p>
          <a:p>
            <a:pPr algn="l">
              <a:spcAft>
                <a:spcPts val="200"/>
              </a:spcAft>
            </a:pPr>
            <a:r>
              <a:rPr sz="1100" b="1">
                <a:solidFill>
                  <a:srgbClr val="475569"/>
                </a:solidFill>
                <a:latin typeface="Calibri"/>
              </a:rPr>
              <a:t>Évaluation</a:t>
            </a:r>
          </a:p>
          <a:p>
            <a:pPr algn="l">
              <a:spcAft>
                <a:spcPts val="200"/>
              </a:spcAft>
            </a:pPr>
            <a:r>
              <a:rPr sz="1300" b="0">
                <a:solidFill>
                  <a:srgbClr val="0F172A"/>
                </a:solidFill>
                <a:latin typeface="Calibri"/>
              </a:rPr>
              <a:t>Précision / rappel (classes déséquilibrées)</a:t>
            </a:r>
          </a:p>
        </p:txBody>
      </p:sp>
      <p:sp>
        <p:nvSpPr>
          <p:cNvPr id="22" name="Rectangle 21"/>
          <p:cNvSpPr/>
          <p:nvPr/>
        </p:nvSpPr>
        <p:spPr>
          <a:xfrm>
            <a:off x="9006840" y="1371600"/>
            <a:ext cx="2697480" cy="41148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006840" y="1371600"/>
            <a:ext cx="2697480" cy="822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1536192"/>
            <a:ext cx="2423160" cy="457200"/>
          </a:xfrm>
          <a:prstGeom prst="rect">
            <a:avLst/>
          </a:prstGeom>
          <a:noFill/>
        </p:spPr>
        <p:txBody>
          <a:bodyPr wrap="square" anchor="t" lIns="45720" rIns="45720">
            <a:spAutoFit/>
          </a:bodyPr>
          <a:lstStyle/>
          <a:p>
            <a:pPr algn="l">
              <a:spcAft>
                <a:spcPts val="600"/>
              </a:spcAft>
            </a:pPr>
            <a:r>
              <a:rPr sz="1600" b="1">
                <a:solidFill>
                  <a:srgbClr val="6D28D9"/>
                </a:solidFill>
                <a:latin typeface="Calibri"/>
              </a:rPr>
              <a:t>Segmentation des clients</a:t>
            </a:r>
          </a:p>
        </p:txBody>
      </p:sp>
      <p:sp>
        <p:nvSpPr>
          <p:cNvPr id="25" name="TextBox 24"/>
          <p:cNvSpPr txBox="1"/>
          <p:nvPr/>
        </p:nvSpPr>
        <p:spPr>
          <a:xfrm>
            <a:off x="9171432" y="1993392"/>
            <a:ext cx="2423160" cy="320040"/>
          </a:xfrm>
          <a:prstGeom prst="rect">
            <a:avLst/>
          </a:prstGeom>
          <a:noFill/>
        </p:spPr>
        <p:txBody>
          <a:bodyPr wrap="square" anchor="t" lIns="45720" rIns="45720">
            <a:spAutoFit/>
          </a:bodyPr>
          <a:lstStyle/>
          <a:p>
            <a:pPr algn="l">
              <a:spcAft>
                <a:spcPts val="600"/>
              </a:spcAft>
            </a:pPr>
            <a:r>
              <a:rPr sz="1200" b="1">
                <a:solidFill>
                  <a:srgbClr val="475569"/>
                </a:solidFill>
                <a:latin typeface="Calibri"/>
              </a:rPr>
              <a:t>Clustering</a:t>
            </a:r>
          </a:p>
        </p:txBody>
      </p:sp>
      <p:sp>
        <p:nvSpPr>
          <p:cNvPr id="26" name="TextBox 25"/>
          <p:cNvSpPr txBox="1"/>
          <p:nvPr/>
        </p:nvSpPr>
        <p:spPr>
          <a:xfrm>
            <a:off x="9171432" y="2377440"/>
            <a:ext cx="2423160" cy="3566160"/>
          </a:xfrm>
          <a:prstGeom prst="rect">
            <a:avLst/>
          </a:prstGeom>
          <a:noFill/>
        </p:spPr>
        <p:txBody>
          <a:bodyPr wrap="square" anchor="t" lIns="45720" rIns="45720">
            <a:spAutoFit/>
          </a:bodyPr>
          <a:lstStyle/>
          <a:p>
            <a:pPr algn="l">
              <a:spcAft>
                <a:spcPts val="200"/>
              </a:spcAft>
            </a:pPr>
            <a:r>
              <a:rPr sz="1100" b="1">
                <a:solidFill>
                  <a:srgbClr val="475569"/>
                </a:solidFill>
                <a:latin typeface="Calibri"/>
              </a:rPr>
              <a:t>Données</a:t>
            </a:r>
          </a:p>
          <a:p>
            <a:pPr algn="l">
              <a:spcAft>
                <a:spcPts val="200"/>
              </a:spcAft>
            </a:pPr>
            <a:r>
              <a:rPr sz="1300" b="0">
                <a:solidFill>
                  <a:srgbClr val="0F172A"/>
                </a:solidFill>
                <a:latin typeface="Calibri"/>
              </a:rPr>
              <a:t>79 clients identifiés (42 % du CA)</a:t>
            </a:r>
          </a:p>
          <a:p>
            <a:pPr algn="l">
              <a:spcAft>
                <a:spcPts val="200"/>
              </a:spcAft>
            </a:pPr>
            <a:r>
              <a:rPr sz="1100" b="1">
                <a:solidFill>
                  <a:srgbClr val="475569"/>
                </a:solidFill>
                <a:latin typeface="Calibri"/>
              </a:rPr>
              <a:t>Variables</a:t>
            </a:r>
          </a:p>
          <a:p>
            <a:pPr algn="l">
              <a:spcAft>
                <a:spcPts val="200"/>
              </a:spcAft>
            </a:pPr>
            <a:r>
              <a:rPr sz="1300" b="0">
                <a:solidFill>
                  <a:srgbClr val="0F172A"/>
                </a:solidFill>
                <a:latin typeface="Calibri"/>
              </a:rPr>
              <a:t>X : CA, fréquence, panier, ancienneté, récence, B2B / particulier</a:t>
            </a:r>
          </a:p>
          <a:p>
            <a:pPr algn="l">
              <a:spcAft>
                <a:spcPts val="200"/>
              </a:spcAft>
            </a:pPr>
            <a:r>
              <a:rPr sz="1100" b="1">
                <a:solidFill>
                  <a:srgbClr val="475569"/>
                </a:solidFill>
                <a:latin typeface="Calibri"/>
              </a:rPr>
              <a:t>Modèles</a:t>
            </a:r>
          </a:p>
          <a:p>
            <a:pPr algn="l">
              <a:spcAft>
                <a:spcPts val="200"/>
              </a:spcAft>
            </a:pPr>
            <a:r>
              <a:rPr sz="1300" b="0">
                <a:solidFill>
                  <a:srgbClr val="0F172A"/>
                </a:solidFill>
                <a:latin typeface="Calibri"/>
              </a:rPr>
              <a:t>Log + standardisation → K-Means / CAH</a:t>
            </a:r>
          </a:p>
          <a:p>
            <a:pPr algn="l">
              <a:spcAft>
                <a:spcPts val="200"/>
              </a:spcAft>
            </a:pPr>
            <a:r>
              <a:rPr sz="1100" b="1">
                <a:solidFill>
                  <a:srgbClr val="475569"/>
                </a:solidFill>
                <a:latin typeface="Calibri"/>
              </a:rPr>
              <a:t>Évaluation</a:t>
            </a:r>
          </a:p>
          <a:p>
            <a:pPr algn="l">
              <a:spcAft>
                <a:spcPts val="200"/>
              </a:spcAft>
            </a:pPr>
            <a:r>
              <a:rPr sz="1300" b="0">
                <a:solidFill>
                  <a:srgbClr val="0F172A"/>
                </a:solidFill>
                <a:latin typeface="Calibri"/>
              </a:rPr>
              <a:t>Silhouette, méthode du coude, profils métier</a:t>
            </a:r>
          </a:p>
        </p:txBody>
      </p:sp>
      <p:sp>
        <p:nvSpPr>
          <p:cNvPr id="27" name="Rounded Rectangle 26"/>
          <p:cNvSpPr/>
          <p:nvPr/>
        </p:nvSpPr>
        <p:spPr>
          <a:xfrm>
            <a:off x="502920" y="5623560"/>
            <a:ext cx="11201400" cy="548640"/>
          </a:xfrm>
          <a:prstGeom prst="roundRect">
            <a:avLst>
              <a:gd name="adj" fmla="val 8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 y="5660136"/>
            <a:ext cx="10835640" cy="475488"/>
          </a:xfrm>
          <a:prstGeom prst="rect">
            <a:avLst/>
          </a:prstGeom>
          <a:noFill/>
        </p:spPr>
        <p:txBody>
          <a:bodyPr wrap="square" anchor="ctr" lIns="45720" rIns="45720">
            <a:spAutoFit/>
          </a:bodyPr>
          <a:lstStyle/>
          <a:p>
            <a:pPr algn="l">
              <a:spcAft>
                <a:spcPts val="300"/>
              </a:spcAft>
            </a:pPr>
            <a:r>
              <a:rPr sz="1300" b="1">
                <a:solidFill>
                  <a:srgbClr val="6D28D9"/>
                </a:solidFill>
                <a:latin typeface="Calibri"/>
              </a:rPr>
              <a:t>Premier signal (période réelle, 30 semaines) : ventes de compléments alimentaires corrélées à la température (-0,54) et à la grippe (+0,34) — candidates, à valider.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4 · MODÈLE DU DATA WAREHOUSE</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Modèle du Data Warehouse : une constellation de faits</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13</a:t>
            </a:r>
          </a:p>
        </p:txBody>
      </p:sp>
      <p:pic>
        <p:nvPicPr>
          <p:cNvPr id="7" name="Picture 6" descr="schema_dwh_diagramme.png"/>
          <p:cNvPicPr>
            <a:picLocks noChangeAspect="1"/>
          </p:cNvPicPr>
          <p:nvPr/>
        </p:nvPicPr>
        <p:blipFill>
          <a:blip r:embed="rId3"/>
          <a:stretch>
            <a:fillRect/>
          </a:stretch>
        </p:blipFill>
        <p:spPr>
          <a:xfrm>
            <a:off x="2331720" y="1280160"/>
            <a:ext cx="8936049" cy="5029200"/>
          </a:xfrm>
          <a:prstGeom prst="rect">
            <a:avLst/>
          </a:prstGeom>
        </p:spPr>
      </p:pic>
      <p:sp>
        <p:nvSpPr>
          <p:cNvPr id="8" name="TextBox 7"/>
          <p:cNvSpPr txBox="1"/>
          <p:nvPr/>
        </p:nvSpPr>
        <p:spPr>
          <a:xfrm>
            <a:off x="365760" y="1828800"/>
            <a:ext cx="1737360" cy="3657600"/>
          </a:xfrm>
          <a:prstGeom prst="rect">
            <a:avLst/>
          </a:prstGeom>
          <a:noFill/>
        </p:spPr>
        <p:txBody>
          <a:bodyPr wrap="square" anchor="t" lIns="45720" rIns="45720">
            <a:spAutoFit/>
          </a:bodyPr>
          <a:lstStyle/>
          <a:p>
            <a:pPr algn="l">
              <a:spcAft>
                <a:spcPts val="200"/>
              </a:spcAft>
            </a:pPr>
            <a:r>
              <a:rPr sz="3400" b="1">
                <a:solidFill>
                  <a:srgbClr val="1E3A8A"/>
                </a:solidFill>
                <a:latin typeface="Calibri"/>
              </a:rPr>
              <a:t>3</a:t>
            </a:r>
          </a:p>
          <a:p>
            <a:pPr algn="l">
              <a:spcAft>
                <a:spcPts val="200"/>
              </a:spcAft>
            </a:pPr>
            <a:r>
              <a:rPr sz="1300" b="0">
                <a:solidFill>
                  <a:srgbClr val="475569"/>
                </a:solidFill>
                <a:latin typeface="Calibri"/>
              </a:rPr>
              <a:t>tables de faits</a:t>
            </a:r>
          </a:p>
          <a:p>
            <a:pPr algn="l">
              <a:spcAft>
                <a:spcPts val="200"/>
              </a:spcAft>
            </a:pPr>
            <a:r>
              <a:rPr sz="3400" b="1">
                <a:solidFill>
                  <a:srgbClr val="1E3A8A"/>
                </a:solidFill>
                <a:latin typeface="Calibri"/>
              </a:rPr>
              <a:t>4</a:t>
            </a:r>
          </a:p>
          <a:p>
            <a:pPr algn="l">
              <a:spcAft>
                <a:spcPts val="200"/>
              </a:spcAft>
            </a:pPr>
            <a:r>
              <a:rPr sz="1300" b="0">
                <a:solidFill>
                  <a:srgbClr val="475569"/>
                </a:solidFill>
                <a:latin typeface="Calibri"/>
              </a:rPr>
              <a:t>dimensions</a:t>
            </a:r>
          </a:p>
          <a:p>
            <a:pPr algn="l">
              <a:spcAft>
                <a:spcPts val="200"/>
              </a:spcAft>
            </a:pPr>
            <a:r>
              <a:rPr sz="3400" b="1">
                <a:solidFill>
                  <a:srgbClr val="0F766E"/>
                </a:solidFill>
                <a:latin typeface="Calibri"/>
              </a:rPr>
              <a:t>100 %</a:t>
            </a:r>
          </a:p>
          <a:p>
            <a:pPr algn="l">
              <a:spcAft>
                <a:spcPts val="200"/>
              </a:spcAft>
            </a:pPr>
            <a:r>
              <a:rPr sz="1300" b="0">
                <a:solidFill>
                  <a:srgbClr val="475569"/>
                </a:solidFill>
                <a:latin typeface="Calibri"/>
              </a:rPr>
              <a:t>des clés étrangères vérifiées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4 · MODÈLE DU DATA WAREHOUSE</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Zoom : l'étoile des ventes, cœur du modèle</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14</a:t>
            </a:r>
          </a:p>
        </p:txBody>
      </p:sp>
      <p:sp>
        <p:nvSpPr>
          <p:cNvPr id="7" name="Rectangle 6"/>
          <p:cNvSpPr/>
          <p:nvPr/>
        </p:nvSpPr>
        <p:spPr>
          <a:xfrm>
            <a:off x="4343400" y="1325880"/>
            <a:ext cx="3520440" cy="3236976"/>
          </a:xfrm>
          <a:prstGeom prst="rect">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43400" y="1325880"/>
            <a:ext cx="3520440"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34840" y="1353312"/>
            <a:ext cx="3337560" cy="329184"/>
          </a:xfrm>
          <a:prstGeom prst="rect">
            <a:avLst/>
          </a:prstGeom>
          <a:noFill/>
        </p:spPr>
        <p:txBody>
          <a:bodyPr wrap="square" anchor="ctr" lIns="45720" rIns="45720">
            <a:spAutoFit/>
          </a:bodyPr>
          <a:lstStyle/>
          <a:p>
            <a:pPr algn="l">
              <a:spcAft>
                <a:spcPts val="600"/>
              </a:spcAft>
            </a:pPr>
            <a:r>
              <a:rPr sz="1400" b="1">
                <a:solidFill>
                  <a:srgbClr val="FFFFFF"/>
                </a:solidFill>
                <a:latin typeface="Calibri"/>
              </a:rPr>
              <a:t>fait_ventes</a:t>
            </a:r>
          </a:p>
        </p:txBody>
      </p:sp>
      <p:sp>
        <p:nvSpPr>
          <p:cNvPr id="10" name="TextBox 9"/>
          <p:cNvSpPr txBox="1"/>
          <p:nvPr/>
        </p:nvSpPr>
        <p:spPr>
          <a:xfrm>
            <a:off x="4434840" y="1755648"/>
            <a:ext cx="2514600" cy="274320"/>
          </a:xfrm>
          <a:prstGeom prst="rect">
            <a:avLst/>
          </a:prstGeom>
          <a:noFill/>
        </p:spPr>
        <p:txBody>
          <a:bodyPr wrap="square" anchor="t" lIns="45720" rIns="45720">
            <a:spAutoFit/>
          </a:bodyPr>
          <a:lstStyle/>
          <a:p>
            <a:pPr algn="l">
              <a:spcAft>
                <a:spcPts val="600"/>
              </a:spcAft>
            </a:pPr>
            <a:r>
              <a:rPr sz="1200" b="1">
                <a:solidFill>
                  <a:srgbClr val="B91C1C"/>
                </a:solidFill>
                <a:latin typeface="Calibri"/>
              </a:rPr>
              <a:t>Id</a:t>
            </a:r>
          </a:p>
        </p:txBody>
      </p:sp>
      <p:sp>
        <p:nvSpPr>
          <p:cNvPr id="11" name="TextBox 10"/>
          <p:cNvSpPr txBox="1"/>
          <p:nvPr/>
        </p:nvSpPr>
        <p:spPr>
          <a:xfrm>
            <a:off x="6812279" y="1755648"/>
            <a:ext cx="960120" cy="274320"/>
          </a:xfrm>
          <a:prstGeom prst="rect">
            <a:avLst/>
          </a:prstGeom>
          <a:noFill/>
        </p:spPr>
        <p:txBody>
          <a:bodyPr wrap="square" anchor="t" lIns="45720" rIns="45720">
            <a:spAutoFit/>
          </a:bodyPr>
          <a:lstStyle/>
          <a:p>
            <a:pPr algn="r">
              <a:spcAft>
                <a:spcPts val="600"/>
              </a:spcAft>
            </a:pPr>
            <a:r>
              <a:rPr sz="1000" b="1">
                <a:solidFill>
                  <a:srgbClr val="B91C1C"/>
                </a:solidFill>
                <a:latin typeface="Calibri"/>
              </a:rPr>
              <a:t>PK</a:t>
            </a:r>
          </a:p>
        </p:txBody>
      </p:sp>
      <p:sp>
        <p:nvSpPr>
          <p:cNvPr id="12" name="TextBox 11"/>
          <p:cNvSpPr txBox="1"/>
          <p:nvPr/>
        </p:nvSpPr>
        <p:spPr>
          <a:xfrm>
            <a:off x="4434840" y="2029967"/>
            <a:ext cx="2514600" cy="274320"/>
          </a:xfrm>
          <a:prstGeom prst="rect">
            <a:avLst/>
          </a:prstGeom>
          <a:noFill/>
        </p:spPr>
        <p:txBody>
          <a:bodyPr wrap="square" anchor="t" lIns="45720" rIns="45720">
            <a:spAutoFit/>
          </a:bodyPr>
          <a:lstStyle/>
          <a:p>
            <a:pPr algn="l">
              <a:spcAft>
                <a:spcPts val="600"/>
              </a:spcAft>
            </a:pPr>
            <a:r>
              <a:rPr sz="1200" b="1">
                <a:solidFill>
                  <a:srgbClr val="1D4ED8"/>
                </a:solidFill>
                <a:latin typeface="Calibri"/>
              </a:rPr>
              <a:t>DateKey</a:t>
            </a:r>
          </a:p>
        </p:txBody>
      </p:sp>
      <p:sp>
        <p:nvSpPr>
          <p:cNvPr id="13" name="TextBox 12"/>
          <p:cNvSpPr txBox="1"/>
          <p:nvPr/>
        </p:nvSpPr>
        <p:spPr>
          <a:xfrm>
            <a:off x="6812279" y="2029967"/>
            <a:ext cx="960120" cy="274320"/>
          </a:xfrm>
          <a:prstGeom prst="rect">
            <a:avLst/>
          </a:prstGeom>
          <a:noFill/>
        </p:spPr>
        <p:txBody>
          <a:bodyPr wrap="square" anchor="t" lIns="45720" rIns="45720">
            <a:spAutoFit/>
          </a:bodyPr>
          <a:lstStyle/>
          <a:p>
            <a:pPr algn="r">
              <a:spcAft>
                <a:spcPts val="600"/>
              </a:spcAft>
            </a:pPr>
            <a:r>
              <a:rPr sz="1000" b="1">
                <a:solidFill>
                  <a:srgbClr val="1D4ED8"/>
                </a:solidFill>
                <a:latin typeface="Calibri"/>
              </a:rPr>
              <a:t>FK</a:t>
            </a:r>
          </a:p>
        </p:txBody>
      </p:sp>
      <p:sp>
        <p:nvSpPr>
          <p:cNvPr id="14" name="TextBox 13"/>
          <p:cNvSpPr txBox="1"/>
          <p:nvPr/>
        </p:nvSpPr>
        <p:spPr>
          <a:xfrm>
            <a:off x="4434840" y="2304288"/>
            <a:ext cx="2514600" cy="274320"/>
          </a:xfrm>
          <a:prstGeom prst="rect">
            <a:avLst/>
          </a:prstGeom>
          <a:noFill/>
        </p:spPr>
        <p:txBody>
          <a:bodyPr wrap="square" anchor="t" lIns="45720" rIns="45720">
            <a:spAutoFit/>
          </a:bodyPr>
          <a:lstStyle/>
          <a:p>
            <a:pPr algn="l">
              <a:spcAft>
                <a:spcPts val="600"/>
              </a:spcAft>
            </a:pPr>
            <a:r>
              <a:rPr sz="1200" b="1">
                <a:solidFill>
                  <a:srgbClr val="1D4ED8"/>
                </a:solidFill>
                <a:latin typeface="Calibri"/>
              </a:rPr>
              <a:t>Product_Id</a:t>
            </a:r>
          </a:p>
        </p:txBody>
      </p:sp>
      <p:sp>
        <p:nvSpPr>
          <p:cNvPr id="15" name="TextBox 14"/>
          <p:cNvSpPr txBox="1"/>
          <p:nvPr/>
        </p:nvSpPr>
        <p:spPr>
          <a:xfrm>
            <a:off x="6812279" y="2304288"/>
            <a:ext cx="960120" cy="274320"/>
          </a:xfrm>
          <a:prstGeom prst="rect">
            <a:avLst/>
          </a:prstGeom>
          <a:noFill/>
        </p:spPr>
        <p:txBody>
          <a:bodyPr wrap="square" anchor="t" lIns="45720" rIns="45720">
            <a:spAutoFit/>
          </a:bodyPr>
          <a:lstStyle/>
          <a:p>
            <a:pPr algn="r">
              <a:spcAft>
                <a:spcPts val="600"/>
              </a:spcAft>
            </a:pPr>
            <a:r>
              <a:rPr sz="1000" b="1">
                <a:solidFill>
                  <a:srgbClr val="1D4ED8"/>
                </a:solidFill>
                <a:latin typeface="Calibri"/>
              </a:rPr>
              <a:t>FK</a:t>
            </a:r>
          </a:p>
        </p:txBody>
      </p:sp>
      <p:sp>
        <p:nvSpPr>
          <p:cNvPr id="16" name="TextBox 15"/>
          <p:cNvSpPr txBox="1"/>
          <p:nvPr/>
        </p:nvSpPr>
        <p:spPr>
          <a:xfrm>
            <a:off x="4434840" y="2578608"/>
            <a:ext cx="2514600" cy="274320"/>
          </a:xfrm>
          <a:prstGeom prst="rect">
            <a:avLst/>
          </a:prstGeom>
          <a:noFill/>
        </p:spPr>
        <p:txBody>
          <a:bodyPr wrap="square" anchor="t" lIns="45720" rIns="45720">
            <a:spAutoFit/>
          </a:bodyPr>
          <a:lstStyle/>
          <a:p>
            <a:pPr algn="l">
              <a:spcAft>
                <a:spcPts val="600"/>
              </a:spcAft>
            </a:pPr>
            <a:r>
              <a:rPr sz="1200" b="1">
                <a:solidFill>
                  <a:srgbClr val="1D4ED8"/>
                </a:solidFill>
                <a:latin typeface="Calibri"/>
              </a:rPr>
              <a:t>Company_Id</a:t>
            </a:r>
          </a:p>
        </p:txBody>
      </p:sp>
      <p:sp>
        <p:nvSpPr>
          <p:cNvPr id="17" name="TextBox 16"/>
          <p:cNvSpPr txBox="1"/>
          <p:nvPr/>
        </p:nvSpPr>
        <p:spPr>
          <a:xfrm>
            <a:off x="6812279" y="2578608"/>
            <a:ext cx="960120" cy="274320"/>
          </a:xfrm>
          <a:prstGeom prst="rect">
            <a:avLst/>
          </a:prstGeom>
          <a:noFill/>
        </p:spPr>
        <p:txBody>
          <a:bodyPr wrap="square" anchor="t" lIns="45720" rIns="45720">
            <a:spAutoFit/>
          </a:bodyPr>
          <a:lstStyle/>
          <a:p>
            <a:pPr algn="r">
              <a:spcAft>
                <a:spcPts val="600"/>
              </a:spcAft>
            </a:pPr>
            <a:r>
              <a:rPr sz="1000" b="1">
                <a:solidFill>
                  <a:srgbClr val="1D4ED8"/>
                </a:solidFill>
                <a:latin typeface="Calibri"/>
              </a:rPr>
              <a:t>FK</a:t>
            </a:r>
          </a:p>
        </p:txBody>
      </p:sp>
      <p:sp>
        <p:nvSpPr>
          <p:cNvPr id="18" name="TextBox 17"/>
          <p:cNvSpPr txBox="1"/>
          <p:nvPr/>
        </p:nvSpPr>
        <p:spPr>
          <a:xfrm>
            <a:off x="4434840" y="2852928"/>
            <a:ext cx="2514600" cy="274320"/>
          </a:xfrm>
          <a:prstGeom prst="rect">
            <a:avLst/>
          </a:prstGeom>
          <a:noFill/>
        </p:spPr>
        <p:txBody>
          <a:bodyPr wrap="square" anchor="t" lIns="45720" rIns="45720">
            <a:spAutoFit/>
          </a:bodyPr>
          <a:lstStyle/>
          <a:p>
            <a:pPr algn="l">
              <a:spcAft>
                <a:spcPts val="600"/>
              </a:spcAft>
            </a:pPr>
            <a:r>
              <a:rPr sz="1200" b="1">
                <a:solidFill>
                  <a:srgbClr val="0F172A"/>
                </a:solidFill>
                <a:latin typeface="Calibri"/>
              </a:rPr>
              <a:t>Document_Id</a:t>
            </a:r>
          </a:p>
        </p:txBody>
      </p:sp>
      <p:sp>
        <p:nvSpPr>
          <p:cNvPr id="19" name="TextBox 18"/>
          <p:cNvSpPr txBox="1"/>
          <p:nvPr/>
        </p:nvSpPr>
        <p:spPr>
          <a:xfrm>
            <a:off x="6812279" y="2852928"/>
            <a:ext cx="960120" cy="274320"/>
          </a:xfrm>
          <a:prstGeom prst="rect">
            <a:avLst/>
          </a:prstGeom>
          <a:noFill/>
        </p:spPr>
        <p:txBody>
          <a:bodyPr wrap="square" anchor="t" lIns="45720" rIns="45720">
            <a:spAutoFit/>
          </a:bodyPr>
          <a:lstStyle/>
          <a:p>
            <a:pPr algn="r">
              <a:spcAft>
                <a:spcPts val="600"/>
              </a:spcAft>
            </a:pPr>
            <a:r>
              <a:rPr sz="1000" b="1">
                <a:solidFill>
                  <a:srgbClr val="0F172A"/>
                </a:solidFill>
                <a:latin typeface="Calibri"/>
              </a:rPr>
              <a:t>dégénérée</a:t>
            </a:r>
          </a:p>
        </p:txBody>
      </p:sp>
      <p:sp>
        <p:nvSpPr>
          <p:cNvPr id="20" name="TextBox 19"/>
          <p:cNvSpPr txBox="1"/>
          <p:nvPr/>
        </p:nvSpPr>
        <p:spPr>
          <a:xfrm>
            <a:off x="4434840" y="3127248"/>
            <a:ext cx="2514600"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QuantiteVendue</a:t>
            </a:r>
          </a:p>
        </p:txBody>
      </p:sp>
      <p:sp>
        <p:nvSpPr>
          <p:cNvPr id="21" name="TextBox 20"/>
          <p:cNvSpPr txBox="1"/>
          <p:nvPr/>
        </p:nvSpPr>
        <p:spPr>
          <a:xfrm>
            <a:off x="6812279" y="3127248"/>
            <a:ext cx="960120" cy="274320"/>
          </a:xfrm>
          <a:prstGeom prst="rect">
            <a:avLst/>
          </a:prstGeom>
          <a:noFill/>
        </p:spPr>
        <p:txBody>
          <a:bodyPr wrap="square" anchor="t" lIns="45720" rIns="45720">
            <a:spAutoFit/>
          </a:bodyPr>
          <a:lstStyle/>
          <a:p>
            <a:pPr algn="r">
              <a:spcAft>
                <a:spcPts val="600"/>
              </a:spcAft>
            </a:pPr>
            <a:r>
              <a:rPr sz="1000" b="1">
                <a:solidFill>
                  <a:srgbClr val="059669"/>
                </a:solidFill>
                <a:latin typeface="Calibri"/>
              </a:rPr>
              <a:t>mesure</a:t>
            </a:r>
          </a:p>
        </p:txBody>
      </p:sp>
      <p:sp>
        <p:nvSpPr>
          <p:cNvPr id="22" name="TextBox 21"/>
          <p:cNvSpPr txBox="1"/>
          <p:nvPr/>
        </p:nvSpPr>
        <p:spPr>
          <a:xfrm>
            <a:off x="4434840" y="3401568"/>
            <a:ext cx="2514600"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Remise_HT</a:t>
            </a:r>
          </a:p>
        </p:txBody>
      </p:sp>
      <p:sp>
        <p:nvSpPr>
          <p:cNvPr id="23" name="TextBox 22"/>
          <p:cNvSpPr txBox="1"/>
          <p:nvPr/>
        </p:nvSpPr>
        <p:spPr>
          <a:xfrm>
            <a:off x="6812279" y="3401568"/>
            <a:ext cx="960120" cy="274320"/>
          </a:xfrm>
          <a:prstGeom prst="rect">
            <a:avLst/>
          </a:prstGeom>
          <a:noFill/>
        </p:spPr>
        <p:txBody>
          <a:bodyPr wrap="square" anchor="t" lIns="45720" rIns="45720">
            <a:spAutoFit/>
          </a:bodyPr>
          <a:lstStyle/>
          <a:p>
            <a:pPr algn="r">
              <a:spcAft>
                <a:spcPts val="600"/>
              </a:spcAft>
            </a:pPr>
            <a:r>
              <a:rPr sz="1000" b="1">
                <a:solidFill>
                  <a:srgbClr val="059669"/>
                </a:solidFill>
                <a:latin typeface="Calibri"/>
              </a:rPr>
              <a:t>mesure</a:t>
            </a:r>
          </a:p>
        </p:txBody>
      </p:sp>
      <p:sp>
        <p:nvSpPr>
          <p:cNvPr id="24" name="TextBox 23"/>
          <p:cNvSpPr txBox="1"/>
          <p:nvPr/>
        </p:nvSpPr>
        <p:spPr>
          <a:xfrm>
            <a:off x="4434840" y="3675887"/>
            <a:ext cx="2514600"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CA_HT</a:t>
            </a:r>
          </a:p>
        </p:txBody>
      </p:sp>
      <p:sp>
        <p:nvSpPr>
          <p:cNvPr id="25" name="TextBox 24"/>
          <p:cNvSpPr txBox="1"/>
          <p:nvPr/>
        </p:nvSpPr>
        <p:spPr>
          <a:xfrm>
            <a:off x="6812279" y="3675887"/>
            <a:ext cx="960120" cy="274320"/>
          </a:xfrm>
          <a:prstGeom prst="rect">
            <a:avLst/>
          </a:prstGeom>
          <a:noFill/>
        </p:spPr>
        <p:txBody>
          <a:bodyPr wrap="square" anchor="t" lIns="45720" rIns="45720">
            <a:spAutoFit/>
          </a:bodyPr>
          <a:lstStyle/>
          <a:p>
            <a:pPr algn="r">
              <a:spcAft>
                <a:spcPts val="600"/>
              </a:spcAft>
            </a:pPr>
            <a:r>
              <a:rPr sz="1000" b="1">
                <a:solidFill>
                  <a:srgbClr val="059669"/>
                </a:solidFill>
                <a:latin typeface="Calibri"/>
              </a:rPr>
              <a:t>mesure</a:t>
            </a:r>
          </a:p>
        </p:txBody>
      </p:sp>
      <p:sp>
        <p:nvSpPr>
          <p:cNvPr id="26" name="TextBox 25"/>
          <p:cNvSpPr txBox="1"/>
          <p:nvPr/>
        </p:nvSpPr>
        <p:spPr>
          <a:xfrm>
            <a:off x="4434840" y="3950208"/>
            <a:ext cx="2514600"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Cout_HT</a:t>
            </a:r>
          </a:p>
        </p:txBody>
      </p:sp>
      <p:sp>
        <p:nvSpPr>
          <p:cNvPr id="27" name="TextBox 26"/>
          <p:cNvSpPr txBox="1"/>
          <p:nvPr/>
        </p:nvSpPr>
        <p:spPr>
          <a:xfrm>
            <a:off x="6812279" y="3950208"/>
            <a:ext cx="960120" cy="274320"/>
          </a:xfrm>
          <a:prstGeom prst="rect">
            <a:avLst/>
          </a:prstGeom>
          <a:noFill/>
        </p:spPr>
        <p:txBody>
          <a:bodyPr wrap="square" anchor="t" lIns="45720" rIns="45720">
            <a:spAutoFit/>
          </a:bodyPr>
          <a:lstStyle/>
          <a:p>
            <a:pPr algn="r">
              <a:spcAft>
                <a:spcPts val="600"/>
              </a:spcAft>
            </a:pPr>
            <a:r>
              <a:rPr sz="1000" b="1">
                <a:solidFill>
                  <a:srgbClr val="059669"/>
                </a:solidFill>
                <a:latin typeface="Calibri"/>
              </a:rPr>
              <a:t>mesure</a:t>
            </a:r>
          </a:p>
        </p:txBody>
      </p:sp>
      <p:sp>
        <p:nvSpPr>
          <p:cNvPr id="28" name="TextBox 27"/>
          <p:cNvSpPr txBox="1"/>
          <p:nvPr/>
        </p:nvSpPr>
        <p:spPr>
          <a:xfrm>
            <a:off x="4434840" y="4224527"/>
            <a:ext cx="2514600" cy="274320"/>
          </a:xfrm>
          <a:prstGeom prst="rect">
            <a:avLst/>
          </a:prstGeom>
          <a:noFill/>
        </p:spPr>
        <p:txBody>
          <a:bodyPr wrap="square" anchor="t" lIns="45720" rIns="45720">
            <a:spAutoFit/>
          </a:bodyPr>
          <a:lstStyle/>
          <a:p>
            <a:pPr algn="l">
              <a:spcAft>
                <a:spcPts val="600"/>
              </a:spcAft>
            </a:pPr>
            <a:r>
              <a:rPr sz="1200" b="1">
                <a:solidFill>
                  <a:srgbClr val="475569"/>
                </a:solidFill>
                <a:latin typeface="Calibri"/>
              </a:rPr>
              <a:t>Marge HT = CA HT − Cout HT</a:t>
            </a:r>
          </a:p>
        </p:txBody>
      </p:sp>
      <p:sp>
        <p:nvSpPr>
          <p:cNvPr id="29" name="TextBox 28"/>
          <p:cNvSpPr txBox="1"/>
          <p:nvPr/>
        </p:nvSpPr>
        <p:spPr>
          <a:xfrm>
            <a:off x="6812279" y="4224527"/>
            <a:ext cx="960120" cy="274320"/>
          </a:xfrm>
          <a:prstGeom prst="rect">
            <a:avLst/>
          </a:prstGeom>
          <a:noFill/>
        </p:spPr>
        <p:txBody>
          <a:bodyPr wrap="square" anchor="t" lIns="45720" rIns="45720">
            <a:spAutoFit/>
          </a:bodyPr>
          <a:lstStyle/>
          <a:p>
            <a:pPr algn="r">
              <a:spcAft>
                <a:spcPts val="600"/>
              </a:spcAft>
            </a:pPr>
            <a:r>
              <a:rPr sz="1000" b="1">
                <a:solidFill>
                  <a:srgbClr val="475569"/>
                </a:solidFill>
                <a:latin typeface="Calibri"/>
              </a:rPr>
              <a:t>Power BI</a:t>
            </a:r>
          </a:p>
        </p:txBody>
      </p:sp>
      <p:sp>
        <p:nvSpPr>
          <p:cNvPr id="30" name="Rectangle 29"/>
          <p:cNvSpPr/>
          <p:nvPr/>
        </p:nvSpPr>
        <p:spPr>
          <a:xfrm>
            <a:off x="502920" y="1325880"/>
            <a:ext cx="3017520" cy="1591055"/>
          </a:xfrm>
          <a:prstGeom prst="rect">
            <a:avLst/>
          </a:prstGeom>
          <a:solidFill>
            <a:srgbClr val="FFFFFF"/>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2920" y="1325880"/>
            <a:ext cx="3017520" cy="3840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94360" y="1353312"/>
            <a:ext cx="2834639" cy="329184"/>
          </a:xfrm>
          <a:prstGeom prst="rect">
            <a:avLst/>
          </a:prstGeom>
          <a:noFill/>
        </p:spPr>
        <p:txBody>
          <a:bodyPr wrap="square" anchor="ctr" lIns="45720" rIns="45720">
            <a:spAutoFit/>
          </a:bodyPr>
          <a:lstStyle/>
          <a:p>
            <a:pPr algn="l">
              <a:spcAft>
                <a:spcPts val="600"/>
              </a:spcAft>
            </a:pPr>
            <a:r>
              <a:rPr sz="1400" b="1">
                <a:solidFill>
                  <a:srgbClr val="FFFFFF"/>
                </a:solidFill>
                <a:latin typeface="Calibri"/>
              </a:rPr>
              <a:t>dim_temps</a:t>
            </a:r>
          </a:p>
        </p:txBody>
      </p:sp>
      <p:sp>
        <p:nvSpPr>
          <p:cNvPr id="33" name="TextBox 32"/>
          <p:cNvSpPr txBox="1"/>
          <p:nvPr/>
        </p:nvSpPr>
        <p:spPr>
          <a:xfrm>
            <a:off x="594360" y="1755648"/>
            <a:ext cx="2011679" cy="274320"/>
          </a:xfrm>
          <a:prstGeom prst="rect">
            <a:avLst/>
          </a:prstGeom>
          <a:noFill/>
        </p:spPr>
        <p:txBody>
          <a:bodyPr wrap="square" anchor="t" lIns="45720" rIns="45720">
            <a:spAutoFit/>
          </a:bodyPr>
          <a:lstStyle/>
          <a:p>
            <a:pPr algn="l">
              <a:spcAft>
                <a:spcPts val="600"/>
              </a:spcAft>
            </a:pPr>
            <a:r>
              <a:rPr sz="1200" b="1">
                <a:solidFill>
                  <a:srgbClr val="B91C1C"/>
                </a:solidFill>
                <a:latin typeface="Calibri"/>
              </a:rPr>
              <a:t>DateKey</a:t>
            </a:r>
          </a:p>
        </p:txBody>
      </p:sp>
      <p:sp>
        <p:nvSpPr>
          <p:cNvPr id="34" name="TextBox 33"/>
          <p:cNvSpPr txBox="1"/>
          <p:nvPr/>
        </p:nvSpPr>
        <p:spPr>
          <a:xfrm>
            <a:off x="2468879" y="1755648"/>
            <a:ext cx="960120" cy="274320"/>
          </a:xfrm>
          <a:prstGeom prst="rect">
            <a:avLst/>
          </a:prstGeom>
          <a:noFill/>
        </p:spPr>
        <p:txBody>
          <a:bodyPr wrap="square" anchor="t" lIns="45720" rIns="45720">
            <a:spAutoFit/>
          </a:bodyPr>
          <a:lstStyle/>
          <a:p>
            <a:pPr algn="r">
              <a:spcAft>
                <a:spcPts val="600"/>
              </a:spcAft>
            </a:pPr>
            <a:r>
              <a:rPr sz="1000" b="1">
                <a:solidFill>
                  <a:srgbClr val="B91C1C"/>
                </a:solidFill>
                <a:latin typeface="Calibri"/>
              </a:rPr>
              <a:t>PK</a:t>
            </a:r>
          </a:p>
        </p:txBody>
      </p:sp>
      <p:sp>
        <p:nvSpPr>
          <p:cNvPr id="35" name="TextBox 34"/>
          <p:cNvSpPr txBox="1"/>
          <p:nvPr/>
        </p:nvSpPr>
        <p:spPr>
          <a:xfrm>
            <a:off x="594360" y="2029967"/>
            <a:ext cx="2011679"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Date, année, trimestre</a:t>
            </a:r>
          </a:p>
        </p:txBody>
      </p:sp>
      <p:sp>
        <p:nvSpPr>
          <p:cNvPr id="36" name="TextBox 35"/>
          <p:cNvSpPr txBox="1"/>
          <p:nvPr/>
        </p:nvSpPr>
        <p:spPr>
          <a:xfrm>
            <a:off x="594360" y="2304288"/>
            <a:ext cx="2011679"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Mois, semaine ISO</a:t>
            </a:r>
          </a:p>
        </p:txBody>
      </p:sp>
      <p:sp>
        <p:nvSpPr>
          <p:cNvPr id="37" name="TextBox 36"/>
          <p:cNvSpPr txBox="1"/>
          <p:nvPr/>
        </p:nvSpPr>
        <p:spPr>
          <a:xfrm>
            <a:off x="594360" y="2578608"/>
            <a:ext cx="2011679"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Jour férié</a:t>
            </a:r>
          </a:p>
        </p:txBody>
      </p:sp>
      <p:cxnSp>
        <p:nvCxnSpPr>
          <p:cNvPr id="38" name="Connector 37"/>
          <p:cNvCxnSpPr/>
          <p:nvPr/>
        </p:nvCxnSpPr>
        <p:spPr>
          <a:xfrm>
            <a:off x="3520439" y="1892807"/>
            <a:ext cx="822961" cy="27432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547872" y="1618487"/>
            <a:ext cx="274320" cy="274320"/>
          </a:xfrm>
          <a:prstGeom prst="rect">
            <a:avLst/>
          </a:prstGeom>
          <a:noFill/>
        </p:spPr>
        <p:txBody>
          <a:bodyPr wrap="square" anchor="t" lIns="45720" rIns="45720">
            <a:spAutoFit/>
          </a:bodyPr>
          <a:lstStyle/>
          <a:p>
            <a:pPr algn="l">
              <a:spcAft>
                <a:spcPts val="600"/>
              </a:spcAft>
            </a:pPr>
            <a:r>
              <a:rPr sz="1100" b="1">
                <a:solidFill>
                  <a:srgbClr val="475569"/>
                </a:solidFill>
                <a:latin typeface="Calibri"/>
              </a:rPr>
              <a:t>1</a:t>
            </a:r>
          </a:p>
        </p:txBody>
      </p:sp>
      <p:sp>
        <p:nvSpPr>
          <p:cNvPr id="40" name="TextBox 39"/>
          <p:cNvSpPr txBox="1"/>
          <p:nvPr/>
        </p:nvSpPr>
        <p:spPr>
          <a:xfrm>
            <a:off x="4069080" y="1892807"/>
            <a:ext cx="274320" cy="274320"/>
          </a:xfrm>
          <a:prstGeom prst="rect">
            <a:avLst/>
          </a:prstGeom>
          <a:noFill/>
        </p:spPr>
        <p:txBody>
          <a:bodyPr wrap="square" anchor="t" lIns="45720" rIns="45720">
            <a:spAutoFit/>
          </a:bodyPr>
          <a:lstStyle/>
          <a:p>
            <a:pPr algn="l">
              <a:spcAft>
                <a:spcPts val="600"/>
              </a:spcAft>
            </a:pPr>
            <a:r>
              <a:rPr sz="1100" b="1">
                <a:solidFill>
                  <a:srgbClr val="475569"/>
                </a:solidFill>
                <a:latin typeface="Calibri"/>
              </a:rPr>
              <a:t>N</a:t>
            </a:r>
          </a:p>
        </p:txBody>
      </p:sp>
      <p:sp>
        <p:nvSpPr>
          <p:cNvPr id="41" name="Rectangle 40"/>
          <p:cNvSpPr/>
          <p:nvPr/>
        </p:nvSpPr>
        <p:spPr>
          <a:xfrm>
            <a:off x="8686800" y="1325880"/>
            <a:ext cx="3017520" cy="1591055"/>
          </a:xfrm>
          <a:prstGeom prst="rect">
            <a:avLst/>
          </a:prstGeom>
          <a:solidFill>
            <a:srgbClr val="FFFFFF"/>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686800" y="1325880"/>
            <a:ext cx="3017520" cy="3840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778240" y="1353312"/>
            <a:ext cx="2834639" cy="329184"/>
          </a:xfrm>
          <a:prstGeom prst="rect">
            <a:avLst/>
          </a:prstGeom>
          <a:noFill/>
        </p:spPr>
        <p:txBody>
          <a:bodyPr wrap="square" anchor="ctr" lIns="45720" rIns="45720">
            <a:spAutoFit/>
          </a:bodyPr>
          <a:lstStyle/>
          <a:p>
            <a:pPr algn="l">
              <a:spcAft>
                <a:spcPts val="600"/>
              </a:spcAft>
            </a:pPr>
            <a:r>
              <a:rPr sz="1400" b="1">
                <a:solidFill>
                  <a:srgbClr val="FFFFFF"/>
                </a:solidFill>
                <a:latin typeface="Calibri"/>
              </a:rPr>
              <a:t>dim_produit</a:t>
            </a:r>
          </a:p>
        </p:txBody>
      </p:sp>
      <p:sp>
        <p:nvSpPr>
          <p:cNvPr id="44" name="TextBox 43"/>
          <p:cNvSpPr txBox="1"/>
          <p:nvPr/>
        </p:nvSpPr>
        <p:spPr>
          <a:xfrm>
            <a:off x="8778240" y="1755648"/>
            <a:ext cx="2011679" cy="274320"/>
          </a:xfrm>
          <a:prstGeom prst="rect">
            <a:avLst/>
          </a:prstGeom>
          <a:noFill/>
        </p:spPr>
        <p:txBody>
          <a:bodyPr wrap="square" anchor="t" lIns="45720" rIns="45720">
            <a:spAutoFit/>
          </a:bodyPr>
          <a:lstStyle/>
          <a:p>
            <a:pPr algn="l">
              <a:spcAft>
                <a:spcPts val="600"/>
              </a:spcAft>
            </a:pPr>
            <a:r>
              <a:rPr sz="1200" b="1">
                <a:solidFill>
                  <a:srgbClr val="B91C1C"/>
                </a:solidFill>
                <a:latin typeface="Calibri"/>
              </a:rPr>
              <a:t>Product_Id</a:t>
            </a:r>
          </a:p>
        </p:txBody>
      </p:sp>
      <p:sp>
        <p:nvSpPr>
          <p:cNvPr id="45" name="TextBox 44"/>
          <p:cNvSpPr txBox="1"/>
          <p:nvPr/>
        </p:nvSpPr>
        <p:spPr>
          <a:xfrm>
            <a:off x="10652760" y="1755648"/>
            <a:ext cx="960120" cy="274320"/>
          </a:xfrm>
          <a:prstGeom prst="rect">
            <a:avLst/>
          </a:prstGeom>
          <a:noFill/>
        </p:spPr>
        <p:txBody>
          <a:bodyPr wrap="square" anchor="t" lIns="45720" rIns="45720">
            <a:spAutoFit/>
          </a:bodyPr>
          <a:lstStyle/>
          <a:p>
            <a:pPr algn="r">
              <a:spcAft>
                <a:spcPts val="600"/>
              </a:spcAft>
            </a:pPr>
            <a:r>
              <a:rPr sz="1000" b="1">
                <a:solidFill>
                  <a:srgbClr val="B91C1C"/>
                </a:solidFill>
                <a:latin typeface="Calibri"/>
              </a:rPr>
              <a:t>PK</a:t>
            </a:r>
          </a:p>
        </p:txBody>
      </p:sp>
      <p:sp>
        <p:nvSpPr>
          <p:cNvPr id="46" name="TextBox 45"/>
          <p:cNvSpPr txBox="1"/>
          <p:nvPr/>
        </p:nvSpPr>
        <p:spPr>
          <a:xfrm>
            <a:off x="8778240" y="2029967"/>
            <a:ext cx="2011679"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Libellé, famille</a:t>
            </a:r>
          </a:p>
        </p:txBody>
      </p:sp>
      <p:sp>
        <p:nvSpPr>
          <p:cNvPr id="47" name="TextBox 46"/>
          <p:cNvSpPr txBox="1"/>
          <p:nvPr/>
        </p:nvSpPr>
        <p:spPr>
          <a:xfrm>
            <a:off x="8778240" y="2304288"/>
            <a:ext cx="2011679"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Marque</a:t>
            </a:r>
          </a:p>
        </p:txBody>
      </p:sp>
      <p:sp>
        <p:nvSpPr>
          <p:cNvPr id="48" name="TextBox 47"/>
          <p:cNvSpPr txBox="1"/>
          <p:nvPr/>
        </p:nvSpPr>
        <p:spPr>
          <a:xfrm>
            <a:off x="8778240" y="2578608"/>
            <a:ext cx="2011679"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Seuil d'alerte</a:t>
            </a:r>
          </a:p>
        </p:txBody>
      </p:sp>
      <p:cxnSp>
        <p:nvCxnSpPr>
          <p:cNvPr id="49" name="Connector 48"/>
          <p:cNvCxnSpPr/>
          <p:nvPr/>
        </p:nvCxnSpPr>
        <p:spPr>
          <a:xfrm flipV="1">
            <a:off x="7863840" y="1892807"/>
            <a:ext cx="822960" cy="548641"/>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412480" y="1618487"/>
            <a:ext cx="274320" cy="274320"/>
          </a:xfrm>
          <a:prstGeom prst="rect">
            <a:avLst/>
          </a:prstGeom>
          <a:noFill/>
        </p:spPr>
        <p:txBody>
          <a:bodyPr wrap="square" anchor="t" lIns="45720" rIns="45720">
            <a:spAutoFit/>
          </a:bodyPr>
          <a:lstStyle/>
          <a:p>
            <a:pPr algn="l">
              <a:spcAft>
                <a:spcPts val="600"/>
              </a:spcAft>
            </a:pPr>
            <a:r>
              <a:rPr sz="1100" b="1">
                <a:solidFill>
                  <a:srgbClr val="475569"/>
                </a:solidFill>
                <a:latin typeface="Calibri"/>
              </a:rPr>
              <a:t>1</a:t>
            </a:r>
          </a:p>
        </p:txBody>
      </p:sp>
      <p:sp>
        <p:nvSpPr>
          <p:cNvPr id="51" name="TextBox 50"/>
          <p:cNvSpPr txBox="1"/>
          <p:nvPr/>
        </p:nvSpPr>
        <p:spPr>
          <a:xfrm>
            <a:off x="7891271" y="2167128"/>
            <a:ext cx="274320" cy="274320"/>
          </a:xfrm>
          <a:prstGeom prst="rect">
            <a:avLst/>
          </a:prstGeom>
          <a:noFill/>
        </p:spPr>
        <p:txBody>
          <a:bodyPr wrap="square" anchor="t" lIns="45720" rIns="45720">
            <a:spAutoFit/>
          </a:bodyPr>
          <a:lstStyle/>
          <a:p>
            <a:pPr algn="l">
              <a:spcAft>
                <a:spcPts val="600"/>
              </a:spcAft>
            </a:pPr>
            <a:r>
              <a:rPr sz="1100" b="1">
                <a:solidFill>
                  <a:srgbClr val="475569"/>
                </a:solidFill>
                <a:latin typeface="Calibri"/>
              </a:rPr>
              <a:t>N</a:t>
            </a:r>
          </a:p>
        </p:txBody>
      </p:sp>
      <p:sp>
        <p:nvSpPr>
          <p:cNvPr id="52" name="Rectangle 51"/>
          <p:cNvSpPr/>
          <p:nvPr/>
        </p:nvSpPr>
        <p:spPr>
          <a:xfrm>
            <a:off x="8686800" y="3191255"/>
            <a:ext cx="3017520" cy="1316736"/>
          </a:xfrm>
          <a:prstGeom prst="rect">
            <a:avLst/>
          </a:prstGeom>
          <a:solidFill>
            <a:srgbClr val="FFFFFF"/>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8686800" y="3191255"/>
            <a:ext cx="3017520" cy="3840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778240" y="3218687"/>
            <a:ext cx="2834639" cy="329184"/>
          </a:xfrm>
          <a:prstGeom prst="rect">
            <a:avLst/>
          </a:prstGeom>
          <a:noFill/>
        </p:spPr>
        <p:txBody>
          <a:bodyPr wrap="square" anchor="ctr" lIns="45720" rIns="45720">
            <a:spAutoFit/>
          </a:bodyPr>
          <a:lstStyle/>
          <a:p>
            <a:pPr algn="l">
              <a:spcAft>
                <a:spcPts val="600"/>
              </a:spcAft>
            </a:pPr>
            <a:r>
              <a:rPr sz="1400" b="1">
                <a:solidFill>
                  <a:srgbClr val="FFFFFF"/>
                </a:solidFill>
                <a:latin typeface="Calibri"/>
              </a:rPr>
              <a:t>dim_client</a:t>
            </a:r>
          </a:p>
        </p:txBody>
      </p:sp>
      <p:sp>
        <p:nvSpPr>
          <p:cNvPr id="55" name="TextBox 54"/>
          <p:cNvSpPr txBox="1"/>
          <p:nvPr/>
        </p:nvSpPr>
        <p:spPr>
          <a:xfrm>
            <a:off x="8778240" y="3621023"/>
            <a:ext cx="2011679" cy="274320"/>
          </a:xfrm>
          <a:prstGeom prst="rect">
            <a:avLst/>
          </a:prstGeom>
          <a:noFill/>
        </p:spPr>
        <p:txBody>
          <a:bodyPr wrap="square" anchor="t" lIns="45720" rIns="45720">
            <a:spAutoFit/>
          </a:bodyPr>
          <a:lstStyle/>
          <a:p>
            <a:pPr algn="l">
              <a:spcAft>
                <a:spcPts val="600"/>
              </a:spcAft>
            </a:pPr>
            <a:r>
              <a:rPr sz="1200" b="1">
                <a:solidFill>
                  <a:srgbClr val="B91C1C"/>
                </a:solidFill>
                <a:latin typeface="Calibri"/>
              </a:rPr>
              <a:t>Company_Id</a:t>
            </a:r>
          </a:p>
        </p:txBody>
      </p:sp>
      <p:sp>
        <p:nvSpPr>
          <p:cNvPr id="56" name="TextBox 55"/>
          <p:cNvSpPr txBox="1"/>
          <p:nvPr/>
        </p:nvSpPr>
        <p:spPr>
          <a:xfrm>
            <a:off x="10652760" y="3621023"/>
            <a:ext cx="960120" cy="274320"/>
          </a:xfrm>
          <a:prstGeom prst="rect">
            <a:avLst/>
          </a:prstGeom>
          <a:noFill/>
        </p:spPr>
        <p:txBody>
          <a:bodyPr wrap="square" anchor="t" lIns="45720" rIns="45720">
            <a:spAutoFit/>
          </a:bodyPr>
          <a:lstStyle/>
          <a:p>
            <a:pPr algn="r">
              <a:spcAft>
                <a:spcPts val="600"/>
              </a:spcAft>
            </a:pPr>
            <a:r>
              <a:rPr sz="1000" b="1">
                <a:solidFill>
                  <a:srgbClr val="B91C1C"/>
                </a:solidFill>
                <a:latin typeface="Calibri"/>
              </a:rPr>
              <a:t>PK</a:t>
            </a:r>
          </a:p>
        </p:txBody>
      </p:sp>
      <p:sp>
        <p:nvSpPr>
          <p:cNvPr id="57" name="TextBox 56"/>
          <p:cNvSpPr txBox="1"/>
          <p:nvPr/>
        </p:nvSpPr>
        <p:spPr>
          <a:xfrm>
            <a:off x="8778240" y="3895343"/>
            <a:ext cx="2011679"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Nom, type de client</a:t>
            </a:r>
          </a:p>
        </p:txBody>
      </p:sp>
      <p:sp>
        <p:nvSpPr>
          <p:cNvPr id="58" name="TextBox 57"/>
          <p:cNvSpPr txBox="1"/>
          <p:nvPr/>
        </p:nvSpPr>
        <p:spPr>
          <a:xfrm>
            <a:off x="8778240" y="4169663"/>
            <a:ext cx="2011679" cy="274320"/>
          </a:xfrm>
          <a:prstGeom prst="rect">
            <a:avLst/>
          </a:prstGeom>
          <a:noFill/>
        </p:spPr>
        <p:txBody>
          <a:bodyPr wrap="square" anchor="t" lIns="45720" rIns="45720">
            <a:spAutoFit/>
          </a:bodyPr>
          <a:lstStyle/>
          <a:p>
            <a:pPr algn="l">
              <a:spcAft>
                <a:spcPts val="600"/>
              </a:spcAft>
            </a:pPr>
            <a:r>
              <a:rPr sz="1200" b="0">
                <a:solidFill>
                  <a:srgbClr val="0F172A"/>
                </a:solidFill>
                <a:latin typeface="Calibri"/>
              </a:rPr>
              <a:t>Client identifié (oui / non)</a:t>
            </a:r>
          </a:p>
        </p:txBody>
      </p:sp>
      <p:cxnSp>
        <p:nvCxnSpPr>
          <p:cNvPr id="59" name="Connector 58"/>
          <p:cNvCxnSpPr/>
          <p:nvPr/>
        </p:nvCxnSpPr>
        <p:spPr>
          <a:xfrm>
            <a:off x="7863840" y="2715768"/>
            <a:ext cx="822960" cy="1042415"/>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412480" y="3483863"/>
            <a:ext cx="274320" cy="274320"/>
          </a:xfrm>
          <a:prstGeom prst="rect">
            <a:avLst/>
          </a:prstGeom>
          <a:noFill/>
        </p:spPr>
        <p:txBody>
          <a:bodyPr wrap="square" anchor="t" lIns="45720" rIns="45720">
            <a:spAutoFit/>
          </a:bodyPr>
          <a:lstStyle/>
          <a:p>
            <a:pPr algn="l">
              <a:spcAft>
                <a:spcPts val="600"/>
              </a:spcAft>
            </a:pPr>
            <a:r>
              <a:rPr sz="1100" b="1">
                <a:solidFill>
                  <a:srgbClr val="475569"/>
                </a:solidFill>
                <a:latin typeface="Calibri"/>
              </a:rPr>
              <a:t>1</a:t>
            </a:r>
          </a:p>
        </p:txBody>
      </p:sp>
      <p:sp>
        <p:nvSpPr>
          <p:cNvPr id="61" name="TextBox 60"/>
          <p:cNvSpPr txBox="1"/>
          <p:nvPr/>
        </p:nvSpPr>
        <p:spPr>
          <a:xfrm>
            <a:off x="7891271" y="2441448"/>
            <a:ext cx="274320" cy="274320"/>
          </a:xfrm>
          <a:prstGeom prst="rect">
            <a:avLst/>
          </a:prstGeom>
          <a:noFill/>
        </p:spPr>
        <p:txBody>
          <a:bodyPr wrap="square" anchor="t" lIns="45720" rIns="45720">
            <a:spAutoFit/>
          </a:bodyPr>
          <a:lstStyle/>
          <a:p>
            <a:pPr algn="l">
              <a:spcAft>
                <a:spcPts val="600"/>
              </a:spcAft>
            </a:pPr>
            <a:r>
              <a:rPr sz="1100" b="1">
                <a:solidFill>
                  <a:srgbClr val="475569"/>
                </a:solidFill>
                <a:latin typeface="Calibri"/>
              </a:rPr>
              <a:t>N</a:t>
            </a:r>
          </a:p>
        </p:txBody>
      </p:sp>
      <p:sp>
        <p:nvSpPr>
          <p:cNvPr id="62" name="TextBox 61"/>
          <p:cNvSpPr txBox="1"/>
          <p:nvPr/>
        </p:nvSpPr>
        <p:spPr>
          <a:xfrm>
            <a:off x="4343400" y="5715000"/>
            <a:ext cx="3566160" cy="548640"/>
          </a:xfrm>
          <a:prstGeom prst="rect">
            <a:avLst/>
          </a:prstGeom>
          <a:noFill/>
        </p:spPr>
        <p:txBody>
          <a:bodyPr wrap="square" anchor="t" lIns="45720" rIns="45720">
            <a:spAutoFit/>
          </a:bodyPr>
          <a:lstStyle/>
          <a:p>
            <a:pPr algn="ctr">
              <a:spcAft>
                <a:spcPts val="600"/>
              </a:spcAft>
            </a:pPr>
            <a:r>
              <a:rPr sz="1200" b="0">
                <a:solidFill>
                  <a:srgbClr val="475569"/>
                </a:solidFill>
                <a:latin typeface="Calibri"/>
              </a:rPr>
              <a:t>Grain : 1 produit vendu dans 1 document à 1 date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4 · MODÈLE DU DATA WAREHOUSE</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Trois tables de faits et leurs mesures</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15</a:t>
            </a:r>
          </a:p>
        </p:txBody>
      </p:sp>
      <p:graphicFrame>
        <p:nvGraphicFramePr>
          <p:cNvPr id="7" name="Table 6"/>
          <p:cNvGraphicFramePr>
            <a:graphicFrameLocks noGrp="1"/>
          </p:cNvGraphicFramePr>
          <p:nvPr/>
        </p:nvGraphicFramePr>
        <p:xfrm>
          <a:off x="502920" y="1325880"/>
          <a:ext cx="11201400" cy="4343400"/>
        </p:xfrm>
        <a:graphic>
          <a:graphicData uri="http://schemas.openxmlformats.org/drawingml/2006/table">
            <a:tbl>
              <a:tblPr firstRow="1" bandRow="1">
                <a:tableStyleId>{5C22544A-7EE6-4342-B048-85BDC9FD1C3A}</a:tableStyleId>
              </a:tblPr>
              <a:tblGrid>
                <a:gridCol w="2148840"/>
                <a:gridCol w="2743200"/>
                <a:gridCol w="960120"/>
                <a:gridCol w="3108960"/>
                <a:gridCol w="2240280"/>
              </a:tblGrid>
              <a:tr h="868680">
                <a:tc>
                  <a:txBody>
                    <a:bodyPr wrap="square"/>
                    <a:lstStyle/>
                    <a:p>
                      <a:r>
                        <a:rPr sz="1200" b="1">
                          <a:solidFill>
                            <a:srgbClr val="FFFFFF"/>
                          </a:solidFill>
                          <a:latin typeface="Calibri"/>
                        </a:rPr>
                        <a:t>Table de faits</a:t>
                      </a:r>
                    </a:p>
                  </a:txBody>
                  <a:tcPr marL="64008" marR="64008" marT="36576" marB="36576" anchor="ctr">
                    <a:solidFill>
                      <a:srgbClr val="1E3A8A"/>
                    </a:solidFill>
                  </a:tcPr>
                </a:tc>
                <a:tc>
                  <a:txBody>
                    <a:bodyPr wrap="square"/>
                    <a:lstStyle/>
                    <a:p>
                      <a:r>
                        <a:rPr sz="1200" b="1">
                          <a:solidFill>
                            <a:srgbClr val="FFFFFF"/>
                          </a:solidFill>
                          <a:latin typeface="Calibri"/>
                        </a:rPr>
                        <a:t>Granularité (1 ligne =)</a:t>
                      </a:r>
                    </a:p>
                  </a:txBody>
                  <a:tcPr marL="64008" marR="64008" marT="36576" marB="36576" anchor="ctr">
                    <a:solidFill>
                      <a:srgbClr val="1E3A8A"/>
                    </a:solidFill>
                  </a:tcPr>
                </a:tc>
                <a:tc>
                  <a:txBody>
                    <a:bodyPr wrap="square"/>
                    <a:lstStyle/>
                    <a:p>
                      <a:r>
                        <a:rPr sz="1200" b="1">
                          <a:solidFill>
                            <a:srgbClr val="FFFFFF"/>
                          </a:solidFill>
                          <a:latin typeface="Calibri"/>
                        </a:rPr>
                        <a:t>Lignes</a:t>
                      </a:r>
                    </a:p>
                  </a:txBody>
                  <a:tcPr marL="64008" marR="64008" marT="36576" marB="36576" anchor="ctr">
                    <a:solidFill>
                      <a:srgbClr val="1E3A8A"/>
                    </a:solidFill>
                  </a:tcPr>
                </a:tc>
                <a:tc>
                  <a:txBody>
                    <a:bodyPr wrap="square"/>
                    <a:lstStyle/>
                    <a:p>
                      <a:r>
                        <a:rPr sz="1200" b="1">
                          <a:solidFill>
                            <a:srgbClr val="FFFFFF"/>
                          </a:solidFill>
                          <a:latin typeface="Calibri"/>
                        </a:rPr>
                        <a:t>Mesures</a:t>
                      </a:r>
                    </a:p>
                  </a:txBody>
                  <a:tcPr marL="64008" marR="64008" marT="36576" marB="36576" anchor="ctr">
                    <a:solidFill>
                      <a:srgbClr val="1E3A8A"/>
                    </a:solidFill>
                  </a:tcPr>
                </a:tc>
                <a:tc>
                  <a:txBody>
                    <a:bodyPr wrap="square"/>
                    <a:lstStyle/>
                    <a:p>
                      <a:r>
                        <a:rPr sz="1200" b="1">
                          <a:solidFill>
                            <a:srgbClr val="FFFFFF"/>
                          </a:solidFill>
                          <a:latin typeface="Calibri"/>
                        </a:rPr>
                        <a:t>Dimensions reliées</a:t>
                      </a:r>
                    </a:p>
                  </a:txBody>
                  <a:tcPr marL="64008" marR="64008" marT="36576" marB="36576" anchor="ctr">
                    <a:solidFill>
                      <a:srgbClr val="1E3A8A"/>
                    </a:solidFill>
                  </a:tcPr>
                </a:tc>
              </a:tr>
              <a:tr h="868680">
                <a:tc>
                  <a:txBody>
                    <a:bodyPr wrap="square"/>
                    <a:lstStyle/>
                    <a:p>
                      <a:r>
                        <a:rPr sz="1200" b="1">
                          <a:solidFill>
                            <a:srgbClr val="0F172A"/>
                          </a:solidFill>
                          <a:latin typeface="Calibri"/>
                        </a:rPr>
                        <a:t>fait_ventes</a:t>
                      </a:r>
                    </a:p>
                  </a:txBody>
                  <a:tcPr marL="64008" marR="64008" marT="36576" marB="36576" anchor="ctr">
                    <a:solidFill>
                      <a:srgbClr val="FFFFFF"/>
                    </a:solidFill>
                  </a:tcPr>
                </a:tc>
                <a:tc>
                  <a:txBody>
                    <a:bodyPr wrap="square"/>
                    <a:lstStyle/>
                    <a:p>
                      <a:r>
                        <a:rPr sz="1200" b="0">
                          <a:solidFill>
                            <a:srgbClr val="0F172A"/>
                          </a:solidFill>
                          <a:latin typeface="Calibri"/>
                        </a:rPr>
                        <a:t>1 produit vendu dans 1 document à 1 date</a:t>
                      </a:r>
                    </a:p>
                  </a:txBody>
                  <a:tcPr marL="64008" marR="64008" marT="36576" marB="36576" anchor="ctr">
                    <a:solidFill>
                      <a:srgbClr val="FFFFFF"/>
                    </a:solidFill>
                  </a:tcPr>
                </a:tc>
                <a:tc>
                  <a:txBody>
                    <a:bodyPr wrap="square"/>
                    <a:lstStyle/>
                    <a:p>
                      <a:r>
                        <a:rPr sz="1200" b="0">
                          <a:solidFill>
                            <a:srgbClr val="0F172A"/>
                          </a:solidFill>
                          <a:latin typeface="Calibri"/>
                        </a:rPr>
                        <a:t>91 995</a:t>
                      </a:r>
                    </a:p>
                  </a:txBody>
                  <a:tcPr marL="64008" marR="64008" marT="36576" marB="36576" anchor="ctr">
                    <a:solidFill>
                      <a:srgbClr val="FFFFFF"/>
                    </a:solidFill>
                  </a:tcPr>
                </a:tc>
                <a:tc>
                  <a:txBody>
                    <a:bodyPr wrap="square"/>
                    <a:lstStyle/>
                    <a:p>
                      <a:r>
                        <a:rPr sz="1200" b="0">
                          <a:solidFill>
                            <a:srgbClr val="0F172A"/>
                          </a:solidFill>
                          <a:latin typeface="Calibri"/>
                        </a:rPr>
                        <a:t>QuantiteVendue, Remise_HT, CA_HT, Cout_HT</a:t>
                      </a:r>
                    </a:p>
                    <a:p>
                      <a:r>
                        <a:rPr sz="1200" b="0">
                          <a:solidFill>
                            <a:srgbClr val="0F172A"/>
                          </a:solidFill>
                          <a:latin typeface="Calibri"/>
                        </a:rPr>
                        <a:t>(+ Document_Id pour compter les ventes)</a:t>
                      </a:r>
                    </a:p>
                  </a:txBody>
                  <a:tcPr marL="64008" marR="64008" marT="36576" marB="36576" anchor="ctr">
                    <a:solidFill>
                      <a:srgbClr val="FFFFFF"/>
                    </a:solidFill>
                  </a:tcPr>
                </a:tc>
                <a:tc>
                  <a:txBody>
                    <a:bodyPr wrap="square"/>
                    <a:lstStyle/>
                    <a:p>
                      <a:r>
                        <a:rPr sz="1200" b="0">
                          <a:solidFill>
                            <a:srgbClr val="0F172A"/>
                          </a:solidFill>
                          <a:latin typeface="Calibri"/>
                        </a:rPr>
                        <a:t>Temps, Produit, Client</a:t>
                      </a:r>
                    </a:p>
                  </a:txBody>
                  <a:tcPr marL="64008" marR="64008" marT="36576" marB="36576" anchor="ctr">
                    <a:solidFill>
                      <a:srgbClr val="FFFFFF"/>
                    </a:solidFill>
                  </a:tcPr>
                </a:tc>
              </a:tr>
              <a:tr h="868680">
                <a:tc>
                  <a:txBody>
                    <a:bodyPr wrap="square"/>
                    <a:lstStyle/>
                    <a:p>
                      <a:r>
                        <a:rPr sz="1200" b="1">
                          <a:solidFill>
                            <a:srgbClr val="0F172A"/>
                          </a:solidFill>
                          <a:latin typeface="Calibri"/>
                        </a:rPr>
                        <a:t>fait_stock_actuel</a:t>
                      </a:r>
                    </a:p>
                  </a:txBody>
                  <a:tcPr marL="64008" marR="64008" marT="36576" marB="36576" anchor="ctr">
                    <a:solidFill>
                      <a:srgbClr val="F8FAFC"/>
                    </a:solidFill>
                  </a:tcPr>
                </a:tc>
                <a:tc>
                  <a:txBody>
                    <a:bodyPr wrap="square"/>
                    <a:lstStyle/>
                    <a:p>
                      <a:r>
                        <a:rPr sz="1200" b="0">
                          <a:solidFill>
                            <a:srgbClr val="0F172A"/>
                          </a:solidFill>
                          <a:latin typeface="Calibri"/>
                        </a:rPr>
                        <a:t>1 produit à la date de snapshot (29/09/2026)</a:t>
                      </a:r>
                    </a:p>
                  </a:txBody>
                  <a:tcPr marL="64008" marR="64008" marT="36576" marB="36576" anchor="ctr">
                    <a:solidFill>
                      <a:srgbClr val="F8FAFC"/>
                    </a:solidFill>
                  </a:tcPr>
                </a:tc>
                <a:tc>
                  <a:txBody>
                    <a:bodyPr wrap="square"/>
                    <a:lstStyle/>
                    <a:p>
                      <a:r>
                        <a:rPr sz="1200" b="0">
                          <a:solidFill>
                            <a:srgbClr val="0F172A"/>
                          </a:solidFill>
                          <a:latin typeface="Calibri"/>
                        </a:rPr>
                        <a:t>6 842</a:t>
                      </a:r>
                    </a:p>
                  </a:txBody>
                  <a:tcPr marL="64008" marR="64008" marT="36576" marB="36576" anchor="ctr">
                    <a:solidFill>
                      <a:srgbClr val="F8FAFC"/>
                    </a:solidFill>
                  </a:tcPr>
                </a:tc>
                <a:tc>
                  <a:txBody>
                    <a:bodyPr wrap="square"/>
                    <a:lstStyle/>
                    <a:p>
                      <a:r>
                        <a:rPr sz="1200" b="0">
                          <a:solidFill>
                            <a:srgbClr val="0F172A"/>
                          </a:solidFill>
                          <a:latin typeface="Calibri"/>
                        </a:rPr>
                        <a:t>Quantity</a:t>
                      </a:r>
                    </a:p>
                  </a:txBody>
                  <a:tcPr marL="64008" marR="64008" marT="36576" marB="36576" anchor="ctr">
                    <a:solidFill>
                      <a:srgbClr val="F8FAFC"/>
                    </a:solidFill>
                  </a:tcPr>
                </a:tc>
                <a:tc>
                  <a:txBody>
                    <a:bodyPr wrap="square"/>
                    <a:lstStyle/>
                    <a:p>
                      <a:r>
                        <a:rPr sz="1200" b="0">
                          <a:solidFill>
                            <a:srgbClr val="0F172A"/>
                          </a:solidFill>
                          <a:latin typeface="Calibri"/>
                        </a:rPr>
                        <a:t>Temps, Produit</a:t>
                      </a:r>
                    </a:p>
                  </a:txBody>
                  <a:tcPr marL="64008" marR="64008" marT="36576" marB="36576" anchor="ctr">
                    <a:solidFill>
                      <a:srgbClr val="F8FAFC"/>
                    </a:solidFill>
                  </a:tcPr>
                </a:tc>
              </a:tr>
              <a:tr h="868680">
                <a:tc>
                  <a:txBody>
                    <a:bodyPr wrap="square"/>
                    <a:lstStyle/>
                    <a:p>
                      <a:r>
                        <a:rPr sz="1200" b="1">
                          <a:solidFill>
                            <a:srgbClr val="0F172A"/>
                          </a:solidFill>
                          <a:latin typeface="Calibri"/>
                        </a:rPr>
                        <a:t>fait_paiements</a:t>
                      </a:r>
                    </a:p>
                  </a:txBody>
                  <a:tcPr marL="64008" marR="64008" marT="36576" marB="36576" anchor="ctr">
                    <a:solidFill>
                      <a:srgbClr val="FFFFFF"/>
                    </a:solidFill>
                  </a:tcPr>
                </a:tc>
                <a:tc>
                  <a:txBody>
                    <a:bodyPr wrap="square"/>
                    <a:lstStyle/>
                    <a:p>
                      <a:r>
                        <a:rPr sz="1200" b="0">
                          <a:solidFill>
                            <a:srgbClr val="0F172A"/>
                          </a:solidFill>
                          <a:latin typeface="Calibri"/>
                        </a:rPr>
                        <a:t>1 paiement</a:t>
                      </a:r>
                    </a:p>
                  </a:txBody>
                  <a:tcPr marL="64008" marR="64008" marT="36576" marB="36576" anchor="ctr">
                    <a:solidFill>
                      <a:srgbClr val="FFFFFF"/>
                    </a:solidFill>
                  </a:tcPr>
                </a:tc>
                <a:tc>
                  <a:txBody>
                    <a:bodyPr wrap="square"/>
                    <a:lstStyle/>
                    <a:p>
                      <a:r>
                        <a:rPr sz="1200" b="0">
                          <a:solidFill>
                            <a:srgbClr val="0F172A"/>
                          </a:solidFill>
                          <a:latin typeface="Calibri"/>
                        </a:rPr>
                        <a:t>40 160</a:t>
                      </a:r>
                    </a:p>
                  </a:txBody>
                  <a:tcPr marL="64008" marR="64008" marT="36576" marB="36576" anchor="ctr">
                    <a:solidFill>
                      <a:srgbClr val="FFFFFF"/>
                    </a:solidFill>
                  </a:tcPr>
                </a:tc>
                <a:tc>
                  <a:txBody>
                    <a:bodyPr wrap="square"/>
                    <a:lstStyle/>
                    <a:p>
                      <a:r>
                        <a:rPr sz="1200" b="0">
                          <a:solidFill>
                            <a:srgbClr val="0F172A"/>
                          </a:solidFill>
                          <a:latin typeface="Calibri"/>
                        </a:rPr>
                        <a:t>Amount</a:t>
                      </a:r>
                    </a:p>
                    <a:p>
                      <a:r>
                        <a:rPr sz="1200" b="0">
                          <a:solidFill>
                            <a:srgbClr val="0F172A"/>
                          </a:solidFill>
                          <a:latin typeface="Calibri"/>
                        </a:rPr>
                        <a:t>(+ EstPaiementFournisseur pour filtrer)</a:t>
                      </a:r>
                    </a:p>
                  </a:txBody>
                  <a:tcPr marL="64008" marR="64008" marT="36576" marB="36576" anchor="ctr">
                    <a:solidFill>
                      <a:srgbClr val="FFFFFF"/>
                    </a:solidFill>
                  </a:tcPr>
                </a:tc>
                <a:tc>
                  <a:txBody>
                    <a:bodyPr wrap="square"/>
                    <a:lstStyle/>
                    <a:p>
                      <a:r>
                        <a:rPr sz="1200" b="0">
                          <a:solidFill>
                            <a:srgbClr val="0F172A"/>
                          </a:solidFill>
                          <a:latin typeface="Calibri"/>
                        </a:rPr>
                        <a:t>Temps, Paiement</a:t>
                      </a:r>
                    </a:p>
                  </a:txBody>
                  <a:tcPr marL="64008" marR="64008" marT="36576" marB="36576" anchor="ctr">
                    <a:solidFill>
                      <a:srgbClr val="FFFFFF"/>
                    </a:solidFill>
                  </a:tcPr>
                </a:tc>
              </a:tr>
              <a:tr h="868680">
                <a:tc>
                  <a:txBody>
                    <a:bodyPr wrap="square"/>
                    <a:lstStyle/>
                    <a:p>
                      <a:r>
                        <a:rPr sz="1200" b="1">
                          <a:solidFill>
                            <a:srgbClr val="0F172A"/>
                          </a:solidFill>
                          <a:latin typeface="Calibri"/>
                        </a:rPr>
                        <a:t>Mesures Power BI</a:t>
                      </a:r>
                    </a:p>
                  </a:txBody>
                  <a:tcPr marL="64008" marR="64008" marT="36576" marB="36576" anchor="ctr">
                    <a:solidFill>
                      <a:srgbClr val="F8FAFC"/>
                    </a:solidFill>
                  </a:tcPr>
                </a:tc>
                <a:tc>
                  <a:txBody>
                    <a:bodyPr wrap="square"/>
                    <a:lstStyle/>
                    <a:p>
                      <a:r>
                        <a:rPr sz="1200" b="0">
                          <a:solidFill>
                            <a:srgbClr val="0F172A"/>
                          </a:solidFill>
                          <a:latin typeface="Calibri"/>
                        </a:rPr>
                        <a:t>calculées, non stockées</a:t>
                      </a:r>
                    </a:p>
                  </a:txBody>
                  <a:tcPr marL="64008" marR="64008" marT="36576" marB="36576" anchor="ctr">
                    <a:solidFill>
                      <a:srgbClr val="F8FAFC"/>
                    </a:solidFill>
                  </a:tcPr>
                </a:tc>
                <a:tc>
                  <a:txBody>
                    <a:bodyPr wrap="square"/>
                    <a:lstStyle/>
                    <a:p>
                      <a:r>
                        <a:rPr sz="1200" b="0">
                          <a:solidFill>
                            <a:srgbClr val="0F172A"/>
                          </a:solidFill>
                          <a:latin typeface="Calibri"/>
                        </a:rPr>
                        <a:t>—</a:t>
                      </a:r>
                    </a:p>
                  </a:txBody>
                  <a:tcPr marL="64008" marR="64008" marT="36576" marB="36576" anchor="ctr">
                    <a:solidFill>
                      <a:srgbClr val="F8FAFC"/>
                    </a:solidFill>
                  </a:tcPr>
                </a:tc>
                <a:tc>
                  <a:txBody>
                    <a:bodyPr wrap="square"/>
                    <a:lstStyle/>
                    <a:p>
                      <a:r>
                        <a:rPr sz="1200" b="0">
                          <a:solidFill>
                            <a:srgbClr val="0F172A"/>
                          </a:solidFill>
                          <a:latin typeface="Calibri"/>
                        </a:rPr>
                        <a:t>Marge HT, panier moyen, croissance, clients actifs,</a:t>
                      </a:r>
                    </a:p>
                    <a:p>
                      <a:r>
                        <a:rPr sz="1200" b="0">
                          <a:solidFill>
                            <a:srgbClr val="0F172A"/>
                          </a:solidFill>
                          <a:latin typeface="Calibri"/>
                        </a:rPr>
                        <a:t>ruptures, stock faible, montant encaissé</a:t>
                      </a:r>
                    </a:p>
                  </a:txBody>
                  <a:tcPr marL="64008" marR="64008" marT="36576" marB="36576" anchor="ctr">
                    <a:solidFill>
                      <a:srgbClr val="F8FAFC"/>
                    </a:solidFill>
                  </a:tcPr>
                </a:tc>
                <a:tc>
                  <a:txBody>
                    <a:bodyPr wrap="square"/>
                    <a:lstStyle/>
                    <a:p>
                      <a:r>
                        <a:rPr sz="1200" b="0">
                          <a:solidFill>
                            <a:srgbClr val="0F172A"/>
                          </a:solidFill>
                          <a:latin typeface="Calibri"/>
                        </a:rPr>
                        <a:t>selon la mesure</a:t>
                      </a:r>
                    </a:p>
                  </a:txBody>
                  <a:tcPr marL="64008" marR="64008" marT="36576" marB="36576" anchor="ctr">
                    <a:solidFill>
                      <a:srgbClr val="F8FAF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4 · MODÈLE DU DATA WAREHOUSE</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Quatre dimensions conformes, partagées par les faits</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16</a:t>
            </a:r>
          </a:p>
        </p:txBody>
      </p:sp>
      <p:graphicFrame>
        <p:nvGraphicFramePr>
          <p:cNvPr id="7" name="Table 6"/>
          <p:cNvGraphicFramePr>
            <a:graphicFrameLocks noGrp="1"/>
          </p:cNvGraphicFramePr>
          <p:nvPr/>
        </p:nvGraphicFramePr>
        <p:xfrm>
          <a:off x="502920" y="1325880"/>
          <a:ext cx="11201400" cy="3429000"/>
        </p:xfrm>
        <a:graphic>
          <a:graphicData uri="http://schemas.openxmlformats.org/drawingml/2006/table">
            <a:tbl>
              <a:tblPr firstRow="1" bandRow="1">
                <a:tableStyleId>{5C22544A-7EE6-4342-B048-85BDC9FD1C3A}</a:tableStyleId>
              </a:tblPr>
              <a:tblGrid>
                <a:gridCol w="2103120"/>
                <a:gridCol w="1828800"/>
                <a:gridCol w="6172200"/>
                <a:gridCol w="1097280"/>
              </a:tblGrid>
              <a:tr h="685800">
                <a:tc>
                  <a:txBody>
                    <a:bodyPr wrap="square"/>
                    <a:lstStyle/>
                    <a:p>
                      <a:r>
                        <a:rPr sz="1300" b="1">
                          <a:solidFill>
                            <a:srgbClr val="FFFFFF"/>
                          </a:solidFill>
                          <a:latin typeface="Calibri"/>
                        </a:rPr>
                        <a:t>Dimension</a:t>
                      </a:r>
                    </a:p>
                  </a:txBody>
                  <a:tcPr marL="64008" marR="64008" marT="36576" marB="36576" anchor="ctr">
                    <a:solidFill>
                      <a:srgbClr val="1E3A8A"/>
                    </a:solidFill>
                  </a:tcPr>
                </a:tc>
                <a:tc>
                  <a:txBody>
                    <a:bodyPr wrap="square"/>
                    <a:lstStyle/>
                    <a:p>
                      <a:r>
                        <a:rPr sz="1300" b="1">
                          <a:solidFill>
                            <a:srgbClr val="FFFFFF"/>
                          </a:solidFill>
                          <a:latin typeface="Calibri"/>
                        </a:rPr>
                        <a:t>Clé primaire</a:t>
                      </a:r>
                    </a:p>
                  </a:txBody>
                  <a:tcPr marL="64008" marR="64008" marT="36576" marB="36576" anchor="ctr">
                    <a:solidFill>
                      <a:srgbClr val="1E3A8A"/>
                    </a:solidFill>
                  </a:tcPr>
                </a:tc>
                <a:tc>
                  <a:txBody>
                    <a:bodyPr wrap="square"/>
                    <a:lstStyle/>
                    <a:p>
                      <a:r>
                        <a:rPr sz="1300" b="1">
                          <a:solidFill>
                            <a:srgbClr val="FFFFFF"/>
                          </a:solidFill>
                          <a:latin typeface="Calibri"/>
                        </a:rPr>
                        <a:t>Attributs principaux</a:t>
                      </a:r>
                    </a:p>
                  </a:txBody>
                  <a:tcPr marL="64008" marR="64008" marT="36576" marB="36576" anchor="ctr">
                    <a:solidFill>
                      <a:srgbClr val="1E3A8A"/>
                    </a:solidFill>
                  </a:tcPr>
                </a:tc>
                <a:tc>
                  <a:txBody>
                    <a:bodyPr wrap="square"/>
                    <a:lstStyle/>
                    <a:p>
                      <a:r>
                        <a:rPr sz="1300" b="1">
                          <a:solidFill>
                            <a:srgbClr val="FFFFFF"/>
                          </a:solidFill>
                          <a:latin typeface="Calibri"/>
                        </a:rPr>
                        <a:t>Lignes</a:t>
                      </a:r>
                    </a:p>
                  </a:txBody>
                  <a:tcPr marL="64008" marR="64008" marT="36576" marB="36576" anchor="ctr">
                    <a:solidFill>
                      <a:srgbClr val="1E3A8A"/>
                    </a:solidFill>
                  </a:tcPr>
                </a:tc>
              </a:tr>
              <a:tr h="685800">
                <a:tc>
                  <a:txBody>
                    <a:bodyPr wrap="square"/>
                    <a:lstStyle/>
                    <a:p>
                      <a:r>
                        <a:rPr sz="1300" b="1">
                          <a:solidFill>
                            <a:srgbClr val="0F172A"/>
                          </a:solidFill>
                          <a:latin typeface="Calibri"/>
                        </a:rPr>
                        <a:t>dim_temps</a:t>
                      </a:r>
                    </a:p>
                  </a:txBody>
                  <a:tcPr marL="64008" marR="64008" marT="36576" marB="36576" anchor="ctr">
                    <a:solidFill>
                      <a:srgbClr val="FFFFFF"/>
                    </a:solidFill>
                  </a:tcPr>
                </a:tc>
                <a:tc>
                  <a:txBody>
                    <a:bodyPr wrap="square"/>
                    <a:lstStyle/>
                    <a:p>
                      <a:r>
                        <a:rPr sz="1300" b="0">
                          <a:solidFill>
                            <a:srgbClr val="0F172A"/>
                          </a:solidFill>
                          <a:latin typeface="Calibri"/>
                        </a:rPr>
                        <a:t>DateKey</a:t>
                      </a:r>
                    </a:p>
                  </a:txBody>
                  <a:tcPr marL="64008" marR="64008" marT="36576" marB="36576" anchor="ctr">
                    <a:solidFill>
                      <a:srgbClr val="FFFFFF"/>
                    </a:solidFill>
                  </a:tcPr>
                </a:tc>
                <a:tc>
                  <a:txBody>
                    <a:bodyPr wrap="square"/>
                    <a:lstStyle/>
                    <a:p>
                      <a:r>
                        <a:rPr sz="1300" b="0">
                          <a:solidFill>
                            <a:srgbClr val="0F172A"/>
                          </a:solidFill>
                          <a:latin typeface="Calibri"/>
                        </a:rPr>
                        <a:t>Date, année, trimestre, mois, semaine ISO, jour férié (30/09/2024 → 29/09/2026)</a:t>
                      </a:r>
                    </a:p>
                  </a:txBody>
                  <a:tcPr marL="64008" marR="64008" marT="36576" marB="36576" anchor="ctr">
                    <a:solidFill>
                      <a:srgbClr val="FFFFFF"/>
                    </a:solidFill>
                  </a:tcPr>
                </a:tc>
                <a:tc>
                  <a:txBody>
                    <a:bodyPr wrap="square"/>
                    <a:lstStyle/>
                    <a:p>
                      <a:r>
                        <a:rPr sz="1300" b="0">
                          <a:solidFill>
                            <a:srgbClr val="0F172A"/>
                          </a:solidFill>
                          <a:latin typeface="Calibri"/>
                        </a:rPr>
                        <a:t>730</a:t>
                      </a:r>
                    </a:p>
                  </a:txBody>
                  <a:tcPr marL="64008" marR="64008" marT="36576" marB="36576" anchor="ctr">
                    <a:solidFill>
                      <a:srgbClr val="FFFFFF"/>
                    </a:solidFill>
                  </a:tcPr>
                </a:tc>
              </a:tr>
              <a:tr h="685800">
                <a:tc>
                  <a:txBody>
                    <a:bodyPr wrap="square"/>
                    <a:lstStyle/>
                    <a:p>
                      <a:r>
                        <a:rPr sz="1300" b="1">
                          <a:solidFill>
                            <a:srgbClr val="0F172A"/>
                          </a:solidFill>
                          <a:latin typeface="Calibri"/>
                        </a:rPr>
                        <a:t>dim_produit</a:t>
                      </a:r>
                    </a:p>
                  </a:txBody>
                  <a:tcPr marL="64008" marR="64008" marT="36576" marB="36576" anchor="ctr">
                    <a:solidFill>
                      <a:srgbClr val="F8FAFC"/>
                    </a:solidFill>
                  </a:tcPr>
                </a:tc>
                <a:tc>
                  <a:txBody>
                    <a:bodyPr wrap="square"/>
                    <a:lstStyle/>
                    <a:p>
                      <a:r>
                        <a:rPr sz="1300" b="0">
                          <a:solidFill>
                            <a:srgbClr val="0F172A"/>
                          </a:solidFill>
                          <a:latin typeface="Calibri"/>
                        </a:rPr>
                        <a:t>Product_Id</a:t>
                      </a:r>
                    </a:p>
                  </a:txBody>
                  <a:tcPr marL="64008" marR="64008" marT="36576" marB="36576" anchor="ctr">
                    <a:solidFill>
                      <a:srgbClr val="F8FAFC"/>
                    </a:solidFill>
                  </a:tcPr>
                </a:tc>
                <a:tc>
                  <a:txBody>
                    <a:bodyPr wrap="square"/>
                    <a:lstStyle/>
                    <a:p>
                      <a:r>
                        <a:rPr sz="1300" b="0">
                          <a:solidFill>
                            <a:srgbClr val="0F172A"/>
                          </a:solidFill>
                          <a:latin typeface="Calibri"/>
                        </a:rPr>
                        <a:t>Libellé, famille, marque, seuil d'alerte de stock</a:t>
                      </a:r>
                    </a:p>
                  </a:txBody>
                  <a:tcPr marL="64008" marR="64008" marT="36576" marB="36576" anchor="ctr">
                    <a:solidFill>
                      <a:srgbClr val="F8FAFC"/>
                    </a:solidFill>
                  </a:tcPr>
                </a:tc>
                <a:tc>
                  <a:txBody>
                    <a:bodyPr wrap="square"/>
                    <a:lstStyle/>
                    <a:p>
                      <a:r>
                        <a:rPr sz="1300" b="0">
                          <a:solidFill>
                            <a:srgbClr val="0F172A"/>
                          </a:solidFill>
                          <a:latin typeface="Calibri"/>
                        </a:rPr>
                        <a:t>6 842</a:t>
                      </a:r>
                    </a:p>
                  </a:txBody>
                  <a:tcPr marL="64008" marR="64008" marT="36576" marB="36576" anchor="ctr">
                    <a:solidFill>
                      <a:srgbClr val="F8FAFC"/>
                    </a:solidFill>
                  </a:tcPr>
                </a:tc>
              </a:tr>
              <a:tr h="685800">
                <a:tc>
                  <a:txBody>
                    <a:bodyPr wrap="square"/>
                    <a:lstStyle/>
                    <a:p>
                      <a:r>
                        <a:rPr sz="1300" b="1">
                          <a:solidFill>
                            <a:srgbClr val="0F172A"/>
                          </a:solidFill>
                          <a:latin typeface="Calibri"/>
                        </a:rPr>
                        <a:t>dim_client</a:t>
                      </a:r>
                    </a:p>
                  </a:txBody>
                  <a:tcPr marL="64008" marR="64008" marT="36576" marB="36576" anchor="ctr">
                    <a:solidFill>
                      <a:srgbClr val="FFFFFF"/>
                    </a:solidFill>
                  </a:tcPr>
                </a:tc>
                <a:tc>
                  <a:txBody>
                    <a:bodyPr wrap="square"/>
                    <a:lstStyle/>
                    <a:p>
                      <a:r>
                        <a:rPr sz="1300" b="0">
                          <a:solidFill>
                            <a:srgbClr val="0F172A"/>
                          </a:solidFill>
                          <a:latin typeface="Calibri"/>
                        </a:rPr>
                        <a:t>Company_Id</a:t>
                      </a:r>
                    </a:p>
                  </a:txBody>
                  <a:tcPr marL="64008" marR="64008" marT="36576" marB="36576" anchor="ctr">
                    <a:solidFill>
                      <a:srgbClr val="FFFFFF"/>
                    </a:solidFill>
                  </a:tcPr>
                </a:tc>
                <a:tc>
                  <a:txBody>
                    <a:bodyPr wrap="square"/>
                    <a:lstStyle/>
                    <a:p>
                      <a:r>
                        <a:rPr sz="1300" b="0">
                          <a:solidFill>
                            <a:srgbClr val="0F172A"/>
                          </a:solidFill>
                          <a:latin typeface="Calibri"/>
                        </a:rPr>
                        <a:t>Nom, type (particulier / B2B / comptoir anonyme), client identifié</a:t>
                      </a:r>
                    </a:p>
                  </a:txBody>
                  <a:tcPr marL="64008" marR="64008" marT="36576" marB="36576" anchor="ctr">
                    <a:solidFill>
                      <a:srgbClr val="FFFFFF"/>
                    </a:solidFill>
                  </a:tcPr>
                </a:tc>
                <a:tc>
                  <a:txBody>
                    <a:bodyPr wrap="square"/>
                    <a:lstStyle/>
                    <a:p>
                      <a:r>
                        <a:rPr sz="1300" b="0">
                          <a:solidFill>
                            <a:srgbClr val="0F172A"/>
                          </a:solidFill>
                          <a:latin typeface="Calibri"/>
                        </a:rPr>
                        <a:t>82</a:t>
                      </a:r>
                    </a:p>
                  </a:txBody>
                  <a:tcPr marL="64008" marR="64008" marT="36576" marB="36576" anchor="ctr">
                    <a:solidFill>
                      <a:srgbClr val="FFFFFF"/>
                    </a:solidFill>
                  </a:tcPr>
                </a:tc>
              </a:tr>
              <a:tr h="685800">
                <a:tc>
                  <a:txBody>
                    <a:bodyPr wrap="square"/>
                    <a:lstStyle/>
                    <a:p>
                      <a:r>
                        <a:rPr sz="1300" b="1">
                          <a:solidFill>
                            <a:srgbClr val="0F172A"/>
                          </a:solidFill>
                          <a:latin typeface="Calibri"/>
                        </a:rPr>
                        <a:t>dim_paiement</a:t>
                      </a:r>
                    </a:p>
                  </a:txBody>
                  <a:tcPr marL="64008" marR="64008" marT="36576" marB="36576" anchor="ctr">
                    <a:solidFill>
                      <a:srgbClr val="F8FAFC"/>
                    </a:solidFill>
                  </a:tcPr>
                </a:tc>
                <a:tc>
                  <a:txBody>
                    <a:bodyPr wrap="square"/>
                    <a:lstStyle/>
                    <a:p>
                      <a:r>
                        <a:rPr sz="1300" b="0">
                          <a:solidFill>
                            <a:srgbClr val="0F172A"/>
                          </a:solidFill>
                          <a:latin typeface="Calibri"/>
                        </a:rPr>
                        <a:t>PaymentMode_Id</a:t>
                      </a:r>
                    </a:p>
                  </a:txBody>
                  <a:tcPr marL="64008" marR="64008" marT="36576" marB="36576" anchor="ctr">
                    <a:solidFill>
                      <a:srgbClr val="F8FAFC"/>
                    </a:solidFill>
                  </a:tcPr>
                </a:tc>
                <a:tc>
                  <a:txBody>
                    <a:bodyPr wrap="square"/>
                    <a:lstStyle/>
                    <a:p>
                      <a:r>
                        <a:rPr sz="1300" b="0">
                          <a:solidFill>
                            <a:srgbClr val="0F172A"/>
                          </a:solidFill>
                          <a:latin typeface="Calibri"/>
                        </a:rPr>
                        <a:t>Espèces, carte bancaire, chèque, crédit, jetons, non renseigné</a:t>
                      </a:r>
                    </a:p>
                  </a:txBody>
                  <a:tcPr marL="64008" marR="64008" marT="36576" marB="36576" anchor="ctr">
                    <a:solidFill>
                      <a:srgbClr val="F8FAFC"/>
                    </a:solidFill>
                  </a:tcPr>
                </a:tc>
                <a:tc>
                  <a:txBody>
                    <a:bodyPr wrap="square"/>
                    <a:lstStyle/>
                    <a:p>
                      <a:r>
                        <a:rPr sz="1300" b="0">
                          <a:solidFill>
                            <a:srgbClr val="0F172A"/>
                          </a:solidFill>
                          <a:latin typeface="Calibri"/>
                        </a:rPr>
                        <a:t>6</a:t>
                      </a:r>
                    </a:p>
                  </a:txBody>
                  <a:tcPr marL="64008" marR="64008" marT="36576" marB="36576" anchor="ctr">
                    <a:solidFill>
                      <a:srgbClr val="F8FA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4 · MODÈLE DU DATA WAREHOUSE</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Choix de modélisation et garanties de qualité</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17</a:t>
            </a:r>
          </a:p>
        </p:txBody>
      </p:sp>
      <p:sp>
        <p:nvSpPr>
          <p:cNvPr id="7" name="Rectangle 6"/>
          <p:cNvSpPr/>
          <p:nvPr/>
        </p:nvSpPr>
        <p:spPr>
          <a:xfrm>
            <a:off x="502920" y="1417320"/>
            <a:ext cx="548640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417320"/>
            <a:ext cx="82296" cy="14173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554480"/>
            <a:ext cx="5029200" cy="411480"/>
          </a:xfrm>
          <a:prstGeom prst="rect">
            <a:avLst/>
          </a:prstGeom>
          <a:noFill/>
        </p:spPr>
        <p:txBody>
          <a:bodyPr wrap="square" anchor="t" lIns="45720" rIns="45720">
            <a:spAutoFit/>
          </a:bodyPr>
          <a:lstStyle/>
          <a:p>
            <a:pPr algn="l">
              <a:spcAft>
                <a:spcPts val="600"/>
              </a:spcAft>
            </a:pPr>
            <a:r>
              <a:rPr sz="1700" b="1">
                <a:solidFill>
                  <a:srgbClr val="1E3A8A"/>
                </a:solidFill>
                <a:latin typeface="Calibri"/>
              </a:rPr>
              <a:t>Constellation réduite</a:t>
            </a:r>
          </a:p>
        </p:txBody>
      </p:sp>
      <p:sp>
        <p:nvSpPr>
          <p:cNvPr id="10" name="TextBox 9"/>
          <p:cNvSpPr txBox="1"/>
          <p:nvPr/>
        </p:nvSpPr>
        <p:spPr>
          <a:xfrm>
            <a:off x="777240" y="1984248"/>
            <a:ext cx="5029200" cy="822960"/>
          </a:xfrm>
          <a:prstGeom prst="rect">
            <a:avLst/>
          </a:prstGeom>
          <a:noFill/>
        </p:spPr>
        <p:txBody>
          <a:bodyPr wrap="square" anchor="t" lIns="45720" rIns="45720">
            <a:spAutoFit/>
          </a:bodyPr>
          <a:lstStyle/>
          <a:p>
            <a:pPr algn="l">
              <a:spcAft>
                <a:spcPts val="600"/>
              </a:spcAft>
            </a:pPr>
            <a:r>
              <a:rPr sz="1400" b="0">
                <a:solidFill>
                  <a:srgbClr val="0F172A"/>
                </a:solidFill>
                <a:latin typeface="Calibri"/>
              </a:rPr>
              <a:t>Trois processus (ventes, stock, paiements) partagent quatre dimensions : uniquement ce que le cahier demande.</a:t>
            </a:r>
          </a:p>
        </p:txBody>
      </p:sp>
      <p:sp>
        <p:nvSpPr>
          <p:cNvPr id="11" name="Rectangle 10"/>
          <p:cNvSpPr/>
          <p:nvPr/>
        </p:nvSpPr>
        <p:spPr>
          <a:xfrm>
            <a:off x="6172200" y="1417320"/>
            <a:ext cx="548640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72200" y="1417320"/>
            <a:ext cx="82296" cy="14173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1554480"/>
            <a:ext cx="5029200" cy="411480"/>
          </a:xfrm>
          <a:prstGeom prst="rect">
            <a:avLst/>
          </a:prstGeom>
          <a:noFill/>
        </p:spPr>
        <p:txBody>
          <a:bodyPr wrap="square" anchor="t" lIns="45720" rIns="45720">
            <a:spAutoFit/>
          </a:bodyPr>
          <a:lstStyle/>
          <a:p>
            <a:pPr algn="l">
              <a:spcAft>
                <a:spcPts val="600"/>
              </a:spcAft>
            </a:pPr>
            <a:r>
              <a:rPr sz="1700" b="1">
                <a:solidFill>
                  <a:srgbClr val="1E3A8A"/>
                </a:solidFill>
                <a:latin typeface="Calibri"/>
              </a:rPr>
              <a:t>Grain le plus fin</a:t>
            </a:r>
          </a:p>
        </p:txBody>
      </p:sp>
      <p:sp>
        <p:nvSpPr>
          <p:cNvPr id="14" name="TextBox 13"/>
          <p:cNvSpPr txBox="1"/>
          <p:nvPr/>
        </p:nvSpPr>
        <p:spPr>
          <a:xfrm>
            <a:off x="6446520" y="1984248"/>
            <a:ext cx="5029200" cy="822960"/>
          </a:xfrm>
          <a:prstGeom prst="rect">
            <a:avLst/>
          </a:prstGeom>
          <a:noFill/>
        </p:spPr>
        <p:txBody>
          <a:bodyPr wrap="square" anchor="t" lIns="45720" rIns="45720">
            <a:spAutoFit/>
          </a:bodyPr>
          <a:lstStyle/>
          <a:p>
            <a:pPr algn="l">
              <a:spcAft>
                <a:spcPts val="600"/>
              </a:spcAft>
            </a:pPr>
            <a:r>
              <a:rPr sz="1400" b="0">
                <a:solidFill>
                  <a:srgbClr val="0F172A"/>
                </a:solidFill>
                <a:latin typeface="Calibri"/>
              </a:rPr>
              <a:t>Une ligne de produit vendue : on peut toujours agréger, jamais redescendre.</a:t>
            </a:r>
          </a:p>
        </p:txBody>
      </p:sp>
      <p:sp>
        <p:nvSpPr>
          <p:cNvPr id="15" name="Rectangle 14"/>
          <p:cNvSpPr/>
          <p:nvPr/>
        </p:nvSpPr>
        <p:spPr>
          <a:xfrm>
            <a:off x="502920" y="3017520"/>
            <a:ext cx="548640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3017520"/>
            <a:ext cx="82296" cy="14173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3154679"/>
            <a:ext cx="5029200" cy="411480"/>
          </a:xfrm>
          <a:prstGeom prst="rect">
            <a:avLst/>
          </a:prstGeom>
          <a:noFill/>
        </p:spPr>
        <p:txBody>
          <a:bodyPr wrap="square" anchor="t" lIns="45720" rIns="45720">
            <a:spAutoFit/>
          </a:bodyPr>
          <a:lstStyle/>
          <a:p>
            <a:pPr algn="l">
              <a:spcAft>
                <a:spcPts val="600"/>
              </a:spcAft>
            </a:pPr>
            <a:r>
              <a:rPr sz="1700" b="1">
                <a:solidFill>
                  <a:srgbClr val="1E3A8A"/>
                </a:solidFill>
                <a:latin typeface="Calibri"/>
              </a:rPr>
              <a:t>Mesures signées</a:t>
            </a:r>
          </a:p>
        </p:txBody>
      </p:sp>
      <p:sp>
        <p:nvSpPr>
          <p:cNvPr id="18" name="TextBox 17"/>
          <p:cNvSpPr txBox="1"/>
          <p:nvPr/>
        </p:nvSpPr>
        <p:spPr>
          <a:xfrm>
            <a:off x="777240" y="3584448"/>
            <a:ext cx="5029200" cy="822960"/>
          </a:xfrm>
          <a:prstGeom prst="rect">
            <a:avLst/>
          </a:prstGeom>
          <a:noFill/>
        </p:spPr>
        <p:txBody>
          <a:bodyPr wrap="square" anchor="t" lIns="45720" rIns="45720">
            <a:spAutoFit/>
          </a:bodyPr>
          <a:lstStyle/>
          <a:p>
            <a:pPr algn="l">
              <a:spcAft>
                <a:spcPts val="600"/>
              </a:spcAft>
            </a:pPr>
            <a:r>
              <a:rPr sz="1400" b="0">
                <a:solidFill>
                  <a:srgbClr val="0F172A"/>
                </a:solidFill>
                <a:latin typeface="Calibri"/>
              </a:rPr>
              <a:t>Retours et avoirs en négatif : un simple SUM donne le CA net.</a:t>
            </a:r>
          </a:p>
        </p:txBody>
      </p:sp>
      <p:sp>
        <p:nvSpPr>
          <p:cNvPr id="19" name="Rectangle 18"/>
          <p:cNvSpPr/>
          <p:nvPr/>
        </p:nvSpPr>
        <p:spPr>
          <a:xfrm>
            <a:off x="6172200" y="3017520"/>
            <a:ext cx="548640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72200" y="3017520"/>
            <a:ext cx="82296" cy="14173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6520" y="3154679"/>
            <a:ext cx="5029200" cy="411480"/>
          </a:xfrm>
          <a:prstGeom prst="rect">
            <a:avLst/>
          </a:prstGeom>
          <a:noFill/>
        </p:spPr>
        <p:txBody>
          <a:bodyPr wrap="square" anchor="t" lIns="45720" rIns="45720">
            <a:spAutoFit/>
          </a:bodyPr>
          <a:lstStyle/>
          <a:p>
            <a:pPr algn="l">
              <a:spcAft>
                <a:spcPts val="600"/>
              </a:spcAft>
            </a:pPr>
            <a:r>
              <a:rPr sz="1700" b="1">
                <a:solidFill>
                  <a:srgbClr val="1E3A8A"/>
                </a:solidFill>
                <a:latin typeface="Calibri"/>
              </a:rPr>
              <a:t>Sans double comptage</a:t>
            </a:r>
          </a:p>
        </p:txBody>
      </p:sp>
      <p:sp>
        <p:nvSpPr>
          <p:cNvPr id="22" name="TextBox 21"/>
          <p:cNvSpPr txBox="1"/>
          <p:nvPr/>
        </p:nvSpPr>
        <p:spPr>
          <a:xfrm>
            <a:off x="6446520" y="3584448"/>
            <a:ext cx="5029200" cy="822960"/>
          </a:xfrm>
          <a:prstGeom prst="rect">
            <a:avLst/>
          </a:prstGeom>
          <a:noFill/>
        </p:spPr>
        <p:txBody>
          <a:bodyPr wrap="square" anchor="t" lIns="45720" rIns="45720">
            <a:spAutoFit/>
          </a:bodyPr>
          <a:lstStyle/>
          <a:p>
            <a:pPr algn="l">
              <a:spcAft>
                <a:spcPts val="600"/>
              </a:spcAft>
            </a:pPr>
            <a:r>
              <a:rPr sz="1400" b="0">
                <a:solidFill>
                  <a:srgbClr val="0F172A"/>
                </a:solidFill>
                <a:latin typeface="Calibri"/>
              </a:rPr>
              <a:t>Les factures qui refacturent des bons de livraison sont exclues des ventes.</a:t>
            </a:r>
          </a:p>
        </p:txBody>
      </p:sp>
      <p:sp>
        <p:nvSpPr>
          <p:cNvPr id="23" name="Rectangle 22"/>
          <p:cNvSpPr/>
          <p:nvPr/>
        </p:nvSpPr>
        <p:spPr>
          <a:xfrm>
            <a:off x="502920" y="4617720"/>
            <a:ext cx="548640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02920" y="4617720"/>
            <a:ext cx="82296" cy="14173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4754880"/>
            <a:ext cx="5029200" cy="411480"/>
          </a:xfrm>
          <a:prstGeom prst="rect">
            <a:avLst/>
          </a:prstGeom>
          <a:noFill/>
        </p:spPr>
        <p:txBody>
          <a:bodyPr wrap="square" anchor="t" lIns="45720" rIns="45720">
            <a:spAutoFit/>
          </a:bodyPr>
          <a:lstStyle/>
          <a:p>
            <a:pPr algn="l">
              <a:spcAft>
                <a:spcPts val="600"/>
              </a:spcAft>
            </a:pPr>
            <a:r>
              <a:rPr sz="1700" b="1">
                <a:solidFill>
                  <a:srgbClr val="1E3A8A"/>
                </a:solidFill>
                <a:latin typeface="Calibri"/>
              </a:rPr>
              <a:t>Intégrité garantie</a:t>
            </a:r>
          </a:p>
        </p:txBody>
      </p:sp>
      <p:sp>
        <p:nvSpPr>
          <p:cNvPr id="26" name="TextBox 25"/>
          <p:cNvSpPr txBox="1"/>
          <p:nvPr/>
        </p:nvSpPr>
        <p:spPr>
          <a:xfrm>
            <a:off x="777240" y="5184648"/>
            <a:ext cx="5029200" cy="822960"/>
          </a:xfrm>
          <a:prstGeom prst="rect">
            <a:avLst/>
          </a:prstGeom>
          <a:noFill/>
        </p:spPr>
        <p:txBody>
          <a:bodyPr wrap="square" anchor="t" lIns="45720" rIns="45720">
            <a:spAutoFit/>
          </a:bodyPr>
          <a:lstStyle/>
          <a:p>
            <a:pPr algn="l">
              <a:spcAft>
                <a:spcPts val="600"/>
              </a:spcAft>
            </a:pPr>
            <a:r>
              <a:rPr sz="1400" b="0">
                <a:solidFill>
                  <a:srgbClr val="0F172A"/>
                </a:solidFill>
                <a:latin typeface="Calibri"/>
              </a:rPr>
              <a:t>Membres -1 « non renseigné » ; 100 % des clés étrangères retrouvent leur dimension.</a:t>
            </a:r>
          </a:p>
        </p:txBody>
      </p:sp>
      <p:sp>
        <p:nvSpPr>
          <p:cNvPr id="27" name="Rectangle 26"/>
          <p:cNvSpPr/>
          <p:nvPr/>
        </p:nvSpPr>
        <p:spPr>
          <a:xfrm>
            <a:off x="6172200" y="4617720"/>
            <a:ext cx="548640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172200" y="4617720"/>
            <a:ext cx="82296" cy="14173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46520" y="4754880"/>
            <a:ext cx="5029200" cy="411480"/>
          </a:xfrm>
          <a:prstGeom prst="rect">
            <a:avLst/>
          </a:prstGeom>
          <a:noFill/>
        </p:spPr>
        <p:txBody>
          <a:bodyPr wrap="square" anchor="t" lIns="45720" rIns="45720">
            <a:spAutoFit/>
          </a:bodyPr>
          <a:lstStyle/>
          <a:p>
            <a:pPr algn="l">
              <a:spcAft>
                <a:spcPts val="600"/>
              </a:spcAft>
            </a:pPr>
            <a:r>
              <a:rPr sz="1700" b="1">
                <a:solidFill>
                  <a:srgbClr val="1E3A8A"/>
                </a:solidFill>
                <a:latin typeface="Calibri"/>
              </a:rPr>
              <a:t>Stocké ou calculé</a:t>
            </a:r>
          </a:p>
        </p:txBody>
      </p:sp>
      <p:sp>
        <p:nvSpPr>
          <p:cNvPr id="30" name="TextBox 29"/>
          <p:cNvSpPr txBox="1"/>
          <p:nvPr/>
        </p:nvSpPr>
        <p:spPr>
          <a:xfrm>
            <a:off x="6446520" y="5184648"/>
            <a:ext cx="5029200" cy="822960"/>
          </a:xfrm>
          <a:prstGeom prst="rect">
            <a:avLst/>
          </a:prstGeom>
          <a:noFill/>
        </p:spPr>
        <p:txBody>
          <a:bodyPr wrap="square" anchor="t" lIns="45720" rIns="45720">
            <a:spAutoFit/>
          </a:bodyPr>
          <a:lstStyle/>
          <a:p>
            <a:pPr algn="l">
              <a:spcAft>
                <a:spcPts val="600"/>
              </a:spcAft>
            </a:pPr>
            <a:r>
              <a:rPr sz="1400" b="0">
                <a:solidFill>
                  <a:srgbClr val="0F172A"/>
                </a:solidFill>
                <a:latin typeface="Calibri"/>
              </a:rPr>
              <a:t>Une colonne n'est stockée que si le cahier l'exige et qu'elle ne peut pas être recalculée ; marge, rupture, stock faible sont des mesures.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spcAft>
                <a:spcPts val="600"/>
              </a:spcAft>
            </a:pPr>
            <a:r>
              <a:rPr sz="1200" b="1">
                <a:solidFill>
                  <a:srgbClr val="0F766E"/>
                </a:solidFill>
                <a:latin typeface="Calibri"/>
              </a:rPr>
              <a:t>5 · CONCLUSION</a:t>
            </a:r>
          </a:p>
        </p:txBody>
      </p:sp>
      <p:sp>
        <p:nvSpPr>
          <p:cNvPr id="4" name="TextBox 3"/>
          <p:cNvSpPr txBox="1"/>
          <p:nvPr/>
        </p:nvSpPr>
        <p:spPr>
          <a:xfrm>
            <a:off x="502920" y="530352"/>
            <a:ext cx="11155680" cy="685800"/>
          </a:xfrm>
          <a:prstGeom prst="rect">
            <a:avLst/>
          </a:prstGeom>
          <a:noFill/>
        </p:spPr>
        <p:txBody>
          <a:bodyPr wrap="square" anchor="t" lIns="45720" rIns="45720">
            <a:spAutoFit/>
          </a:bodyPr>
          <a:lstStyle/>
          <a:p>
            <a:pPr algn="l">
              <a:spcAft>
                <a:spcPts val="600"/>
              </a:spcAft>
            </a:pPr>
            <a:r>
              <a:rPr sz="2700" b="1">
                <a:solidFill>
                  <a:srgbClr val="1E3A8A"/>
                </a:solidFill>
                <a:latin typeface="Calibri"/>
              </a:rPr>
              <a:t>Limites identifiées et prochaines étapes</a:t>
            </a:r>
          </a:p>
        </p:txBody>
      </p:sp>
      <p:sp>
        <p:nvSpPr>
          <p:cNvPr id="5" name="TextBox 4"/>
          <p:cNvSpPr txBox="1"/>
          <p:nvPr/>
        </p:nvSpPr>
        <p:spPr>
          <a:xfrm>
            <a:off x="502920" y="6400800"/>
            <a:ext cx="7315200" cy="274320"/>
          </a:xfrm>
          <a:prstGeom prst="rect">
            <a:avLst/>
          </a:prstGeom>
          <a:noFill/>
        </p:spPr>
        <p:txBody>
          <a:bodyPr wrap="square" anchor="t" lIns="45720" rIns="45720">
            <a:spAutoFit/>
          </a:bodyPr>
          <a:lstStyle/>
          <a:p>
            <a:pPr algn="l">
              <a:spcAft>
                <a:spcPts val="600"/>
              </a:spcAft>
            </a:pPr>
            <a:r>
              <a:rPr sz="1000" b="0">
                <a:solidFill>
                  <a:srgbClr val="475569"/>
                </a:solidFill>
                <a:latin typeface="Calibri"/>
              </a:rPr>
              <a:t>Health Retailers · Projet Data Engineering · Validation 1</a:t>
            </a:r>
          </a:p>
        </p:txBody>
      </p:sp>
      <p:sp>
        <p:nvSpPr>
          <p:cNvPr id="6" name="TextBox 5"/>
          <p:cNvSpPr txBox="1"/>
          <p:nvPr/>
        </p:nvSpPr>
        <p:spPr>
          <a:xfrm>
            <a:off x="10789920" y="6400800"/>
            <a:ext cx="914400" cy="274320"/>
          </a:xfrm>
          <a:prstGeom prst="rect">
            <a:avLst/>
          </a:prstGeom>
          <a:noFill/>
        </p:spPr>
        <p:txBody>
          <a:bodyPr wrap="square" anchor="t" lIns="45720" rIns="45720">
            <a:spAutoFit/>
          </a:bodyPr>
          <a:lstStyle/>
          <a:p>
            <a:pPr algn="r">
              <a:spcAft>
                <a:spcPts val="600"/>
              </a:spcAft>
            </a:pPr>
            <a:r>
              <a:rPr sz="1000" b="0">
                <a:solidFill>
                  <a:srgbClr val="475569"/>
                </a:solidFill>
                <a:latin typeface="Calibri"/>
              </a:rPr>
              <a:t>18</a:t>
            </a:r>
          </a:p>
        </p:txBody>
      </p:sp>
      <p:sp>
        <p:nvSpPr>
          <p:cNvPr id="7" name="TextBox 6"/>
          <p:cNvSpPr txBox="1"/>
          <p:nvPr/>
        </p:nvSpPr>
        <p:spPr>
          <a:xfrm>
            <a:off x="502920" y="1371600"/>
            <a:ext cx="5486400" cy="411480"/>
          </a:xfrm>
          <a:prstGeom prst="rect">
            <a:avLst/>
          </a:prstGeom>
          <a:noFill/>
        </p:spPr>
        <p:txBody>
          <a:bodyPr wrap="square" anchor="t" lIns="45720" rIns="45720">
            <a:spAutoFit/>
          </a:bodyPr>
          <a:lstStyle/>
          <a:p>
            <a:pPr algn="l">
              <a:spcAft>
                <a:spcPts val="600"/>
              </a:spcAft>
            </a:pPr>
            <a:r>
              <a:rPr sz="2000" b="1">
                <a:solidFill>
                  <a:srgbClr val="B45309"/>
                </a:solidFill>
                <a:latin typeface="Calibri"/>
              </a:rPr>
              <a:t>Limites</a:t>
            </a:r>
          </a:p>
        </p:txBody>
      </p:sp>
      <p:sp>
        <p:nvSpPr>
          <p:cNvPr id="8" name="TextBox 7"/>
          <p:cNvSpPr txBox="1"/>
          <p:nvPr/>
        </p:nvSpPr>
        <p:spPr>
          <a:xfrm>
            <a:off x="502920" y="1874519"/>
            <a:ext cx="5486400" cy="4206240"/>
          </a:xfrm>
          <a:prstGeom prst="rect">
            <a:avLst/>
          </a:prstGeom>
          <a:noFill/>
        </p:spPr>
        <p:txBody>
          <a:bodyPr wrap="square" anchor="t" lIns="45720" rIns="45720">
            <a:spAutoFit/>
          </a:bodyPr>
          <a:lstStyle/>
          <a:p>
            <a:pPr algn="l">
              <a:spcAft>
                <a:spcPts val="1000"/>
              </a:spcAft>
            </a:pPr>
            <a:r>
              <a:rPr sz="1300">
                <a:solidFill>
                  <a:srgbClr val="1E3A8A"/>
                </a:solidFill>
                <a:latin typeface="Calibri"/>
              </a:rPr>
              <a:t>▪  </a:t>
            </a:r>
            <a:r>
              <a:rPr sz="1500" b="1">
                <a:solidFill>
                  <a:srgbClr val="0F172A"/>
                </a:solidFill>
                <a:latin typeface="Calibri"/>
              </a:rPr>
              <a:t>Historique réel court :</a:t>
            </a:r>
            <a:r>
              <a:rPr sz="1500" b="0">
                <a:solidFill>
                  <a:srgbClr val="0F172A"/>
                </a:solidFill>
                <a:latin typeface="Calibri"/>
              </a:rPr>
              <a:t> 7 mois ; la prolongation à 2 ans est synthétique (hypothèses documentées) – l'apport météo / épidémies se mesure sur le réel.</a:t>
            </a:r>
          </a:p>
          <a:p>
            <a:pPr algn="l">
              <a:spcAft>
                <a:spcPts val="1000"/>
              </a:spcAft>
            </a:pPr>
            <a:r>
              <a:rPr sz="1300">
                <a:solidFill>
                  <a:srgbClr val="1E3A8A"/>
                </a:solidFill>
                <a:latin typeface="Calibri"/>
              </a:rPr>
              <a:t>▪  </a:t>
            </a:r>
            <a:r>
              <a:rPr sz="1500" b="1">
                <a:solidFill>
                  <a:srgbClr val="0F172A"/>
                </a:solidFill>
                <a:latin typeface="Calibri"/>
              </a:rPr>
              <a:t>Localisation à confirmer :</a:t>
            </a:r>
            <a:r>
              <a:rPr sz="1500" b="0">
                <a:solidFill>
                  <a:srgbClr val="0F172A"/>
                </a:solidFill>
                <a:latin typeface="Calibri"/>
              </a:rPr>
              <a:t> le logiciel source est configuré pour la Tunisie, le cahier situe le magasin en France.</a:t>
            </a:r>
          </a:p>
          <a:p>
            <a:pPr algn="l">
              <a:spcAft>
                <a:spcPts val="1000"/>
              </a:spcAft>
            </a:pPr>
            <a:r>
              <a:rPr sz="1300">
                <a:solidFill>
                  <a:srgbClr val="1E3A8A"/>
                </a:solidFill>
                <a:latin typeface="Calibri"/>
              </a:rPr>
              <a:t>▪  </a:t>
            </a:r>
            <a:r>
              <a:rPr sz="1500" b="1">
                <a:solidFill>
                  <a:srgbClr val="0F172A"/>
                </a:solidFill>
                <a:latin typeface="Calibri"/>
              </a:rPr>
              <a:t>Référentiel incomplet :</a:t>
            </a:r>
            <a:r>
              <a:rPr sz="1500" b="0">
                <a:solidFill>
                  <a:srgbClr val="0F172A"/>
                </a:solidFill>
                <a:latin typeface="Calibri"/>
              </a:rPr>
              <a:t> 37 % des produits sans famille ; 71 % de ventes anonymes.</a:t>
            </a:r>
          </a:p>
          <a:p>
            <a:pPr algn="l">
              <a:spcAft>
                <a:spcPts val="1000"/>
              </a:spcAft>
            </a:pPr>
            <a:r>
              <a:rPr sz="1300">
                <a:solidFill>
                  <a:srgbClr val="1E3A8A"/>
                </a:solidFill>
                <a:latin typeface="Calibri"/>
              </a:rPr>
              <a:t>▪  </a:t>
            </a:r>
            <a:r>
              <a:rPr sz="1500" b="1">
                <a:solidFill>
                  <a:srgbClr val="0F172A"/>
                </a:solidFill>
                <a:latin typeface="Calibri"/>
              </a:rPr>
              <a:t>Moyens de paiement :</a:t>
            </a:r>
            <a:r>
              <a:rPr sz="1500" b="0">
                <a:solidFill>
                  <a:srgbClr val="0F172A"/>
                </a:solidFill>
                <a:latin typeface="Calibri"/>
              </a:rPr>
              <a:t> 92 % des encaissements réels sans moyen renseigné dans la source.</a:t>
            </a:r>
          </a:p>
        </p:txBody>
      </p:sp>
      <p:sp>
        <p:nvSpPr>
          <p:cNvPr id="9" name="TextBox 8"/>
          <p:cNvSpPr txBox="1"/>
          <p:nvPr/>
        </p:nvSpPr>
        <p:spPr>
          <a:xfrm>
            <a:off x="6355080" y="1371600"/>
            <a:ext cx="5486400" cy="411480"/>
          </a:xfrm>
          <a:prstGeom prst="rect">
            <a:avLst/>
          </a:prstGeom>
          <a:noFill/>
        </p:spPr>
        <p:txBody>
          <a:bodyPr wrap="square" anchor="t" lIns="45720" rIns="45720">
            <a:spAutoFit/>
          </a:bodyPr>
          <a:lstStyle/>
          <a:p>
            <a:pPr algn="l">
              <a:spcAft>
                <a:spcPts val="600"/>
              </a:spcAft>
            </a:pPr>
            <a:r>
              <a:rPr sz="2000" b="1">
                <a:solidFill>
                  <a:srgbClr val="0F766E"/>
                </a:solidFill>
                <a:latin typeface="Calibri"/>
              </a:rPr>
              <a:t>Prochaines étapes</a:t>
            </a:r>
          </a:p>
        </p:txBody>
      </p:sp>
      <p:sp>
        <p:nvSpPr>
          <p:cNvPr id="10" name="Rounded Rectangle 9"/>
          <p:cNvSpPr/>
          <p:nvPr/>
        </p:nvSpPr>
        <p:spPr>
          <a:xfrm>
            <a:off x="6355080" y="1874519"/>
            <a:ext cx="548640" cy="54864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64808" y="1911095"/>
            <a:ext cx="329184" cy="475488"/>
          </a:xfrm>
          <a:prstGeom prst="rect">
            <a:avLst/>
          </a:prstGeom>
          <a:noFill/>
        </p:spPr>
        <p:txBody>
          <a:bodyPr wrap="square" anchor="ctr" lIns="45720" rIns="45720">
            <a:spAutoFit/>
          </a:bodyPr>
          <a:lstStyle/>
          <a:p>
            <a:pPr algn="ctr">
              <a:spcAft>
                <a:spcPts val="300"/>
              </a:spcAft>
            </a:pPr>
            <a:r>
              <a:rPr sz="1700" b="1">
                <a:solidFill>
                  <a:srgbClr val="FFFFFF"/>
                </a:solidFill>
                <a:latin typeface="Calibri"/>
              </a:rPr>
              <a:t>1</a:t>
            </a:r>
          </a:p>
        </p:txBody>
      </p:sp>
      <p:sp>
        <p:nvSpPr>
          <p:cNvPr id="12" name="TextBox 11"/>
          <p:cNvSpPr txBox="1"/>
          <p:nvPr/>
        </p:nvSpPr>
        <p:spPr>
          <a:xfrm>
            <a:off x="7086600" y="1947672"/>
            <a:ext cx="4663440" cy="457200"/>
          </a:xfrm>
          <a:prstGeom prst="rect">
            <a:avLst/>
          </a:prstGeom>
          <a:noFill/>
        </p:spPr>
        <p:txBody>
          <a:bodyPr wrap="square" anchor="t" lIns="45720" rIns="45720">
            <a:spAutoFit/>
          </a:bodyPr>
          <a:lstStyle/>
          <a:p>
            <a:pPr algn="l">
              <a:spcAft>
                <a:spcPts val="600"/>
              </a:spcAft>
            </a:pPr>
            <a:r>
              <a:rPr sz="1600" b="0">
                <a:solidFill>
                  <a:srgbClr val="0F172A"/>
                </a:solidFill>
                <a:latin typeface="Calibri"/>
              </a:rPr>
              <a:t>Charger le Data Warehouse dans PostgreSQL</a:t>
            </a:r>
          </a:p>
        </p:txBody>
      </p:sp>
      <p:sp>
        <p:nvSpPr>
          <p:cNvPr id="13" name="Rounded Rectangle 12"/>
          <p:cNvSpPr/>
          <p:nvPr/>
        </p:nvSpPr>
        <p:spPr>
          <a:xfrm>
            <a:off x="6355080" y="2679191"/>
            <a:ext cx="548640" cy="54864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2715768"/>
            <a:ext cx="329184" cy="475488"/>
          </a:xfrm>
          <a:prstGeom prst="rect">
            <a:avLst/>
          </a:prstGeom>
          <a:noFill/>
        </p:spPr>
        <p:txBody>
          <a:bodyPr wrap="square" anchor="ctr" lIns="45720" rIns="45720">
            <a:spAutoFit/>
          </a:bodyPr>
          <a:lstStyle/>
          <a:p>
            <a:pPr algn="ctr">
              <a:spcAft>
                <a:spcPts val="300"/>
              </a:spcAft>
            </a:pPr>
            <a:r>
              <a:rPr sz="1700" b="1">
                <a:solidFill>
                  <a:srgbClr val="FFFFFF"/>
                </a:solidFill>
                <a:latin typeface="Calibri"/>
              </a:rPr>
              <a:t>2</a:t>
            </a:r>
          </a:p>
        </p:txBody>
      </p:sp>
      <p:sp>
        <p:nvSpPr>
          <p:cNvPr id="15" name="TextBox 14"/>
          <p:cNvSpPr txBox="1"/>
          <p:nvPr/>
        </p:nvSpPr>
        <p:spPr>
          <a:xfrm>
            <a:off x="7086600" y="2752344"/>
            <a:ext cx="4663440" cy="457200"/>
          </a:xfrm>
          <a:prstGeom prst="rect">
            <a:avLst/>
          </a:prstGeom>
          <a:noFill/>
        </p:spPr>
        <p:txBody>
          <a:bodyPr wrap="square" anchor="t" lIns="45720" rIns="45720">
            <a:spAutoFit/>
          </a:bodyPr>
          <a:lstStyle/>
          <a:p>
            <a:pPr algn="l">
              <a:spcAft>
                <a:spcPts val="600"/>
              </a:spcAft>
            </a:pPr>
            <a:r>
              <a:rPr sz="1600" b="0">
                <a:solidFill>
                  <a:srgbClr val="0F172A"/>
                </a:solidFill>
                <a:latin typeface="Calibri"/>
              </a:rPr>
              <a:t>Construire les 5 tableaux de bord Power BI</a:t>
            </a:r>
          </a:p>
        </p:txBody>
      </p:sp>
      <p:sp>
        <p:nvSpPr>
          <p:cNvPr id="16" name="Rounded Rectangle 15"/>
          <p:cNvSpPr/>
          <p:nvPr/>
        </p:nvSpPr>
        <p:spPr>
          <a:xfrm>
            <a:off x="6355080" y="3483863"/>
            <a:ext cx="548640" cy="54864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64808" y="3520439"/>
            <a:ext cx="329184" cy="475488"/>
          </a:xfrm>
          <a:prstGeom prst="rect">
            <a:avLst/>
          </a:prstGeom>
          <a:noFill/>
        </p:spPr>
        <p:txBody>
          <a:bodyPr wrap="square" anchor="ctr" lIns="45720" rIns="45720">
            <a:spAutoFit/>
          </a:bodyPr>
          <a:lstStyle/>
          <a:p>
            <a:pPr algn="ctr">
              <a:spcAft>
                <a:spcPts val="300"/>
              </a:spcAft>
            </a:pPr>
            <a:r>
              <a:rPr sz="1700" b="1">
                <a:solidFill>
                  <a:srgbClr val="FFFFFF"/>
                </a:solidFill>
                <a:latin typeface="Calibri"/>
              </a:rPr>
              <a:t>3</a:t>
            </a:r>
          </a:p>
        </p:txBody>
      </p:sp>
      <p:sp>
        <p:nvSpPr>
          <p:cNvPr id="18" name="TextBox 17"/>
          <p:cNvSpPr txBox="1"/>
          <p:nvPr/>
        </p:nvSpPr>
        <p:spPr>
          <a:xfrm>
            <a:off x="7086600" y="3557015"/>
            <a:ext cx="4663440" cy="457200"/>
          </a:xfrm>
          <a:prstGeom prst="rect">
            <a:avLst/>
          </a:prstGeom>
          <a:noFill/>
        </p:spPr>
        <p:txBody>
          <a:bodyPr wrap="square" anchor="t" lIns="45720" rIns="45720">
            <a:spAutoFit/>
          </a:bodyPr>
          <a:lstStyle/>
          <a:p>
            <a:pPr algn="l">
              <a:spcAft>
                <a:spcPts val="600"/>
              </a:spcAft>
            </a:pPr>
            <a:r>
              <a:rPr sz="1600" b="0">
                <a:solidFill>
                  <a:srgbClr val="0F172A"/>
                </a:solidFill>
                <a:latin typeface="Calibri"/>
              </a:rPr>
              <a:t>Entraîner et évaluer les 4 modèles ML</a:t>
            </a:r>
          </a:p>
        </p:txBody>
      </p:sp>
      <p:sp>
        <p:nvSpPr>
          <p:cNvPr id="19" name="Rounded Rectangle 18"/>
          <p:cNvSpPr/>
          <p:nvPr/>
        </p:nvSpPr>
        <p:spPr>
          <a:xfrm>
            <a:off x="6355080" y="4288536"/>
            <a:ext cx="548640" cy="54864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64808" y="4325112"/>
            <a:ext cx="329184" cy="475488"/>
          </a:xfrm>
          <a:prstGeom prst="rect">
            <a:avLst/>
          </a:prstGeom>
          <a:noFill/>
        </p:spPr>
        <p:txBody>
          <a:bodyPr wrap="square" anchor="ctr" lIns="45720" rIns="45720">
            <a:spAutoFit/>
          </a:bodyPr>
          <a:lstStyle/>
          <a:p>
            <a:pPr algn="ctr">
              <a:spcAft>
                <a:spcPts val="300"/>
              </a:spcAft>
            </a:pPr>
            <a:r>
              <a:rPr sz="1700" b="1">
                <a:solidFill>
                  <a:srgbClr val="FFFFFF"/>
                </a:solidFill>
                <a:latin typeface="Calibri"/>
              </a:rPr>
              <a:t>4</a:t>
            </a:r>
          </a:p>
        </p:txBody>
      </p:sp>
      <p:sp>
        <p:nvSpPr>
          <p:cNvPr id="21" name="TextBox 20"/>
          <p:cNvSpPr txBox="1"/>
          <p:nvPr/>
        </p:nvSpPr>
        <p:spPr>
          <a:xfrm>
            <a:off x="7086600" y="4361688"/>
            <a:ext cx="4663440" cy="457200"/>
          </a:xfrm>
          <a:prstGeom prst="rect">
            <a:avLst/>
          </a:prstGeom>
          <a:noFill/>
        </p:spPr>
        <p:txBody>
          <a:bodyPr wrap="square" anchor="t" lIns="45720" rIns="45720">
            <a:spAutoFit/>
          </a:bodyPr>
          <a:lstStyle/>
          <a:p>
            <a:pPr algn="l">
              <a:spcAft>
                <a:spcPts val="600"/>
              </a:spcAft>
            </a:pPr>
            <a:r>
              <a:rPr sz="1600" b="0">
                <a:solidFill>
                  <a:srgbClr val="0F172A"/>
                </a:solidFill>
                <a:latin typeface="Calibri"/>
              </a:rPr>
              <a:t>Mesurer l'apport météo / épidémies sur la période réelle</a:t>
            </a:r>
          </a:p>
        </p:txBody>
      </p:sp>
      <p:sp>
        <p:nvSpPr>
          <p:cNvPr id="22" name="Rounded Rectangle 21"/>
          <p:cNvSpPr/>
          <p:nvPr/>
        </p:nvSpPr>
        <p:spPr>
          <a:xfrm>
            <a:off x="6355080" y="5093208"/>
            <a:ext cx="548640" cy="54864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4808" y="5129784"/>
            <a:ext cx="329184" cy="475488"/>
          </a:xfrm>
          <a:prstGeom prst="rect">
            <a:avLst/>
          </a:prstGeom>
          <a:noFill/>
        </p:spPr>
        <p:txBody>
          <a:bodyPr wrap="square" anchor="ctr" lIns="45720" rIns="45720">
            <a:spAutoFit/>
          </a:bodyPr>
          <a:lstStyle/>
          <a:p>
            <a:pPr algn="ctr">
              <a:spcAft>
                <a:spcPts val="300"/>
              </a:spcAft>
            </a:pPr>
            <a:r>
              <a:rPr sz="1700" b="1">
                <a:solidFill>
                  <a:srgbClr val="FFFFFF"/>
                </a:solidFill>
                <a:latin typeface="Calibri"/>
              </a:rPr>
              <a:t>5</a:t>
            </a:r>
          </a:p>
        </p:txBody>
      </p:sp>
      <p:sp>
        <p:nvSpPr>
          <p:cNvPr id="24" name="TextBox 23"/>
          <p:cNvSpPr txBox="1"/>
          <p:nvPr/>
        </p:nvSpPr>
        <p:spPr>
          <a:xfrm>
            <a:off x="7086600" y="5166360"/>
            <a:ext cx="4663440" cy="457200"/>
          </a:xfrm>
          <a:prstGeom prst="rect">
            <a:avLst/>
          </a:prstGeom>
          <a:noFill/>
        </p:spPr>
        <p:txBody>
          <a:bodyPr wrap="square" anchor="t" lIns="45720" rIns="45720">
            <a:spAutoFit/>
          </a:bodyPr>
          <a:lstStyle/>
          <a:p>
            <a:pPr algn="l">
              <a:spcAft>
                <a:spcPts val="600"/>
              </a:spcAft>
            </a:pPr>
            <a:r>
              <a:rPr sz="1600" b="0">
                <a:solidFill>
                  <a:srgbClr val="0F172A"/>
                </a:solidFill>
                <a:latin typeface="Calibri"/>
              </a:rPr>
              <a:t>Restitution finale et documentation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2377440"/>
            <a:ext cx="10515600" cy="1005840"/>
          </a:xfrm>
          <a:prstGeom prst="rect">
            <a:avLst/>
          </a:prstGeom>
          <a:noFill/>
        </p:spPr>
        <p:txBody>
          <a:bodyPr wrap="square" anchor="t" lIns="45720" rIns="45720">
            <a:spAutoFit/>
          </a:bodyPr>
          <a:lstStyle/>
          <a:p>
            <a:pPr algn="ctr">
              <a:spcAft>
                <a:spcPts val="600"/>
              </a:spcAft>
            </a:pPr>
            <a:r>
              <a:rPr sz="4800" b="1">
                <a:solidFill>
                  <a:srgbClr val="FFFFFF"/>
                </a:solidFill>
                <a:latin typeface="Calibri"/>
              </a:rPr>
              <a:t>Merci de votre attention</a:t>
            </a:r>
          </a:p>
        </p:txBody>
      </p:sp>
      <p:sp>
        <p:nvSpPr>
          <p:cNvPr id="4" name="TextBox 3"/>
          <p:cNvSpPr txBox="1"/>
          <p:nvPr/>
        </p:nvSpPr>
        <p:spPr>
          <a:xfrm>
            <a:off x="822960" y="3429000"/>
            <a:ext cx="10515600" cy="548640"/>
          </a:xfrm>
          <a:prstGeom prst="rect">
            <a:avLst/>
          </a:prstGeom>
          <a:noFill/>
        </p:spPr>
        <p:txBody>
          <a:bodyPr wrap="square" anchor="t" lIns="45720" rIns="45720">
            <a:spAutoFit/>
          </a:bodyPr>
          <a:lstStyle/>
          <a:p>
            <a:pPr algn="ctr">
              <a:spcAft>
                <a:spcPts val="600"/>
              </a:spcAft>
            </a:pPr>
            <a:r>
              <a:rPr sz="2400" b="0">
                <a:solidFill>
                  <a:srgbClr val="99F6E4"/>
                </a:solidFill>
                <a:latin typeface="Calibri"/>
              </a:rPr>
              <a:t>Questions et échanges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